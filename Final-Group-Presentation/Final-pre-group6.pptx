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97" r:id="rId2"/>
    <p:sldId id="257" r:id="rId3"/>
    <p:sldId id="258" r:id="rId4"/>
    <p:sldId id="259" r:id="rId5"/>
    <p:sldId id="260" r:id="rId6"/>
    <p:sldId id="261" r:id="rId7"/>
    <p:sldId id="273" r:id="rId8"/>
    <p:sldId id="274" r:id="rId9"/>
    <p:sldId id="264" r:id="rId10"/>
    <p:sldId id="265" r:id="rId11"/>
    <p:sldId id="266" r:id="rId12"/>
    <p:sldId id="267" r:id="rId13"/>
    <p:sldId id="481" r:id="rId14"/>
    <p:sldId id="268" r:id="rId15"/>
    <p:sldId id="269" r:id="rId16"/>
    <p:sldId id="480" r:id="rId1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196"/>
    <p:restoredTop sz="94610"/>
  </p:normalViewPr>
  <p:slideViewPr>
    <p:cSldViewPr snapToGrid="0" snapToObjects="1">
      <p:cViewPr>
        <p:scale>
          <a:sx n="169" d="100"/>
          <a:sy n="169" d="100"/>
        </p:scale>
        <p:origin x="1080"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722610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83BAA8-9519-7291-0605-9B4AEDFB0E52}"/>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3A7DB26C-465D-F0EA-BDA1-C99D985FE6F5}"/>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C2B2961E-A399-93A7-63DA-7D34EBC25BB8}"/>
              </a:ext>
            </a:extLst>
          </p:cNvPr>
          <p:cNvSpPr>
            <a:spLocks noGrp="1"/>
          </p:cNvSpPr>
          <p:nvPr>
            <p:ph type="body" idx="1"/>
          </p:nvPr>
        </p:nvSpPr>
        <p:spPr/>
        <p:txBody>
          <a:bodyPr/>
          <a:lstStyle/>
          <a:p>
            <a:endParaRPr lang="en-US" altLang="ko-KR" dirty="0"/>
          </a:p>
        </p:txBody>
      </p:sp>
      <p:sp>
        <p:nvSpPr>
          <p:cNvPr id="4" name="슬라이드 번호 개체 틀 3">
            <a:extLst>
              <a:ext uri="{FF2B5EF4-FFF2-40B4-BE49-F238E27FC236}">
                <a16:creationId xmlns:a16="http://schemas.microsoft.com/office/drawing/2014/main" id="{41CB7F39-B904-420C-D727-924C9158234E}"/>
              </a:ext>
            </a:extLst>
          </p:cNvPr>
          <p:cNvSpPr>
            <a:spLocks noGrp="1"/>
          </p:cNvSpPr>
          <p:nvPr>
            <p:ph type="sldNum" sz="quarter" idx="5"/>
          </p:nvPr>
        </p:nvSpPr>
        <p:spPr/>
        <p:txBody>
          <a:bodyPr/>
          <a:lstStyle/>
          <a:p>
            <a:fld id="{96A8ADDC-9E5E-48F8-A71B-AD4FC6A4FA03}" type="slidenum">
              <a:rPr lang="ko-KR" altLang="en-US" smtClean="0"/>
              <a:t>1</a:t>
            </a:fld>
            <a:endParaRPr lang="ko-KR" altLang="en-US"/>
          </a:p>
        </p:txBody>
      </p:sp>
    </p:spTree>
    <p:extLst>
      <p:ext uri="{BB962C8B-B14F-4D97-AF65-F5344CB8AC3E}">
        <p14:creationId xmlns:p14="http://schemas.microsoft.com/office/powerpoint/2010/main" val="36065313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6C16A4-0E7B-740F-00E0-5CDA3419D5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857EF7-EBB3-F222-6F5B-416E9E12BB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39BB40-5453-8A03-27BD-CB58820A766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47D3E52-3FB2-B255-9113-A32955555486}"/>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348409331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709655-1A62-B5C5-2410-78900AFD22F9}"/>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405C1E87-1331-00D5-8F5E-D505B0C94E1A}"/>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1FFEF3EC-9338-FD29-6116-96FF418D118F}"/>
              </a:ext>
            </a:extLst>
          </p:cNvPr>
          <p:cNvSpPr>
            <a:spLocks noGrp="1"/>
          </p:cNvSpPr>
          <p:nvPr>
            <p:ph type="body" idx="1"/>
          </p:nvPr>
        </p:nvSpPr>
        <p:spPr/>
        <p:txBody>
          <a:bodyPr/>
          <a:lstStyle/>
          <a:p>
            <a:endParaRPr lang="en-US" altLang="ko-KR" dirty="0"/>
          </a:p>
        </p:txBody>
      </p:sp>
      <p:sp>
        <p:nvSpPr>
          <p:cNvPr id="4" name="슬라이드 번호 개체 틀 3">
            <a:extLst>
              <a:ext uri="{FF2B5EF4-FFF2-40B4-BE49-F238E27FC236}">
                <a16:creationId xmlns:a16="http://schemas.microsoft.com/office/drawing/2014/main" id="{E04E50F4-8CC4-4583-4F59-AD961F24F0CE}"/>
              </a:ext>
            </a:extLst>
          </p:cNvPr>
          <p:cNvSpPr>
            <a:spLocks noGrp="1"/>
          </p:cNvSpPr>
          <p:nvPr>
            <p:ph type="sldNum" sz="quarter" idx="5"/>
          </p:nvPr>
        </p:nvSpPr>
        <p:spPr/>
        <p:txBody>
          <a:bodyPr/>
          <a:lstStyle/>
          <a:p>
            <a:fld id="{96A8ADDC-9E5E-48F8-A71B-AD4FC6A4FA03}" type="slidenum">
              <a:rPr lang="ko-KR" altLang="en-US" smtClean="0"/>
              <a:t>16</a:t>
            </a:fld>
            <a:endParaRPr lang="ko-KR" altLang="en-US"/>
          </a:p>
        </p:txBody>
      </p:sp>
    </p:spTree>
    <p:extLst>
      <p:ext uri="{BB962C8B-B14F-4D97-AF65-F5344CB8AC3E}">
        <p14:creationId xmlns:p14="http://schemas.microsoft.com/office/powerpoint/2010/main" val="25707393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3B31729A-5475-B8A8-C6EC-4278B236B19A}"/>
              </a:ext>
            </a:extLst>
          </p:cNvPr>
          <p:cNvSpPr>
            <a:spLocks noGrp="1"/>
          </p:cNvSpPr>
          <p:nvPr>
            <p:ph type="ctrTitle"/>
          </p:nvPr>
        </p:nvSpPr>
        <p:spPr>
          <a:xfrm>
            <a:off x="1143000" y="841772"/>
            <a:ext cx="6858000" cy="1790700"/>
          </a:xfrm>
        </p:spPr>
        <p:txBody>
          <a:bodyPr anchor="b"/>
          <a:lstStyle>
            <a:lvl1pPr algn="ctr">
              <a:defRPr sz="4500"/>
            </a:lvl1pPr>
          </a:lstStyle>
          <a:p>
            <a:r>
              <a:rPr kumimoji="1" lang="ko-KR" altLang="en-US"/>
              <a:t>마스터 제목 스타일 편집</a:t>
            </a:r>
            <a:endParaRPr kumimoji="1" lang="ko-Kore-KR" altLang="en-US"/>
          </a:p>
        </p:txBody>
      </p:sp>
      <p:sp>
        <p:nvSpPr>
          <p:cNvPr id="3" name="부제목 2">
            <a:extLst>
              <a:ext uri="{FF2B5EF4-FFF2-40B4-BE49-F238E27FC236}">
                <a16:creationId xmlns:a16="http://schemas.microsoft.com/office/drawing/2014/main" id="{20722B34-563C-EB1D-EFCD-107DEC992826}"/>
              </a:ext>
            </a:extLst>
          </p:cNvPr>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kumimoji="1" lang="ko-KR" altLang="en-US"/>
              <a:t>클릭하여 마스터 부제목 스타일 편집</a:t>
            </a:r>
            <a:endParaRPr kumimoji="1" lang="ko-Kore-KR" altLang="en-US"/>
          </a:p>
        </p:txBody>
      </p:sp>
      <p:sp>
        <p:nvSpPr>
          <p:cNvPr id="4" name="날짜 개체 틀 3">
            <a:extLst>
              <a:ext uri="{FF2B5EF4-FFF2-40B4-BE49-F238E27FC236}">
                <a16:creationId xmlns:a16="http://schemas.microsoft.com/office/drawing/2014/main" id="{F467E836-A781-AAE7-4D3C-2482776FA447}"/>
              </a:ext>
            </a:extLst>
          </p:cNvPr>
          <p:cNvSpPr>
            <a:spLocks noGrp="1"/>
          </p:cNvSpPr>
          <p:nvPr>
            <p:ph type="dt" sz="half" idx="10"/>
          </p:nvPr>
        </p:nvSpPr>
        <p:spPr/>
        <p:txBody>
          <a:bodyPr/>
          <a:lstStyle/>
          <a:p>
            <a:fld id="{330C6171-A35F-5D4F-9DC5-E4EEF8E1CFE2}" type="datetimeFigureOut">
              <a:t>2026/4/29</a:t>
            </a:fld>
            <a:endParaRPr kumimoji="1" lang="ko-Kore-KR" altLang="en-US"/>
          </a:p>
        </p:txBody>
      </p:sp>
      <p:sp>
        <p:nvSpPr>
          <p:cNvPr id="5" name="바닥글 개체 틀 4">
            <a:extLst>
              <a:ext uri="{FF2B5EF4-FFF2-40B4-BE49-F238E27FC236}">
                <a16:creationId xmlns:a16="http://schemas.microsoft.com/office/drawing/2014/main" id="{98ABFB5C-669A-D72B-BBD0-BFBF0C4A8996}"/>
              </a:ext>
            </a:extLst>
          </p:cNvPr>
          <p:cNvSpPr>
            <a:spLocks noGrp="1"/>
          </p:cNvSpPr>
          <p:nvPr>
            <p:ph type="ftr" sz="quarter" idx="11"/>
          </p:nvPr>
        </p:nvSpPr>
        <p:spPr/>
        <p:txBody>
          <a:bodyPr/>
          <a:lstStyle/>
          <a:p>
            <a:endParaRPr kumimoji="1" lang="ko-Kore-KR" altLang="en-US"/>
          </a:p>
        </p:txBody>
      </p:sp>
      <p:sp>
        <p:nvSpPr>
          <p:cNvPr id="6" name="슬라이드 번호 개체 틀 5">
            <a:extLst>
              <a:ext uri="{FF2B5EF4-FFF2-40B4-BE49-F238E27FC236}">
                <a16:creationId xmlns:a16="http://schemas.microsoft.com/office/drawing/2014/main" id="{F3A8CDA1-C11C-B675-9FF0-3A91E6188DBF}"/>
              </a:ext>
            </a:extLst>
          </p:cNvPr>
          <p:cNvSpPr>
            <a:spLocks noGrp="1"/>
          </p:cNvSpPr>
          <p:nvPr>
            <p:ph type="sldNum" sz="quarter" idx="12"/>
          </p:nvPr>
        </p:nvSpPr>
        <p:spPr/>
        <p:txBody>
          <a:bodyPr/>
          <a:lstStyle/>
          <a:p>
            <a:fld id="{57D61701-398F-674D-9F14-8035E0F167C5}" type="slidenum">
              <a:t>‹#›</a:t>
            </a:fld>
            <a:endParaRPr kumimoji="1" lang="ko-Kore-KR" altLang="en-US"/>
          </a:p>
        </p:txBody>
      </p:sp>
    </p:spTree>
    <p:extLst>
      <p:ext uri="{BB962C8B-B14F-4D97-AF65-F5344CB8AC3E}">
        <p14:creationId xmlns:p14="http://schemas.microsoft.com/office/powerpoint/2010/main" val="10298856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B4C1FA-2DE2-3B39-D926-4AE748012856}"/>
            </a:ext>
          </a:extLst>
        </p:cNvPr>
        <p:cNvGrpSpPr/>
        <p:nvPr/>
      </p:nvGrpSpPr>
      <p:grpSpPr>
        <a:xfrm>
          <a:off x="0" y="0"/>
          <a:ext cx="0" cy="0"/>
          <a:chOff x="0" y="0"/>
          <a:chExt cx="0" cy="0"/>
        </a:xfrm>
      </p:grpSpPr>
      <p:sp>
        <p:nvSpPr>
          <p:cNvPr id="3" name="직사각형 2">
            <a:extLst>
              <a:ext uri="{FF2B5EF4-FFF2-40B4-BE49-F238E27FC236}">
                <a16:creationId xmlns:a16="http://schemas.microsoft.com/office/drawing/2014/main" id="{146FF23B-F05A-7A42-A9CD-9306F4FBFC2D}"/>
              </a:ext>
            </a:extLst>
          </p:cNvPr>
          <p:cNvSpPr/>
          <p:nvPr/>
        </p:nvSpPr>
        <p:spPr>
          <a:xfrm>
            <a:off x="-72736" y="-197427"/>
            <a:ext cx="9227993" cy="5527963"/>
          </a:xfrm>
          <a:prstGeom prst="rect">
            <a:avLst/>
          </a:prstGeom>
          <a:solidFill>
            <a:srgbClr val="0F3A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ore-KR" altLang="en-US" sz="1350">
              <a:solidFill>
                <a:srgbClr val="0F3A5C"/>
              </a:solidFill>
            </a:endParaRPr>
          </a:p>
        </p:txBody>
      </p:sp>
      <p:sp>
        <p:nvSpPr>
          <p:cNvPr id="9" name="TextBox 8">
            <a:extLst>
              <a:ext uri="{FF2B5EF4-FFF2-40B4-BE49-F238E27FC236}">
                <a16:creationId xmlns:a16="http://schemas.microsoft.com/office/drawing/2014/main" id="{A7A00E92-D1E4-AB05-33CC-847715FA5B7A}"/>
              </a:ext>
            </a:extLst>
          </p:cNvPr>
          <p:cNvSpPr txBox="1"/>
          <p:nvPr/>
        </p:nvSpPr>
        <p:spPr>
          <a:xfrm>
            <a:off x="669242" y="1353566"/>
            <a:ext cx="8289563" cy="1077218"/>
          </a:xfrm>
          <a:prstGeom prst="rect">
            <a:avLst/>
          </a:prstGeom>
          <a:noFill/>
        </p:spPr>
        <p:txBody>
          <a:bodyPr wrap="square" rtlCol="0">
            <a:spAutoFit/>
          </a:bodyPr>
          <a:lstStyle/>
          <a:p>
            <a:r>
              <a:rPr kumimoji="1" lang="en-US" altLang="ko-KR" sz="3200" b="1" dirty="0">
                <a:solidFill>
                  <a:srgbClr val="AC9E6E"/>
                </a:solidFill>
                <a:latin typeface="Arial" panose="020B0604020202020204" pitchFamily="34" charset="0"/>
                <a:ea typeface="Noto Sans KR" panose="020B0500000000000000" pitchFamily="34" charset="-127"/>
                <a:cs typeface="Arial" panose="020B0604020202020204" pitchFamily="34" charset="0"/>
              </a:rPr>
              <a:t>Final Project Presentation</a:t>
            </a:r>
            <a:r>
              <a:rPr kumimoji="1" lang="en-US" altLang="ko-KR" sz="3200" b="1" dirty="0">
                <a:solidFill>
                  <a:schemeClr val="bg1"/>
                </a:solidFill>
                <a:latin typeface="Arial" panose="020B0604020202020204" pitchFamily="34" charset="0"/>
                <a:ea typeface="Noto Sans KR" panose="020B0500000000000000" pitchFamily="34" charset="-127"/>
                <a:cs typeface="Arial" panose="020B0604020202020204" pitchFamily="34" charset="0"/>
              </a:rPr>
              <a:t>:</a:t>
            </a:r>
          </a:p>
          <a:p>
            <a:r>
              <a:rPr lang="en-US" sz="3200" b="1" dirty="0">
                <a:solidFill>
                  <a:srgbClr val="FFFFFF"/>
                </a:solidFill>
                <a:latin typeface="Calibri" pitchFamily="34" charset="0"/>
                <a:ea typeface="Calibri" pitchFamily="34" charset="-122"/>
                <a:cs typeface="Calibri" pitchFamily="34" charset="-120"/>
              </a:rPr>
              <a:t>NLP Applications in Business Healthcare</a:t>
            </a:r>
            <a:endParaRPr lang="en-US" sz="3200" dirty="0"/>
          </a:p>
        </p:txBody>
      </p:sp>
      <p:sp>
        <p:nvSpPr>
          <p:cNvPr id="11" name="직사각형 10">
            <a:extLst>
              <a:ext uri="{FF2B5EF4-FFF2-40B4-BE49-F238E27FC236}">
                <a16:creationId xmlns:a16="http://schemas.microsoft.com/office/drawing/2014/main" id="{87945475-B50B-0F9A-D6F5-0DBD9A3EFD0D}"/>
              </a:ext>
            </a:extLst>
          </p:cNvPr>
          <p:cNvSpPr/>
          <p:nvPr/>
        </p:nvSpPr>
        <p:spPr>
          <a:xfrm flipV="1">
            <a:off x="688945" y="4020254"/>
            <a:ext cx="2386764" cy="457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0"/>
          </a:p>
        </p:txBody>
      </p:sp>
      <p:sp>
        <p:nvSpPr>
          <p:cNvPr id="2" name="슬라이드 번호 개체 틀 1">
            <a:extLst>
              <a:ext uri="{FF2B5EF4-FFF2-40B4-BE49-F238E27FC236}">
                <a16:creationId xmlns:a16="http://schemas.microsoft.com/office/drawing/2014/main" id="{4D859D9D-62CE-6A8B-18A1-664FDC02590C}"/>
              </a:ext>
            </a:extLst>
          </p:cNvPr>
          <p:cNvSpPr>
            <a:spLocks noGrp="1"/>
          </p:cNvSpPr>
          <p:nvPr>
            <p:ph type="sldNum" sz="quarter" idx="12"/>
          </p:nvPr>
        </p:nvSpPr>
        <p:spPr/>
        <p:txBody>
          <a:bodyPr/>
          <a:lstStyle/>
          <a:p>
            <a:fld id="{D9650719-0714-4000-9CBD-14AB6D15C87A}" type="slidenum">
              <a:rPr lang="ko-KR" altLang="en-US" smtClean="0"/>
              <a:t>1</a:t>
            </a:fld>
            <a:endParaRPr lang="ko-KR" altLang="en-US" dirty="0"/>
          </a:p>
        </p:txBody>
      </p:sp>
      <p:pic>
        <p:nvPicPr>
          <p:cNvPr id="12" name="그림 11" descr="폰트, 그래픽, 로고, 상징이(가) 표시된 사진&#10;&#10;자동 생성된 설명">
            <a:extLst>
              <a:ext uri="{FF2B5EF4-FFF2-40B4-BE49-F238E27FC236}">
                <a16:creationId xmlns:a16="http://schemas.microsoft.com/office/drawing/2014/main" id="{B5B84F3F-92F2-D63A-F2BE-A2432CD4750F}"/>
              </a:ext>
            </a:extLst>
          </p:cNvPr>
          <p:cNvPicPr>
            <a:picLocks noChangeAspect="1"/>
          </p:cNvPicPr>
          <p:nvPr/>
        </p:nvPicPr>
        <p:blipFill>
          <a:blip r:embed="rId3"/>
          <a:stretch>
            <a:fillRect/>
          </a:stretch>
        </p:blipFill>
        <p:spPr>
          <a:xfrm>
            <a:off x="321252" y="381674"/>
            <a:ext cx="695979" cy="519664"/>
          </a:xfrm>
          <a:prstGeom prst="rect">
            <a:avLst/>
          </a:prstGeom>
        </p:spPr>
      </p:pic>
      <p:sp>
        <p:nvSpPr>
          <p:cNvPr id="17" name="TextBox 16">
            <a:extLst>
              <a:ext uri="{FF2B5EF4-FFF2-40B4-BE49-F238E27FC236}">
                <a16:creationId xmlns:a16="http://schemas.microsoft.com/office/drawing/2014/main" id="{B9A29C95-87E7-5D93-71FF-F1ECF39A0E62}"/>
              </a:ext>
            </a:extLst>
          </p:cNvPr>
          <p:cNvSpPr txBox="1"/>
          <p:nvPr/>
        </p:nvSpPr>
        <p:spPr>
          <a:xfrm>
            <a:off x="773150" y="4043113"/>
            <a:ext cx="6862247" cy="992964"/>
          </a:xfrm>
          <a:prstGeom prst="rect">
            <a:avLst/>
          </a:prstGeom>
          <a:noFill/>
        </p:spPr>
        <p:txBody>
          <a:bodyPr wrap="square" rtlCol="0">
            <a:spAutoFit/>
          </a:bodyPr>
          <a:lstStyle/>
          <a:p>
            <a:pPr>
              <a:lnSpc>
                <a:spcPts val="1800"/>
              </a:lnSpc>
            </a:pPr>
            <a:r>
              <a:rPr kumimoji="1" lang="en-US" altLang="zh-CN" sz="1400" dirty="0">
                <a:solidFill>
                  <a:schemeClr val="bg1"/>
                </a:solidFill>
                <a:latin typeface="Arial" panose="020B0604020202020204" pitchFamily="34" charset="0"/>
                <a:ea typeface="Noto Sans KR" panose="020B0500000000000000" pitchFamily="34" charset="-127"/>
                <a:cs typeface="Arial" panose="020B0604020202020204" pitchFamily="34" charset="0"/>
              </a:rPr>
              <a:t>Yichen Wang</a:t>
            </a:r>
            <a:br>
              <a:rPr kumimoji="1" lang="en-US" altLang="zh-CN" sz="1400" dirty="0">
                <a:solidFill>
                  <a:schemeClr val="bg1"/>
                </a:solidFill>
                <a:latin typeface="Arial" panose="020B0604020202020204" pitchFamily="34" charset="0"/>
                <a:ea typeface="Noto Sans KR" panose="020B0500000000000000" pitchFamily="34" charset="-127"/>
                <a:cs typeface="Arial" panose="020B0604020202020204" pitchFamily="34" charset="0"/>
              </a:rPr>
            </a:br>
            <a:r>
              <a:rPr kumimoji="1" lang="en-US" altLang="zh-CN" sz="1400" dirty="0" err="1">
                <a:solidFill>
                  <a:schemeClr val="bg1"/>
                </a:solidFill>
                <a:latin typeface="Arial" panose="020B0604020202020204" pitchFamily="34" charset="0"/>
                <a:ea typeface="Noto Sans KR" panose="020B0500000000000000" pitchFamily="34" charset="-127"/>
                <a:cs typeface="Arial" panose="020B0604020202020204" pitchFamily="34" charset="0"/>
              </a:rPr>
              <a:t>Ph.d.</a:t>
            </a:r>
            <a:r>
              <a:rPr kumimoji="1" lang="en-US" altLang="zh-CN" sz="1400" dirty="0">
                <a:solidFill>
                  <a:schemeClr val="bg1"/>
                </a:solidFill>
                <a:latin typeface="Arial" panose="020B0604020202020204" pitchFamily="34" charset="0"/>
                <a:ea typeface="Noto Sans KR" panose="020B0500000000000000" pitchFamily="34" charset="-127"/>
                <a:cs typeface="Arial" panose="020B0604020202020204" pitchFamily="34" charset="0"/>
              </a:rPr>
              <a:t> Student</a:t>
            </a:r>
            <a:br>
              <a:rPr kumimoji="1" lang="en-US" altLang="zh-CN" sz="1400" dirty="0">
                <a:solidFill>
                  <a:schemeClr val="bg1"/>
                </a:solidFill>
                <a:latin typeface="Arial" panose="020B0604020202020204" pitchFamily="34" charset="0"/>
                <a:ea typeface="Noto Sans KR" panose="020B0500000000000000" pitchFamily="34" charset="-127"/>
                <a:cs typeface="Arial" panose="020B0604020202020204" pitchFamily="34" charset="0"/>
              </a:rPr>
            </a:br>
            <a:r>
              <a:rPr kumimoji="1" lang="en-US" altLang="zh-CN" sz="1400" dirty="0">
                <a:solidFill>
                  <a:schemeClr val="bg1"/>
                </a:solidFill>
                <a:latin typeface="Arial" panose="020B0604020202020204" pitchFamily="34" charset="0"/>
                <a:ea typeface="Noto Sans KR" panose="020B0500000000000000" pitchFamily="34" charset="-127"/>
                <a:cs typeface="Arial" panose="020B0604020202020204" pitchFamily="34" charset="0"/>
              </a:rPr>
              <a:t>Department of Information Systems &amp; Technology Management</a:t>
            </a:r>
            <a:br>
              <a:rPr kumimoji="1" lang="en-US" altLang="zh-CN" sz="1400" dirty="0">
                <a:solidFill>
                  <a:schemeClr val="bg1"/>
                </a:solidFill>
                <a:latin typeface="Arial" panose="020B0604020202020204" pitchFamily="34" charset="0"/>
                <a:ea typeface="Noto Sans KR" panose="020B0500000000000000" pitchFamily="34" charset="-127"/>
                <a:cs typeface="Arial" panose="020B0604020202020204" pitchFamily="34" charset="0"/>
              </a:rPr>
            </a:br>
            <a:r>
              <a:rPr kumimoji="1" lang="en-US" altLang="zh-CN" sz="1400" dirty="0">
                <a:solidFill>
                  <a:schemeClr val="bg1"/>
                </a:solidFill>
                <a:latin typeface="Arial" panose="020B0604020202020204" pitchFamily="34" charset="0"/>
                <a:ea typeface="Noto Sans KR" panose="020B0500000000000000" pitchFamily="34" charset="-127"/>
                <a:cs typeface="Arial" panose="020B0604020202020204" pitchFamily="34" charset="0"/>
              </a:rPr>
              <a:t>School of Business, The George Washington University</a:t>
            </a:r>
          </a:p>
        </p:txBody>
      </p:sp>
      <p:sp>
        <p:nvSpPr>
          <p:cNvPr id="4" name="TextBox 3">
            <a:extLst>
              <a:ext uri="{FF2B5EF4-FFF2-40B4-BE49-F238E27FC236}">
                <a16:creationId xmlns:a16="http://schemas.microsoft.com/office/drawing/2014/main" id="{C37DA421-39FA-A062-1E97-7838FCB61C07}"/>
              </a:ext>
            </a:extLst>
          </p:cNvPr>
          <p:cNvSpPr txBox="1"/>
          <p:nvPr/>
        </p:nvSpPr>
        <p:spPr>
          <a:xfrm>
            <a:off x="2705100" y="448538"/>
            <a:ext cx="6349921" cy="304827"/>
          </a:xfrm>
          <a:prstGeom prst="rect">
            <a:avLst/>
          </a:prstGeom>
          <a:noFill/>
        </p:spPr>
        <p:txBody>
          <a:bodyPr wrap="square" rtlCol="0">
            <a:spAutoFit/>
          </a:bodyPr>
          <a:lstStyle/>
          <a:p>
            <a:pPr algn="r">
              <a:lnSpc>
                <a:spcPts val="1800"/>
              </a:lnSpc>
            </a:pPr>
            <a:r>
              <a:rPr kumimoji="1" lang="en-US" altLang="ko-KR" sz="1350" b="1" dirty="0">
                <a:solidFill>
                  <a:schemeClr val="bg1"/>
                </a:solidFill>
                <a:latin typeface="Arial" panose="020B0604020202020204" pitchFamily="34" charset="0"/>
                <a:ea typeface="Noto Sans KR" panose="020B0500000000000000" pitchFamily="34" charset="-127"/>
                <a:cs typeface="Arial" panose="020B0604020202020204" pitchFamily="34" charset="0"/>
              </a:rPr>
              <a:t>DATS6312– Natural Language Processing</a:t>
            </a:r>
            <a:endParaRPr kumimoji="1" lang="en-US" altLang="ko-KR" sz="1350" baseline="30000" dirty="0">
              <a:solidFill>
                <a:schemeClr val="bg1"/>
              </a:solidFill>
              <a:latin typeface="Arial" panose="020B0604020202020204" pitchFamily="34" charset="0"/>
              <a:ea typeface="Noto Sans KR" panose="020B0500000000000000" pitchFamily="34" charset="-127"/>
              <a:cs typeface="Arial" panose="020B0604020202020204" pitchFamily="34" charset="0"/>
            </a:endParaRPr>
          </a:p>
        </p:txBody>
      </p:sp>
      <p:sp>
        <p:nvSpPr>
          <p:cNvPr id="5" name="TextBox 4">
            <a:extLst>
              <a:ext uri="{FF2B5EF4-FFF2-40B4-BE49-F238E27FC236}">
                <a16:creationId xmlns:a16="http://schemas.microsoft.com/office/drawing/2014/main" id="{4CF43A97-301B-111C-CE8E-7DE88B2CBE49}"/>
              </a:ext>
            </a:extLst>
          </p:cNvPr>
          <p:cNvSpPr txBox="1"/>
          <p:nvPr/>
        </p:nvSpPr>
        <p:spPr>
          <a:xfrm>
            <a:off x="669241" y="2561090"/>
            <a:ext cx="8289563" cy="461665"/>
          </a:xfrm>
          <a:prstGeom prst="rect">
            <a:avLst/>
          </a:prstGeom>
          <a:noFill/>
        </p:spPr>
        <p:txBody>
          <a:bodyPr wrap="square" rtlCol="0">
            <a:spAutoFit/>
          </a:bodyPr>
          <a:lstStyle/>
          <a:p>
            <a:r>
              <a:rPr lang="en-US" sz="2400" i="1" dirty="0">
                <a:solidFill>
                  <a:schemeClr val="bg1"/>
                </a:solidFill>
                <a:latin typeface="Calibri" pitchFamily="34" charset="0"/>
                <a:ea typeface="Calibri" pitchFamily="34" charset="-122"/>
                <a:cs typeface="Calibri" pitchFamily="34" charset="-120"/>
              </a:rPr>
              <a:t>From Social Media Shortage Detection to Medical AI Agent</a:t>
            </a:r>
            <a:endParaRPr lang="en-US" sz="2400" i="1" dirty="0">
              <a:solidFill>
                <a:schemeClr val="bg1"/>
              </a:solidFill>
            </a:endParaRPr>
          </a:p>
        </p:txBody>
      </p:sp>
    </p:spTree>
    <p:extLst>
      <p:ext uri="{BB962C8B-B14F-4D97-AF65-F5344CB8AC3E}">
        <p14:creationId xmlns:p14="http://schemas.microsoft.com/office/powerpoint/2010/main" val="13688880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66928"/>
          </a:xfrm>
          <a:prstGeom prst="rect">
            <a:avLst/>
          </a:prstGeom>
          <a:noFill/>
          <a:ln/>
        </p:spPr>
        <p:txBody>
          <a:bodyPr wrap="square" lIns="0" tIns="0" rIns="0" bIns="0" rtlCol="0" anchor="ctr"/>
          <a:lstStyle/>
          <a:p>
            <a:pPr marL="0" indent="0">
              <a:buNone/>
            </a:pPr>
            <a:r>
              <a:rPr lang="en-US" sz="2400" b="1" dirty="0">
                <a:solidFill>
                  <a:srgbClr val="0D2137"/>
                </a:solidFill>
                <a:latin typeface="Calibri" pitchFamily="34" charset="0"/>
                <a:ea typeface="Calibri" pitchFamily="34" charset="-122"/>
                <a:cs typeface="Calibri" pitchFamily="34" charset="-120"/>
              </a:rPr>
              <a:t>Healthcare Application: Challenges</a:t>
            </a:r>
            <a:endParaRPr lang="en-US" sz="2400" dirty="0"/>
          </a:p>
        </p:txBody>
      </p:sp>
      <p:sp>
        <p:nvSpPr>
          <p:cNvPr id="3" name="Shape 1"/>
          <p:cNvSpPr/>
          <p:nvPr/>
        </p:nvSpPr>
        <p:spPr>
          <a:xfrm>
            <a:off x="457200" y="795528"/>
            <a:ext cx="8229600" cy="0"/>
          </a:xfrm>
          <a:prstGeom prst="line">
            <a:avLst/>
          </a:prstGeom>
          <a:noFill/>
          <a:ln w="25400">
            <a:solidFill>
              <a:srgbClr val="028090"/>
            </a:solidFill>
            <a:prstDash val="solid"/>
          </a:ln>
        </p:spPr>
        <p:txBody>
          <a:bodyPr/>
          <a:lstStyle/>
          <a:p>
            <a:endParaRPr lang="en-CN"/>
          </a:p>
        </p:txBody>
      </p:sp>
      <p:sp>
        <p:nvSpPr>
          <p:cNvPr id="4" name="Shape 2"/>
          <p:cNvSpPr/>
          <p:nvPr/>
        </p:nvSpPr>
        <p:spPr>
          <a:xfrm>
            <a:off x="347472" y="960120"/>
            <a:ext cx="4023360" cy="3840480"/>
          </a:xfrm>
          <a:prstGeom prst="rect">
            <a:avLst/>
          </a:prstGeom>
          <a:solidFill>
            <a:srgbClr val="F0F6FA"/>
          </a:solidFill>
          <a:ln w="12700">
            <a:solidFill>
              <a:srgbClr val="D0E4EC"/>
            </a:solidFill>
            <a:prstDash val="solid"/>
          </a:ln>
          <a:effectLst>
            <a:outerShdw blurRad="76200" dist="25400" dir="8100000" algn="bl" rotWithShape="0">
              <a:srgbClr val="000000">
                <a:alpha val="12000"/>
              </a:srgbClr>
            </a:outerShdw>
          </a:effectLst>
        </p:spPr>
        <p:txBody>
          <a:bodyPr/>
          <a:lstStyle/>
          <a:p>
            <a:endParaRPr lang="en-CN"/>
          </a:p>
        </p:txBody>
      </p:sp>
      <p:sp>
        <p:nvSpPr>
          <p:cNvPr id="5" name="Shape 3"/>
          <p:cNvSpPr/>
          <p:nvPr/>
        </p:nvSpPr>
        <p:spPr>
          <a:xfrm>
            <a:off x="347472" y="960120"/>
            <a:ext cx="4023360" cy="438912"/>
          </a:xfrm>
          <a:prstGeom prst="rect">
            <a:avLst/>
          </a:prstGeom>
          <a:solidFill>
            <a:srgbClr val="028090"/>
          </a:solidFill>
          <a:ln w="12700">
            <a:solidFill>
              <a:srgbClr val="028090"/>
            </a:solidFill>
            <a:prstDash val="solid"/>
          </a:ln>
        </p:spPr>
        <p:txBody>
          <a:bodyPr/>
          <a:lstStyle/>
          <a:p>
            <a:endParaRPr lang="en-CN"/>
          </a:p>
        </p:txBody>
      </p:sp>
      <p:sp>
        <p:nvSpPr>
          <p:cNvPr id="6" name="Text 4"/>
          <p:cNvSpPr/>
          <p:nvPr/>
        </p:nvSpPr>
        <p:spPr>
          <a:xfrm>
            <a:off x="347472" y="987552"/>
            <a:ext cx="4023360" cy="384048"/>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Challenge 1: Early Signal Detection</a:t>
            </a:r>
            <a:endParaRPr lang="en-US" sz="1600" dirty="0"/>
          </a:p>
        </p:txBody>
      </p:sp>
      <p:sp>
        <p:nvSpPr>
          <p:cNvPr id="7" name="Text 5"/>
          <p:cNvSpPr/>
          <p:nvPr/>
        </p:nvSpPr>
        <p:spPr>
          <a:xfrm>
            <a:off x="356616" y="1640768"/>
            <a:ext cx="4023360" cy="1925390"/>
          </a:xfrm>
          <a:prstGeom prst="rect">
            <a:avLst/>
          </a:prstGeom>
          <a:noFill/>
          <a:ln/>
        </p:spPr>
        <p:txBody>
          <a:bodyPr wrap="square" rtlCol="0" anchor="ctr"/>
          <a:lstStyle/>
          <a:p>
            <a:pPr marL="342900" indent="-342900">
              <a:spcAft>
                <a:spcPts val="500"/>
              </a:spcAft>
              <a:buSzPct val="100000"/>
              <a:buChar char="•"/>
            </a:pPr>
            <a:r>
              <a:rPr lang="en-US" sz="1400" dirty="0">
                <a:solidFill>
                  <a:srgbClr val="1A2B3C"/>
                </a:solidFill>
                <a:latin typeface="Arial" panose="020B0604020202020204" pitchFamily="34" charset="0"/>
                <a:ea typeface="Calibri" pitchFamily="34" charset="-122"/>
                <a:cs typeface="Arial" panose="020B0604020202020204" pitchFamily="34" charset="0"/>
              </a:rPr>
              <a:t>GLP-1 drug shortages affect patient access &amp; treatment continuity</a:t>
            </a:r>
            <a:endParaRPr lang="en-US" sz="1400" dirty="0">
              <a:latin typeface="Arial" panose="020B0604020202020204" pitchFamily="34" charset="0"/>
              <a:cs typeface="Arial" panose="020B0604020202020204" pitchFamily="34" charset="0"/>
            </a:endParaRPr>
          </a:p>
          <a:p>
            <a:pPr marL="342900" indent="-342900">
              <a:spcAft>
                <a:spcPts val="500"/>
              </a:spcAft>
              <a:buSzPct val="100000"/>
              <a:buChar char="•"/>
            </a:pPr>
            <a:r>
              <a:rPr lang="en-US" sz="1400" dirty="0">
                <a:solidFill>
                  <a:srgbClr val="1A2B3C"/>
                </a:solidFill>
                <a:latin typeface="Arial" panose="020B0604020202020204" pitchFamily="34" charset="0"/>
                <a:ea typeface="Calibri" pitchFamily="34" charset="-122"/>
                <a:cs typeface="Arial" panose="020B0604020202020204" pitchFamily="34" charset="0"/>
              </a:rPr>
              <a:t>Patient experiences embedded in noisy Reddit posts before official reports</a:t>
            </a:r>
            <a:endParaRPr lang="en-US" sz="1400" dirty="0">
              <a:latin typeface="Arial" panose="020B0604020202020204" pitchFamily="34" charset="0"/>
              <a:cs typeface="Arial" panose="020B0604020202020204" pitchFamily="34" charset="0"/>
            </a:endParaRPr>
          </a:p>
          <a:p>
            <a:pPr marL="342900" indent="-342900">
              <a:spcAft>
                <a:spcPts val="500"/>
              </a:spcAft>
              <a:buSzPct val="100000"/>
              <a:buChar char="•"/>
            </a:pPr>
            <a:r>
              <a:rPr lang="en-US" sz="1400" dirty="0">
                <a:solidFill>
                  <a:srgbClr val="1A2B3C"/>
                </a:solidFill>
                <a:latin typeface="Arial" panose="020B0604020202020204" pitchFamily="34" charset="0"/>
                <a:ea typeface="Calibri" pitchFamily="34" charset="-122"/>
                <a:cs typeface="Arial" panose="020B0604020202020204" pitchFamily="34" charset="0"/>
              </a:rPr>
              <a:t>Need: Transform ~800K unstructured posts into shortage signals</a:t>
            </a:r>
            <a:endParaRPr lang="en-US" sz="1400" dirty="0">
              <a:latin typeface="Arial" panose="020B0604020202020204" pitchFamily="34" charset="0"/>
              <a:cs typeface="Arial" panose="020B0604020202020204" pitchFamily="34" charset="0"/>
            </a:endParaRPr>
          </a:p>
          <a:p>
            <a:pPr marL="342900" indent="-342900">
              <a:spcAft>
                <a:spcPts val="500"/>
              </a:spcAft>
              <a:buSzPct val="100000"/>
              <a:buChar char="•"/>
            </a:pPr>
            <a:r>
              <a:rPr lang="en-US" sz="1400" dirty="0">
                <a:solidFill>
                  <a:srgbClr val="1A2B3C"/>
                </a:solidFill>
                <a:latin typeface="Arial" panose="020B0604020202020204" pitchFamily="34" charset="0"/>
                <a:ea typeface="Calibri" pitchFamily="34" charset="-122"/>
                <a:cs typeface="Arial" panose="020B0604020202020204" pitchFamily="34" charset="0"/>
              </a:rPr>
              <a:t>Approach: Fine-tuned RoBERTa encoder — binary classification</a:t>
            </a:r>
            <a:endParaRPr lang="en-US" sz="1400" dirty="0">
              <a:latin typeface="Arial" panose="020B0604020202020204" pitchFamily="34" charset="0"/>
              <a:cs typeface="Arial" panose="020B0604020202020204" pitchFamily="34" charset="0"/>
            </a:endParaRPr>
          </a:p>
        </p:txBody>
      </p:sp>
      <p:sp>
        <p:nvSpPr>
          <p:cNvPr id="8" name="Shape 6"/>
          <p:cNvSpPr/>
          <p:nvPr/>
        </p:nvSpPr>
        <p:spPr>
          <a:xfrm>
            <a:off x="4690872" y="960120"/>
            <a:ext cx="4023360" cy="3840480"/>
          </a:xfrm>
          <a:prstGeom prst="rect">
            <a:avLst/>
          </a:prstGeom>
          <a:solidFill>
            <a:srgbClr val="F0F6FA"/>
          </a:solidFill>
          <a:ln w="12700">
            <a:solidFill>
              <a:srgbClr val="D0E4EC"/>
            </a:solidFill>
            <a:prstDash val="solid"/>
          </a:ln>
          <a:effectLst>
            <a:outerShdw blurRad="76200" dist="25400" dir="8100000" algn="bl" rotWithShape="0">
              <a:srgbClr val="000000">
                <a:alpha val="12000"/>
              </a:srgbClr>
            </a:outerShdw>
          </a:effectLst>
        </p:spPr>
        <p:txBody>
          <a:bodyPr/>
          <a:lstStyle/>
          <a:p>
            <a:endParaRPr lang="en-CN"/>
          </a:p>
        </p:txBody>
      </p:sp>
      <p:sp>
        <p:nvSpPr>
          <p:cNvPr id="9" name="Shape 7"/>
          <p:cNvSpPr/>
          <p:nvPr/>
        </p:nvSpPr>
        <p:spPr>
          <a:xfrm>
            <a:off x="4690872" y="960120"/>
            <a:ext cx="4023360" cy="438912"/>
          </a:xfrm>
          <a:prstGeom prst="rect">
            <a:avLst/>
          </a:prstGeom>
          <a:solidFill>
            <a:srgbClr val="E76F51"/>
          </a:solidFill>
          <a:ln w="12700">
            <a:solidFill>
              <a:srgbClr val="E76F51"/>
            </a:solidFill>
            <a:prstDash val="solid"/>
          </a:ln>
        </p:spPr>
        <p:txBody>
          <a:bodyPr/>
          <a:lstStyle/>
          <a:p>
            <a:endParaRPr lang="en-CN"/>
          </a:p>
        </p:txBody>
      </p:sp>
      <p:sp>
        <p:nvSpPr>
          <p:cNvPr id="10" name="Text 8"/>
          <p:cNvSpPr/>
          <p:nvPr/>
        </p:nvSpPr>
        <p:spPr>
          <a:xfrm>
            <a:off x="4690872" y="987552"/>
            <a:ext cx="4023360" cy="384048"/>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Challenge 2: Medical Knowledge Access</a:t>
            </a:r>
            <a:endParaRPr lang="en-US" sz="1600" dirty="0"/>
          </a:p>
        </p:txBody>
      </p:sp>
      <p:sp>
        <p:nvSpPr>
          <p:cNvPr id="11" name="Text 9"/>
          <p:cNvSpPr/>
          <p:nvPr/>
        </p:nvSpPr>
        <p:spPr>
          <a:xfrm>
            <a:off x="4700016" y="1490472"/>
            <a:ext cx="4023360" cy="2103119"/>
          </a:xfrm>
          <a:prstGeom prst="rect">
            <a:avLst/>
          </a:prstGeom>
          <a:noFill/>
          <a:ln/>
        </p:spPr>
        <p:txBody>
          <a:bodyPr wrap="square" rtlCol="0" anchor="ctr"/>
          <a:lstStyle/>
          <a:p>
            <a:pPr marL="342900" indent="-342900">
              <a:spcAft>
                <a:spcPts val="500"/>
              </a:spcAft>
              <a:buSzPct val="100000"/>
              <a:buChar char="•"/>
            </a:pPr>
            <a:r>
              <a:rPr lang="en-US" sz="1400" dirty="0">
                <a:solidFill>
                  <a:srgbClr val="1A2B3C"/>
                </a:solidFill>
                <a:latin typeface="Arial" panose="020B0604020202020204" pitchFamily="34" charset="0"/>
                <a:cs typeface="Arial" panose="020B0604020202020204" pitchFamily="34" charset="0"/>
              </a:rPr>
              <a:t>Physicians repeatedly answer the same refractive surgery questions</a:t>
            </a:r>
          </a:p>
          <a:p>
            <a:pPr marL="342900" indent="-342900">
              <a:spcAft>
                <a:spcPts val="500"/>
              </a:spcAft>
              <a:buSzPct val="100000"/>
              <a:buChar char="•"/>
            </a:pPr>
            <a:r>
              <a:rPr lang="en-US" sz="1400" dirty="0">
                <a:solidFill>
                  <a:srgbClr val="1A2B3C"/>
                </a:solidFill>
                <a:latin typeface="Arial" panose="020B0604020202020204" pitchFamily="34" charset="0"/>
                <a:cs typeface="Arial" panose="020B0604020202020204" pitchFamily="34" charset="0"/>
              </a:rPr>
              <a:t>General-purpose LLMs hallucinate clinical specifics and cite stale data</a:t>
            </a:r>
          </a:p>
          <a:p>
            <a:pPr marL="342900" indent="-342900">
              <a:spcAft>
                <a:spcPts val="500"/>
              </a:spcAft>
              <a:buSzPct val="100000"/>
              <a:buChar char="•"/>
            </a:pPr>
            <a:r>
              <a:rPr lang="en-US" sz="1400" dirty="0">
                <a:solidFill>
                  <a:srgbClr val="1A2B3C"/>
                </a:solidFill>
                <a:latin typeface="Arial" panose="020B0604020202020204" pitchFamily="34" charset="0"/>
                <a:cs typeface="Arial" panose="020B0604020202020204" pitchFamily="34" charset="0"/>
              </a:rPr>
              <a:t>Need: Accurate, traceable, evidence-based answers for patients</a:t>
            </a:r>
          </a:p>
          <a:p>
            <a:pPr marL="342900" indent="-342900">
              <a:spcAft>
                <a:spcPts val="500"/>
              </a:spcAft>
              <a:buSzPct val="100000"/>
              <a:buChar char="•"/>
            </a:pPr>
            <a:r>
              <a:rPr lang="en-US" sz="1400" dirty="0">
                <a:solidFill>
                  <a:srgbClr val="1A2B3C"/>
                </a:solidFill>
                <a:latin typeface="Arial" panose="020B0604020202020204" pitchFamily="34" charset="0"/>
                <a:cs typeface="Arial" panose="020B0604020202020204" pitchFamily="34" charset="0"/>
              </a:rPr>
              <a:t>Approach: RAG — retrieve AAO guidelines → ground LLM generation</a:t>
            </a:r>
          </a:p>
        </p:txBody>
      </p:sp>
      <p:sp>
        <p:nvSpPr>
          <p:cNvPr id="14" name="Shape 4">
            <a:extLst>
              <a:ext uri="{FF2B5EF4-FFF2-40B4-BE49-F238E27FC236}">
                <a16:creationId xmlns:a16="http://schemas.microsoft.com/office/drawing/2014/main" id="{310D8A58-990F-7A5C-A0E5-368F78360E2C}"/>
              </a:ext>
            </a:extLst>
          </p:cNvPr>
          <p:cNvSpPr/>
          <p:nvPr/>
        </p:nvSpPr>
        <p:spPr>
          <a:xfrm>
            <a:off x="356616" y="3593591"/>
            <a:ext cx="4023360" cy="1371600"/>
          </a:xfrm>
          <a:prstGeom prst="rect">
            <a:avLst/>
          </a:prstGeom>
          <a:solidFill>
            <a:srgbClr val="028090"/>
          </a:solidFill>
          <a:ln w="12700">
            <a:solidFill>
              <a:srgbClr val="028090"/>
            </a:solidFill>
            <a:prstDash val="solid"/>
          </a:ln>
          <a:effectLst>
            <a:outerShdw blurRad="76200" dist="25400" dir="8100000" algn="bl" rotWithShape="0">
              <a:srgbClr val="000000">
                <a:alpha val="12000"/>
              </a:srgbClr>
            </a:outerShdw>
          </a:effectLst>
        </p:spPr>
        <p:txBody>
          <a:bodyPr/>
          <a:lstStyle/>
          <a:p>
            <a:endParaRPr lang="en-CN"/>
          </a:p>
        </p:txBody>
      </p:sp>
      <p:sp>
        <p:nvSpPr>
          <p:cNvPr id="15" name="Text 5">
            <a:extLst>
              <a:ext uri="{FF2B5EF4-FFF2-40B4-BE49-F238E27FC236}">
                <a16:creationId xmlns:a16="http://schemas.microsoft.com/office/drawing/2014/main" id="{CDA1135C-8FEB-B66E-FE1B-D5BD41BDAF3E}"/>
              </a:ext>
            </a:extLst>
          </p:cNvPr>
          <p:cNvSpPr/>
          <p:nvPr/>
        </p:nvSpPr>
        <p:spPr>
          <a:xfrm>
            <a:off x="402336" y="3634158"/>
            <a:ext cx="3931920" cy="402336"/>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PART 1: Encoder NLP</a:t>
            </a:r>
            <a:endParaRPr lang="en-US" sz="1600" dirty="0"/>
          </a:p>
        </p:txBody>
      </p:sp>
      <p:sp>
        <p:nvSpPr>
          <p:cNvPr id="16" name="Text 6">
            <a:extLst>
              <a:ext uri="{FF2B5EF4-FFF2-40B4-BE49-F238E27FC236}">
                <a16:creationId xmlns:a16="http://schemas.microsoft.com/office/drawing/2014/main" id="{9488F453-24EE-822C-10F3-5532396CE2A5}"/>
              </a:ext>
            </a:extLst>
          </p:cNvPr>
          <p:cNvSpPr/>
          <p:nvPr/>
        </p:nvSpPr>
        <p:spPr>
          <a:xfrm>
            <a:off x="457200" y="4098508"/>
            <a:ext cx="3749040" cy="822960"/>
          </a:xfrm>
          <a:prstGeom prst="rect">
            <a:avLst/>
          </a:prstGeom>
          <a:noFill/>
          <a:ln/>
        </p:spPr>
        <p:txBody>
          <a:bodyPr wrap="square" rtlCol="0" anchor="ctr"/>
          <a:lstStyle/>
          <a:p>
            <a:pPr marL="0" indent="0" algn="ctr">
              <a:buNone/>
            </a:pPr>
            <a:r>
              <a:rPr lang="en-US" sz="1600" dirty="0">
                <a:solidFill>
                  <a:srgbClr val="E8F4F8"/>
                </a:solidFill>
                <a:latin typeface="Calibri" pitchFamily="34" charset="0"/>
                <a:ea typeface="Calibri" pitchFamily="34" charset="-122"/>
                <a:cs typeface="Calibri" pitchFamily="34" charset="-120"/>
              </a:rPr>
              <a:t>Drug Shortage Detection from Reddit</a:t>
            </a:r>
            <a:endParaRPr lang="en-US" sz="1600" dirty="0"/>
          </a:p>
          <a:p>
            <a:pPr marL="0" indent="0" algn="ctr">
              <a:buNone/>
            </a:pPr>
            <a:r>
              <a:rPr lang="en-US" sz="1600" dirty="0">
                <a:solidFill>
                  <a:srgbClr val="E8F4F8"/>
                </a:solidFill>
                <a:latin typeface="Calibri" pitchFamily="34" charset="0"/>
                <a:ea typeface="Calibri" pitchFamily="34" charset="-122"/>
                <a:cs typeface="Calibri" pitchFamily="34" charset="-120"/>
              </a:rPr>
              <a:t>(RoBERTa · 800K posts · F1=0.87)</a:t>
            </a:r>
            <a:endParaRPr lang="en-US" sz="1600" dirty="0"/>
          </a:p>
        </p:txBody>
      </p:sp>
      <p:sp>
        <p:nvSpPr>
          <p:cNvPr id="17" name="Shape 7">
            <a:extLst>
              <a:ext uri="{FF2B5EF4-FFF2-40B4-BE49-F238E27FC236}">
                <a16:creationId xmlns:a16="http://schemas.microsoft.com/office/drawing/2014/main" id="{88306C2E-0D4B-6D8D-FAA2-58546968C156}"/>
              </a:ext>
            </a:extLst>
          </p:cNvPr>
          <p:cNvSpPr/>
          <p:nvPr/>
        </p:nvSpPr>
        <p:spPr>
          <a:xfrm>
            <a:off x="4700016" y="3570732"/>
            <a:ext cx="4007804" cy="1371600"/>
          </a:xfrm>
          <a:prstGeom prst="rect">
            <a:avLst/>
          </a:prstGeom>
          <a:solidFill>
            <a:srgbClr val="E76F51"/>
          </a:solidFill>
          <a:ln w="12700">
            <a:solidFill>
              <a:srgbClr val="E76F51"/>
            </a:solidFill>
            <a:prstDash val="solid"/>
          </a:ln>
          <a:effectLst>
            <a:outerShdw blurRad="76200" dist="25400" dir="8100000" algn="bl" rotWithShape="0">
              <a:srgbClr val="000000">
                <a:alpha val="12000"/>
              </a:srgbClr>
            </a:outerShdw>
          </a:effectLst>
        </p:spPr>
        <p:txBody>
          <a:bodyPr/>
          <a:lstStyle/>
          <a:p>
            <a:endParaRPr lang="en-CN"/>
          </a:p>
        </p:txBody>
      </p:sp>
      <p:sp>
        <p:nvSpPr>
          <p:cNvPr id="18" name="Text 8">
            <a:extLst>
              <a:ext uri="{FF2B5EF4-FFF2-40B4-BE49-F238E27FC236}">
                <a16:creationId xmlns:a16="http://schemas.microsoft.com/office/drawing/2014/main" id="{F78E4097-94D1-7CC9-CA04-CF4620F90BFA}"/>
              </a:ext>
            </a:extLst>
          </p:cNvPr>
          <p:cNvSpPr/>
          <p:nvPr/>
        </p:nvSpPr>
        <p:spPr>
          <a:xfrm>
            <a:off x="4754880" y="3625596"/>
            <a:ext cx="3931920" cy="402336"/>
          </a:xfrm>
          <a:prstGeom prst="rect">
            <a:avLst/>
          </a:prstGeom>
          <a:noFill/>
          <a:ln/>
        </p:spPr>
        <p:txBody>
          <a:bodyPr wrap="square" rtlCol="0" anchor="ctr"/>
          <a:lstStyle/>
          <a:p>
            <a:pPr algn="ctr"/>
            <a:r>
              <a:rPr lang="en-US" sz="1600" b="1" dirty="0">
                <a:solidFill>
                  <a:srgbClr val="FFFFFF"/>
                </a:solidFill>
                <a:latin typeface="Calibri" pitchFamily="34" charset="0"/>
                <a:ea typeface="Calibri" pitchFamily="34" charset="-122"/>
                <a:cs typeface="Calibri" pitchFamily="34" charset="-120"/>
              </a:rPr>
              <a:t>PART 2: Medical RAG</a:t>
            </a:r>
            <a:endParaRPr lang="en-US" sz="1600" dirty="0"/>
          </a:p>
        </p:txBody>
      </p:sp>
      <p:sp>
        <p:nvSpPr>
          <p:cNvPr id="19" name="Text 9">
            <a:extLst>
              <a:ext uri="{FF2B5EF4-FFF2-40B4-BE49-F238E27FC236}">
                <a16:creationId xmlns:a16="http://schemas.microsoft.com/office/drawing/2014/main" id="{17DE40DC-C33D-C6E9-A2AA-110B6F7486DD}"/>
              </a:ext>
            </a:extLst>
          </p:cNvPr>
          <p:cNvSpPr/>
          <p:nvPr/>
        </p:nvSpPr>
        <p:spPr>
          <a:xfrm>
            <a:off x="4846320" y="4027932"/>
            <a:ext cx="3749040" cy="822960"/>
          </a:xfrm>
          <a:prstGeom prst="rect">
            <a:avLst/>
          </a:prstGeom>
          <a:noFill/>
          <a:ln/>
        </p:spPr>
        <p:txBody>
          <a:bodyPr wrap="square" rtlCol="0" anchor="ctr"/>
          <a:lstStyle/>
          <a:p>
            <a:pPr marL="0" indent="0" algn="ctr">
              <a:buNone/>
            </a:pPr>
            <a:r>
              <a:rPr lang="en-US" sz="1600" dirty="0">
                <a:solidFill>
                  <a:srgbClr val="E8F4F8"/>
                </a:solidFill>
                <a:latin typeface="Calibri" pitchFamily="34" charset="0"/>
                <a:ea typeface="Calibri" pitchFamily="34" charset="-122"/>
                <a:cs typeface="Calibri" pitchFamily="34" charset="-120"/>
              </a:rPr>
              <a:t>Ophthalmology Follow-up Assistant</a:t>
            </a:r>
            <a:endParaRPr lang="en-US" sz="1600" dirty="0"/>
          </a:p>
          <a:p>
            <a:pPr marL="0" indent="0" algn="ctr">
              <a:buNone/>
            </a:pPr>
            <a:r>
              <a:rPr lang="en-US" sz="1600" dirty="0">
                <a:solidFill>
                  <a:srgbClr val="E8F4F8"/>
                </a:solidFill>
                <a:latin typeface="Calibri" pitchFamily="34" charset="0"/>
                <a:ea typeface="Calibri" pitchFamily="34" charset="-122"/>
                <a:cs typeface="Calibri" pitchFamily="34" charset="-120"/>
              </a:rPr>
              <a:t>(DeepSeek · 800 docs · +43.4% quality)</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66928"/>
          </a:xfrm>
          <a:prstGeom prst="rect">
            <a:avLst/>
          </a:prstGeom>
          <a:noFill/>
          <a:ln/>
        </p:spPr>
        <p:txBody>
          <a:bodyPr wrap="square" lIns="0" tIns="0" rIns="0" bIns="0" rtlCol="0" anchor="ctr"/>
          <a:lstStyle/>
          <a:p>
            <a:pPr marL="0" indent="0">
              <a:buNone/>
            </a:pPr>
            <a:r>
              <a:rPr lang="en-US" sz="2400" b="1" dirty="0">
                <a:solidFill>
                  <a:srgbClr val="0D2137"/>
                </a:solidFill>
                <a:latin typeface="Calibri" pitchFamily="34" charset="0"/>
                <a:ea typeface="Calibri" pitchFamily="34" charset="-122"/>
                <a:cs typeface="Calibri" pitchFamily="34" charset="-120"/>
              </a:rPr>
              <a:t>Whole</a:t>
            </a:r>
            <a:r>
              <a:rPr lang="zh-CN" altLang="en-US" sz="2400" b="1" dirty="0">
                <a:solidFill>
                  <a:srgbClr val="0D2137"/>
                </a:solidFill>
                <a:latin typeface="Calibri" pitchFamily="34" charset="0"/>
                <a:ea typeface="Calibri" pitchFamily="34" charset="-122"/>
                <a:cs typeface="Calibri" pitchFamily="34" charset="-120"/>
              </a:rPr>
              <a:t> </a:t>
            </a:r>
            <a:r>
              <a:rPr lang="en-US" altLang="zh-CN" sz="2400" b="1" dirty="0">
                <a:solidFill>
                  <a:srgbClr val="0D2137"/>
                </a:solidFill>
                <a:latin typeface="Calibri" pitchFamily="34" charset="0"/>
                <a:ea typeface="Calibri" pitchFamily="34" charset="-122"/>
                <a:cs typeface="Calibri" pitchFamily="34" charset="-120"/>
              </a:rPr>
              <a:t>Picture</a:t>
            </a:r>
            <a:endParaRPr lang="en-US" sz="2400" dirty="0"/>
          </a:p>
        </p:txBody>
      </p:sp>
      <p:sp>
        <p:nvSpPr>
          <p:cNvPr id="3" name="Shape 1"/>
          <p:cNvSpPr/>
          <p:nvPr/>
        </p:nvSpPr>
        <p:spPr>
          <a:xfrm>
            <a:off x="457200" y="795528"/>
            <a:ext cx="8229600" cy="0"/>
          </a:xfrm>
          <a:prstGeom prst="line">
            <a:avLst/>
          </a:prstGeom>
          <a:noFill/>
          <a:ln w="25400">
            <a:solidFill>
              <a:srgbClr val="028090"/>
            </a:solidFill>
            <a:prstDash val="solid"/>
          </a:ln>
        </p:spPr>
        <p:txBody>
          <a:bodyPr/>
          <a:lstStyle/>
          <a:p>
            <a:endParaRPr lang="en-CN"/>
          </a:p>
        </p:txBody>
      </p:sp>
      <p:graphicFrame>
        <p:nvGraphicFramePr>
          <p:cNvPr id="4" name="Table 0"/>
          <p:cNvGraphicFramePr>
            <a:graphicFrameLocks noGrp="1"/>
          </p:cNvGraphicFramePr>
          <p:nvPr>
            <p:extLst>
              <p:ext uri="{D42A27DB-BD31-4B8C-83A1-F6EECF244321}">
                <p14:modId xmlns:p14="http://schemas.microsoft.com/office/powerpoint/2010/main" val="3184434878"/>
              </p:ext>
            </p:extLst>
          </p:nvPr>
        </p:nvGraphicFramePr>
        <p:xfrm>
          <a:off x="457200" y="960120"/>
          <a:ext cx="8229600" cy="3657600"/>
        </p:xfrm>
        <a:graphic>
          <a:graphicData uri="http://schemas.openxmlformats.org/drawingml/2006/table">
            <a:tbl>
              <a:tblPr/>
              <a:tblGrid>
                <a:gridCol w="1920240">
                  <a:extLst>
                    <a:ext uri="{9D8B030D-6E8A-4147-A177-3AD203B41FA5}">
                      <a16:colId xmlns:a16="http://schemas.microsoft.com/office/drawing/2014/main" val="20000"/>
                    </a:ext>
                  </a:extLst>
                </a:gridCol>
                <a:gridCol w="3008476">
                  <a:extLst>
                    <a:ext uri="{9D8B030D-6E8A-4147-A177-3AD203B41FA5}">
                      <a16:colId xmlns:a16="http://schemas.microsoft.com/office/drawing/2014/main" val="20001"/>
                    </a:ext>
                  </a:extLst>
                </a:gridCol>
                <a:gridCol w="3300884">
                  <a:extLst>
                    <a:ext uri="{9D8B030D-6E8A-4147-A177-3AD203B41FA5}">
                      <a16:colId xmlns:a16="http://schemas.microsoft.com/office/drawing/2014/main" val="20002"/>
                    </a:ext>
                  </a:extLst>
                </a:gridCol>
              </a:tblGrid>
              <a:tr h="457200">
                <a:tc>
                  <a:txBody>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Aspect</a:t>
                      </a:r>
                      <a:endParaRPr lang="en-US" sz="1800" dirty="0">
                        <a:latin typeface="Calibri" charset="0"/>
                        <a:ea typeface="Calibri" charset="0"/>
                        <a:cs typeface="Calibri" charset="0"/>
                      </a:endParaRPr>
                    </a:p>
                  </a:txBody>
                  <a:tcPr>
                    <a:lnL w="6350" cap="flat" cmpd="sng" algn="ctr">
                      <a:solidFill>
                        <a:srgbClr val="C8DCE8"/>
                      </a:solidFill>
                      <a:prstDash val="solid"/>
                      <a:round/>
                      <a:headEnd type="none" w="med" len="med"/>
                      <a:tailEnd type="none" w="med" len="med"/>
                    </a:lnL>
                    <a:lnR w="6350" cap="flat" cmpd="sng" algn="ctr">
                      <a:solidFill>
                        <a:srgbClr val="C8DCE8"/>
                      </a:solidFill>
                      <a:prstDash val="solid"/>
                      <a:round/>
                      <a:headEnd type="none" w="med" len="med"/>
                      <a:tailEnd type="none" w="med" len="med"/>
                    </a:lnR>
                    <a:lnT w="6350" cap="flat" cmpd="sng" algn="ctr">
                      <a:solidFill>
                        <a:srgbClr val="C8DCE8"/>
                      </a:solidFill>
                      <a:prstDash val="solid"/>
                      <a:round/>
                      <a:headEnd type="none" w="med" len="med"/>
                      <a:tailEnd type="none" w="med" len="med"/>
                    </a:lnT>
                    <a:lnB w="6350" cap="flat" cmpd="sng" algn="ctr">
                      <a:solidFill>
                        <a:srgbClr val="C8DCE8"/>
                      </a:solidFill>
                      <a:prstDash val="solid"/>
                      <a:round/>
                      <a:headEnd type="none" w="med" len="med"/>
                      <a:tailEnd type="none" w="med" len="med"/>
                    </a:lnB>
                    <a:solidFill>
                      <a:srgbClr val="0D2137"/>
                    </a:solidFill>
                  </a:tcPr>
                </a:tc>
                <a:tc>
                  <a:txBody>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PART 1: Shortage Detection</a:t>
                      </a:r>
                      <a:endParaRPr lang="en-US" sz="1800" dirty="0">
                        <a:latin typeface="Calibri" charset="0"/>
                        <a:ea typeface="Calibri" charset="0"/>
                        <a:cs typeface="Calibri" charset="0"/>
                      </a:endParaRPr>
                    </a:p>
                  </a:txBody>
                  <a:tcPr>
                    <a:lnL w="6350" cap="flat" cmpd="sng" algn="ctr">
                      <a:solidFill>
                        <a:srgbClr val="C8DCE8"/>
                      </a:solidFill>
                      <a:prstDash val="solid"/>
                      <a:round/>
                      <a:headEnd type="none" w="med" len="med"/>
                      <a:tailEnd type="none" w="med" len="med"/>
                    </a:lnL>
                    <a:lnR w="6350" cap="flat" cmpd="sng" algn="ctr">
                      <a:solidFill>
                        <a:srgbClr val="C8DCE8"/>
                      </a:solidFill>
                      <a:prstDash val="solid"/>
                      <a:round/>
                      <a:headEnd type="none" w="med" len="med"/>
                      <a:tailEnd type="none" w="med" len="med"/>
                    </a:lnR>
                    <a:lnT w="6350" cap="flat" cmpd="sng" algn="ctr">
                      <a:solidFill>
                        <a:srgbClr val="C8DCE8"/>
                      </a:solidFill>
                      <a:prstDash val="solid"/>
                      <a:round/>
                      <a:headEnd type="none" w="med" len="med"/>
                      <a:tailEnd type="none" w="med" len="med"/>
                    </a:lnT>
                    <a:lnB w="6350" cap="flat" cmpd="sng" algn="ctr">
                      <a:solidFill>
                        <a:srgbClr val="C8DCE8"/>
                      </a:solidFill>
                      <a:prstDash val="solid"/>
                      <a:round/>
                      <a:headEnd type="none" w="med" len="med"/>
                      <a:tailEnd type="none" w="med" len="med"/>
                    </a:lnB>
                    <a:solidFill>
                      <a:srgbClr val="028090"/>
                    </a:solidFill>
                  </a:tcPr>
                </a:tc>
                <a:tc>
                  <a:txBody>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PART 2: Medical RAG</a:t>
                      </a:r>
                      <a:endParaRPr lang="en-US" sz="1800" dirty="0">
                        <a:latin typeface="Calibri" charset="0"/>
                        <a:ea typeface="Calibri" charset="0"/>
                        <a:cs typeface="Calibri" charset="0"/>
                      </a:endParaRPr>
                    </a:p>
                  </a:txBody>
                  <a:tcPr>
                    <a:lnL w="6350" cap="flat" cmpd="sng" algn="ctr">
                      <a:solidFill>
                        <a:srgbClr val="C8DCE8"/>
                      </a:solidFill>
                      <a:prstDash val="solid"/>
                      <a:round/>
                      <a:headEnd type="none" w="med" len="med"/>
                      <a:tailEnd type="none" w="med" len="med"/>
                    </a:lnL>
                    <a:lnR w="6350" cap="flat" cmpd="sng" algn="ctr">
                      <a:solidFill>
                        <a:srgbClr val="C8DCE8"/>
                      </a:solidFill>
                      <a:prstDash val="solid"/>
                      <a:round/>
                      <a:headEnd type="none" w="med" len="med"/>
                      <a:tailEnd type="none" w="med" len="med"/>
                    </a:lnR>
                    <a:lnT w="6350" cap="flat" cmpd="sng" algn="ctr">
                      <a:solidFill>
                        <a:srgbClr val="C8DCE8"/>
                      </a:solidFill>
                      <a:prstDash val="solid"/>
                      <a:round/>
                      <a:headEnd type="none" w="med" len="med"/>
                      <a:tailEnd type="none" w="med" len="med"/>
                    </a:lnT>
                    <a:lnB w="6350" cap="flat" cmpd="sng" algn="ctr">
                      <a:solidFill>
                        <a:srgbClr val="C8DCE8"/>
                      </a:solidFill>
                      <a:prstDash val="solid"/>
                      <a:round/>
                      <a:headEnd type="none" w="med" len="med"/>
                      <a:tailEnd type="none" w="med" len="med"/>
                    </a:lnB>
                    <a:solidFill>
                      <a:srgbClr val="E76F51"/>
                    </a:solidFill>
                  </a:tcPr>
                </a:tc>
                <a:extLst>
                  <a:ext uri="{0D108BD9-81ED-4DB2-BD59-A6C34878D82A}">
                    <a16:rowId xmlns:a16="http://schemas.microsoft.com/office/drawing/2014/main" val="10000"/>
                  </a:ext>
                </a:extLst>
              </a:tr>
              <a:tr h="457200">
                <a:tc>
                  <a:txBody>
                    <a:bodyPr/>
                    <a:lstStyle/>
                    <a:p>
                      <a:pPr marL="0" indent="0" algn="ctr">
                        <a:buNone/>
                      </a:pPr>
                      <a:r>
                        <a:rPr lang="en-US" sz="1200" dirty="0">
                          <a:solidFill>
                            <a:srgbClr val="1A2B3C"/>
                          </a:solidFill>
                          <a:latin typeface="Calibri" pitchFamily="34" charset="0"/>
                          <a:ea typeface="Calibri" pitchFamily="34" charset="-122"/>
                          <a:cs typeface="Calibri" pitchFamily="34" charset="-120"/>
                        </a:rPr>
                        <a:t>Input Data</a:t>
                      </a:r>
                      <a:endParaRPr lang="en-US" sz="1200" dirty="0">
                        <a:latin typeface="Calibri" charset="0"/>
                        <a:ea typeface="Calibri" charset="0"/>
                        <a:cs typeface="Calibri" charset="0"/>
                      </a:endParaRPr>
                    </a:p>
                  </a:txBody>
                  <a:tcPr>
                    <a:lnL w="6350" cap="flat" cmpd="sng" algn="ctr">
                      <a:solidFill>
                        <a:srgbClr val="C8DCE8"/>
                      </a:solidFill>
                      <a:prstDash val="solid"/>
                      <a:round/>
                      <a:headEnd type="none" w="med" len="med"/>
                      <a:tailEnd type="none" w="med" len="med"/>
                    </a:lnL>
                    <a:lnR w="6350" cap="flat" cmpd="sng" algn="ctr">
                      <a:solidFill>
                        <a:srgbClr val="C8DCE8"/>
                      </a:solidFill>
                      <a:prstDash val="solid"/>
                      <a:round/>
                      <a:headEnd type="none" w="med" len="med"/>
                      <a:tailEnd type="none" w="med" len="med"/>
                    </a:lnR>
                    <a:lnT w="6350" cap="flat" cmpd="sng" algn="ctr">
                      <a:solidFill>
                        <a:srgbClr val="C8DCE8"/>
                      </a:solidFill>
                      <a:prstDash val="solid"/>
                      <a:round/>
                      <a:headEnd type="none" w="med" len="med"/>
                      <a:tailEnd type="none" w="med" len="med"/>
                    </a:lnT>
                    <a:lnB w="6350" cap="flat" cmpd="sng" algn="ctr">
                      <a:solidFill>
                        <a:srgbClr val="C8DCE8"/>
                      </a:solidFill>
                      <a:prstDash val="solid"/>
                      <a:round/>
                      <a:headEnd type="none" w="med" len="med"/>
                      <a:tailEnd type="none" w="med" len="med"/>
                    </a:lnB>
                  </a:tcPr>
                </a:tc>
                <a:tc>
                  <a:txBody>
                    <a:bodyPr/>
                    <a:lstStyle/>
                    <a:p>
                      <a:pPr marL="0" indent="0" algn="ctr">
                        <a:buNone/>
                      </a:pPr>
                      <a:r>
                        <a:rPr lang="en-US" sz="1200" dirty="0">
                          <a:solidFill>
                            <a:srgbClr val="1A2B3C"/>
                          </a:solidFill>
                          <a:latin typeface="Calibri" pitchFamily="34" charset="0"/>
                          <a:ea typeface="Calibri" pitchFamily="34" charset="-122"/>
                          <a:cs typeface="Calibri" pitchFamily="34" charset="-120"/>
                        </a:rPr>
                        <a:t>800K Reddit posts (14–16 subreddits)</a:t>
                      </a:r>
                      <a:endParaRPr lang="en-US" sz="1200" dirty="0">
                        <a:latin typeface="Calibri" charset="0"/>
                        <a:ea typeface="Calibri" charset="0"/>
                        <a:cs typeface="Calibri" charset="0"/>
                      </a:endParaRPr>
                    </a:p>
                  </a:txBody>
                  <a:tcPr>
                    <a:lnL w="6350" cap="flat" cmpd="sng" algn="ctr">
                      <a:solidFill>
                        <a:srgbClr val="C8DCE8"/>
                      </a:solidFill>
                      <a:prstDash val="solid"/>
                      <a:round/>
                      <a:headEnd type="none" w="med" len="med"/>
                      <a:tailEnd type="none" w="med" len="med"/>
                    </a:lnL>
                    <a:lnR w="6350" cap="flat" cmpd="sng" algn="ctr">
                      <a:solidFill>
                        <a:srgbClr val="C8DCE8"/>
                      </a:solidFill>
                      <a:prstDash val="solid"/>
                      <a:round/>
                      <a:headEnd type="none" w="med" len="med"/>
                      <a:tailEnd type="none" w="med" len="med"/>
                    </a:lnR>
                    <a:lnT w="6350" cap="flat" cmpd="sng" algn="ctr">
                      <a:solidFill>
                        <a:srgbClr val="C8DCE8"/>
                      </a:solidFill>
                      <a:prstDash val="solid"/>
                      <a:round/>
                      <a:headEnd type="none" w="med" len="med"/>
                      <a:tailEnd type="none" w="med" len="med"/>
                    </a:lnT>
                    <a:lnB w="6350" cap="flat" cmpd="sng" algn="ctr">
                      <a:solidFill>
                        <a:srgbClr val="C8DCE8"/>
                      </a:solidFill>
                      <a:prstDash val="solid"/>
                      <a:round/>
                      <a:headEnd type="none" w="med" len="med"/>
                      <a:tailEnd type="none" w="med" len="med"/>
                    </a:lnB>
                  </a:tcPr>
                </a:tc>
                <a:tc>
                  <a:txBody>
                    <a:bodyPr/>
                    <a:lstStyle/>
                    <a:p>
                      <a:pPr marL="0" indent="0" algn="ctr">
                        <a:buNone/>
                      </a:pPr>
                      <a:r>
                        <a:rPr lang="en-US" sz="1200" dirty="0">
                          <a:solidFill>
                            <a:srgbClr val="1A2B3C"/>
                          </a:solidFill>
                          <a:latin typeface="Calibri" pitchFamily="34" charset="0"/>
                          <a:ea typeface="Calibri" pitchFamily="34" charset="-122"/>
                          <a:cs typeface="Calibri" pitchFamily="34" charset="-120"/>
                        </a:rPr>
                        <a:t>25 patient questions</a:t>
                      </a:r>
                      <a:endParaRPr lang="en-US" sz="1200" dirty="0">
                        <a:latin typeface="Calibri" charset="0"/>
                        <a:ea typeface="Calibri" charset="0"/>
                        <a:cs typeface="Calibri" charset="0"/>
                      </a:endParaRPr>
                    </a:p>
                  </a:txBody>
                  <a:tcPr>
                    <a:lnL w="6350" cap="flat" cmpd="sng" algn="ctr">
                      <a:solidFill>
                        <a:srgbClr val="C8DCE8"/>
                      </a:solidFill>
                      <a:prstDash val="solid"/>
                      <a:round/>
                      <a:headEnd type="none" w="med" len="med"/>
                      <a:tailEnd type="none" w="med" len="med"/>
                    </a:lnL>
                    <a:lnR w="6350" cap="flat" cmpd="sng" algn="ctr">
                      <a:solidFill>
                        <a:srgbClr val="C8DCE8"/>
                      </a:solidFill>
                      <a:prstDash val="solid"/>
                      <a:round/>
                      <a:headEnd type="none" w="med" len="med"/>
                      <a:tailEnd type="none" w="med" len="med"/>
                    </a:lnR>
                    <a:lnT w="6350" cap="flat" cmpd="sng" algn="ctr">
                      <a:solidFill>
                        <a:srgbClr val="C8DCE8"/>
                      </a:solidFill>
                      <a:prstDash val="solid"/>
                      <a:round/>
                      <a:headEnd type="none" w="med" len="med"/>
                      <a:tailEnd type="none" w="med" len="med"/>
                    </a:lnT>
                    <a:lnB w="6350" cap="flat" cmpd="sng" algn="ctr">
                      <a:solidFill>
                        <a:srgbClr val="C8DCE8"/>
                      </a:solidFill>
                      <a:prstDash val="solid"/>
                      <a:round/>
                      <a:headEnd type="none" w="med" len="med"/>
                      <a:tailEnd type="none" w="med" len="med"/>
                    </a:lnB>
                  </a:tcPr>
                </a:tc>
                <a:extLst>
                  <a:ext uri="{0D108BD9-81ED-4DB2-BD59-A6C34878D82A}">
                    <a16:rowId xmlns:a16="http://schemas.microsoft.com/office/drawing/2014/main" val="10001"/>
                  </a:ext>
                </a:extLst>
              </a:tr>
              <a:tr h="457200">
                <a:tc>
                  <a:txBody>
                    <a:bodyPr/>
                    <a:lstStyle/>
                    <a:p>
                      <a:pPr marL="0" indent="0" algn="ctr">
                        <a:buNone/>
                      </a:pPr>
                      <a:r>
                        <a:rPr lang="en-US" sz="1200" dirty="0">
                          <a:solidFill>
                            <a:srgbClr val="1A2B3C"/>
                          </a:solidFill>
                          <a:latin typeface="Calibri" pitchFamily="34" charset="0"/>
                          <a:ea typeface="Calibri" pitchFamily="34" charset="-122"/>
                          <a:cs typeface="Calibri" pitchFamily="34" charset="-120"/>
                        </a:rPr>
                        <a:t>Knowledge Base</a:t>
                      </a:r>
                      <a:endParaRPr lang="en-US" sz="1200" dirty="0">
                        <a:latin typeface="Calibri" charset="0"/>
                        <a:ea typeface="Calibri" charset="0"/>
                        <a:cs typeface="Calibri" charset="0"/>
                      </a:endParaRPr>
                    </a:p>
                  </a:txBody>
                  <a:tcPr>
                    <a:lnL w="6350" cap="flat" cmpd="sng" algn="ctr">
                      <a:solidFill>
                        <a:srgbClr val="C8DCE8"/>
                      </a:solidFill>
                      <a:prstDash val="solid"/>
                      <a:round/>
                      <a:headEnd type="none" w="med" len="med"/>
                      <a:tailEnd type="none" w="med" len="med"/>
                    </a:lnL>
                    <a:lnR w="6350" cap="flat" cmpd="sng" algn="ctr">
                      <a:solidFill>
                        <a:srgbClr val="C8DCE8"/>
                      </a:solidFill>
                      <a:prstDash val="solid"/>
                      <a:round/>
                      <a:headEnd type="none" w="med" len="med"/>
                      <a:tailEnd type="none" w="med" len="med"/>
                    </a:lnR>
                    <a:lnT w="6350" cap="flat" cmpd="sng" algn="ctr">
                      <a:solidFill>
                        <a:srgbClr val="C8DCE8"/>
                      </a:solidFill>
                      <a:prstDash val="solid"/>
                      <a:round/>
                      <a:headEnd type="none" w="med" len="med"/>
                      <a:tailEnd type="none" w="med" len="med"/>
                    </a:lnT>
                    <a:lnB w="6350" cap="flat" cmpd="sng" algn="ctr">
                      <a:solidFill>
                        <a:srgbClr val="C8DCE8"/>
                      </a:solidFill>
                      <a:prstDash val="solid"/>
                      <a:round/>
                      <a:headEnd type="none" w="med" len="med"/>
                      <a:tailEnd type="none" w="med" len="med"/>
                    </a:lnB>
                  </a:tcPr>
                </a:tc>
                <a:tc>
                  <a:txBody>
                    <a:bodyPr/>
                    <a:lstStyle/>
                    <a:p>
                      <a:pPr marL="0" indent="0" algn="ctr">
                        <a:buNone/>
                      </a:pPr>
                      <a:r>
                        <a:rPr lang="en-US" sz="1200" dirty="0">
                          <a:solidFill>
                            <a:srgbClr val="1A2B3C"/>
                          </a:solidFill>
                          <a:latin typeface="Calibri" pitchFamily="34" charset="0"/>
                          <a:ea typeface="Calibri" pitchFamily="34" charset="-122"/>
                          <a:cs typeface="Calibri" pitchFamily="34" charset="-120"/>
                        </a:rPr>
                        <a:t>1,200 labeled posts (κ=0.85)</a:t>
                      </a:r>
                      <a:endParaRPr lang="en-US" sz="1200" dirty="0">
                        <a:latin typeface="Calibri" charset="0"/>
                        <a:ea typeface="Calibri" charset="0"/>
                        <a:cs typeface="Calibri" charset="0"/>
                      </a:endParaRPr>
                    </a:p>
                  </a:txBody>
                  <a:tcPr>
                    <a:lnL w="6350" cap="flat" cmpd="sng" algn="ctr">
                      <a:solidFill>
                        <a:srgbClr val="C8DCE8"/>
                      </a:solidFill>
                      <a:prstDash val="solid"/>
                      <a:round/>
                      <a:headEnd type="none" w="med" len="med"/>
                      <a:tailEnd type="none" w="med" len="med"/>
                    </a:lnL>
                    <a:lnR w="6350" cap="flat" cmpd="sng" algn="ctr">
                      <a:solidFill>
                        <a:srgbClr val="C8DCE8"/>
                      </a:solidFill>
                      <a:prstDash val="solid"/>
                      <a:round/>
                      <a:headEnd type="none" w="med" len="med"/>
                      <a:tailEnd type="none" w="med" len="med"/>
                    </a:lnR>
                    <a:lnT w="6350" cap="flat" cmpd="sng" algn="ctr">
                      <a:solidFill>
                        <a:srgbClr val="C8DCE8"/>
                      </a:solidFill>
                      <a:prstDash val="solid"/>
                      <a:round/>
                      <a:headEnd type="none" w="med" len="med"/>
                      <a:tailEnd type="none" w="med" len="med"/>
                    </a:lnT>
                    <a:lnB w="6350" cap="flat" cmpd="sng" algn="ctr">
                      <a:solidFill>
                        <a:srgbClr val="C8DCE8"/>
                      </a:solidFill>
                      <a:prstDash val="solid"/>
                      <a:round/>
                      <a:headEnd type="none" w="med" len="med"/>
                      <a:tailEnd type="none" w="med" len="med"/>
                    </a:lnB>
                  </a:tcPr>
                </a:tc>
                <a:tc>
                  <a:txBody>
                    <a:bodyPr/>
                    <a:lstStyle/>
                    <a:p>
                      <a:pPr marL="0" indent="0" algn="ctr">
                        <a:buNone/>
                      </a:pPr>
                      <a:r>
                        <a:rPr lang="en-US" sz="1200" dirty="0">
                          <a:solidFill>
                            <a:srgbClr val="1A2B3C"/>
                          </a:solidFill>
                          <a:latin typeface="Calibri" pitchFamily="34" charset="0"/>
                          <a:ea typeface="Calibri" pitchFamily="34" charset="-122"/>
                          <a:cs typeface="Calibri" pitchFamily="34" charset="-120"/>
                        </a:rPr>
                        <a:t>800 medical docs (2.27M chars)</a:t>
                      </a:r>
                      <a:endParaRPr lang="en-US" sz="1200" dirty="0">
                        <a:latin typeface="Calibri" charset="0"/>
                        <a:ea typeface="Calibri" charset="0"/>
                        <a:cs typeface="Calibri" charset="0"/>
                      </a:endParaRPr>
                    </a:p>
                  </a:txBody>
                  <a:tcPr>
                    <a:lnL w="6350" cap="flat" cmpd="sng" algn="ctr">
                      <a:solidFill>
                        <a:srgbClr val="C8DCE8"/>
                      </a:solidFill>
                      <a:prstDash val="solid"/>
                      <a:round/>
                      <a:headEnd type="none" w="med" len="med"/>
                      <a:tailEnd type="none" w="med" len="med"/>
                    </a:lnL>
                    <a:lnR w="6350" cap="flat" cmpd="sng" algn="ctr">
                      <a:solidFill>
                        <a:srgbClr val="C8DCE8"/>
                      </a:solidFill>
                      <a:prstDash val="solid"/>
                      <a:round/>
                      <a:headEnd type="none" w="med" len="med"/>
                      <a:tailEnd type="none" w="med" len="med"/>
                    </a:lnR>
                    <a:lnT w="6350" cap="flat" cmpd="sng" algn="ctr">
                      <a:solidFill>
                        <a:srgbClr val="C8DCE8"/>
                      </a:solidFill>
                      <a:prstDash val="solid"/>
                      <a:round/>
                      <a:headEnd type="none" w="med" len="med"/>
                      <a:tailEnd type="none" w="med" len="med"/>
                    </a:lnT>
                    <a:lnB w="6350" cap="flat" cmpd="sng" algn="ctr">
                      <a:solidFill>
                        <a:srgbClr val="C8DCE8"/>
                      </a:solidFill>
                      <a:prstDash val="solid"/>
                      <a:round/>
                      <a:headEnd type="none" w="med" len="med"/>
                      <a:tailEnd type="none" w="med" len="med"/>
                    </a:lnB>
                  </a:tcPr>
                </a:tc>
                <a:extLst>
                  <a:ext uri="{0D108BD9-81ED-4DB2-BD59-A6C34878D82A}">
                    <a16:rowId xmlns:a16="http://schemas.microsoft.com/office/drawing/2014/main" val="10002"/>
                  </a:ext>
                </a:extLst>
              </a:tr>
              <a:tr h="457200">
                <a:tc>
                  <a:txBody>
                    <a:bodyPr/>
                    <a:lstStyle/>
                    <a:p>
                      <a:pPr marL="0" indent="0" algn="ctr">
                        <a:buNone/>
                      </a:pPr>
                      <a:r>
                        <a:rPr lang="en-US" sz="1200" dirty="0">
                          <a:solidFill>
                            <a:srgbClr val="1A2B3C"/>
                          </a:solidFill>
                          <a:latin typeface="Calibri" pitchFamily="34" charset="0"/>
                          <a:ea typeface="Calibri" pitchFamily="34" charset="-122"/>
                          <a:cs typeface="Calibri" pitchFamily="34" charset="-120"/>
                        </a:rPr>
                        <a:t>Method</a:t>
                      </a:r>
                      <a:endParaRPr lang="en-US" sz="1200" dirty="0">
                        <a:latin typeface="Calibri" charset="0"/>
                        <a:ea typeface="Calibri" charset="0"/>
                        <a:cs typeface="Calibri" charset="0"/>
                      </a:endParaRPr>
                    </a:p>
                  </a:txBody>
                  <a:tcPr>
                    <a:lnL w="6350" cap="flat" cmpd="sng" algn="ctr">
                      <a:solidFill>
                        <a:srgbClr val="C8DCE8"/>
                      </a:solidFill>
                      <a:prstDash val="solid"/>
                      <a:round/>
                      <a:headEnd type="none" w="med" len="med"/>
                      <a:tailEnd type="none" w="med" len="med"/>
                    </a:lnL>
                    <a:lnR w="6350" cap="flat" cmpd="sng" algn="ctr">
                      <a:solidFill>
                        <a:srgbClr val="C8DCE8"/>
                      </a:solidFill>
                      <a:prstDash val="solid"/>
                      <a:round/>
                      <a:headEnd type="none" w="med" len="med"/>
                      <a:tailEnd type="none" w="med" len="med"/>
                    </a:lnR>
                    <a:lnT w="6350" cap="flat" cmpd="sng" algn="ctr">
                      <a:solidFill>
                        <a:srgbClr val="C8DCE8"/>
                      </a:solidFill>
                      <a:prstDash val="solid"/>
                      <a:round/>
                      <a:headEnd type="none" w="med" len="med"/>
                      <a:tailEnd type="none" w="med" len="med"/>
                    </a:lnT>
                    <a:lnB w="6350" cap="flat" cmpd="sng" algn="ctr">
                      <a:solidFill>
                        <a:srgbClr val="C8DCE8"/>
                      </a:solidFill>
                      <a:prstDash val="solid"/>
                      <a:round/>
                      <a:headEnd type="none" w="med" len="med"/>
                      <a:tailEnd type="none" w="med" len="med"/>
                    </a:lnB>
                  </a:tcPr>
                </a:tc>
                <a:tc>
                  <a:txBody>
                    <a:bodyPr/>
                    <a:lstStyle/>
                    <a:p>
                      <a:pPr marL="0" indent="0" algn="ctr">
                        <a:buNone/>
                      </a:pPr>
                      <a:r>
                        <a:rPr lang="en-US" sz="1200" dirty="0">
                          <a:solidFill>
                            <a:srgbClr val="1A2B3C"/>
                          </a:solidFill>
                          <a:latin typeface="Calibri" pitchFamily="34" charset="0"/>
                          <a:ea typeface="Calibri" pitchFamily="34" charset="-122"/>
                          <a:cs typeface="Calibri" pitchFamily="34" charset="-120"/>
                        </a:rPr>
                        <a:t>Supervised encoder classification</a:t>
                      </a:r>
                      <a:endParaRPr lang="en-US" sz="1200" dirty="0">
                        <a:latin typeface="Calibri" charset="0"/>
                        <a:ea typeface="Calibri" charset="0"/>
                        <a:cs typeface="Calibri" charset="0"/>
                      </a:endParaRPr>
                    </a:p>
                  </a:txBody>
                  <a:tcPr>
                    <a:lnL w="6350" cap="flat" cmpd="sng" algn="ctr">
                      <a:solidFill>
                        <a:srgbClr val="C8DCE8"/>
                      </a:solidFill>
                      <a:prstDash val="solid"/>
                      <a:round/>
                      <a:headEnd type="none" w="med" len="med"/>
                      <a:tailEnd type="none" w="med" len="med"/>
                    </a:lnL>
                    <a:lnR w="6350" cap="flat" cmpd="sng" algn="ctr">
                      <a:solidFill>
                        <a:srgbClr val="C8DCE8"/>
                      </a:solidFill>
                      <a:prstDash val="solid"/>
                      <a:round/>
                      <a:headEnd type="none" w="med" len="med"/>
                      <a:tailEnd type="none" w="med" len="med"/>
                    </a:lnR>
                    <a:lnT w="6350" cap="flat" cmpd="sng" algn="ctr">
                      <a:solidFill>
                        <a:srgbClr val="C8DCE8"/>
                      </a:solidFill>
                      <a:prstDash val="solid"/>
                      <a:round/>
                      <a:headEnd type="none" w="med" len="med"/>
                      <a:tailEnd type="none" w="med" len="med"/>
                    </a:lnT>
                    <a:lnB w="6350" cap="flat" cmpd="sng" algn="ctr">
                      <a:solidFill>
                        <a:srgbClr val="C8DCE8"/>
                      </a:solidFill>
                      <a:prstDash val="solid"/>
                      <a:round/>
                      <a:headEnd type="none" w="med" len="med"/>
                      <a:tailEnd type="none" w="med" len="med"/>
                    </a:lnB>
                  </a:tcPr>
                </a:tc>
                <a:tc>
                  <a:txBody>
                    <a:bodyPr/>
                    <a:lstStyle/>
                    <a:p>
                      <a:pPr marL="0" indent="0" algn="ctr">
                        <a:buNone/>
                      </a:pPr>
                      <a:r>
                        <a:rPr lang="en-US" sz="1200" dirty="0">
                          <a:solidFill>
                            <a:srgbClr val="1A2B3C"/>
                          </a:solidFill>
                          <a:latin typeface="Calibri" pitchFamily="34" charset="0"/>
                          <a:ea typeface="Calibri" pitchFamily="34" charset="-122"/>
                          <a:cs typeface="Calibri" pitchFamily="34" charset="-120"/>
                        </a:rPr>
                        <a:t>Retrieval + generation (RAG)</a:t>
                      </a:r>
                      <a:endParaRPr lang="en-US" sz="1200" dirty="0">
                        <a:latin typeface="Calibri" charset="0"/>
                        <a:ea typeface="Calibri" charset="0"/>
                        <a:cs typeface="Calibri" charset="0"/>
                      </a:endParaRPr>
                    </a:p>
                  </a:txBody>
                  <a:tcPr>
                    <a:lnL w="6350" cap="flat" cmpd="sng" algn="ctr">
                      <a:solidFill>
                        <a:srgbClr val="C8DCE8"/>
                      </a:solidFill>
                      <a:prstDash val="solid"/>
                      <a:round/>
                      <a:headEnd type="none" w="med" len="med"/>
                      <a:tailEnd type="none" w="med" len="med"/>
                    </a:lnL>
                    <a:lnR w="6350" cap="flat" cmpd="sng" algn="ctr">
                      <a:solidFill>
                        <a:srgbClr val="C8DCE8"/>
                      </a:solidFill>
                      <a:prstDash val="solid"/>
                      <a:round/>
                      <a:headEnd type="none" w="med" len="med"/>
                      <a:tailEnd type="none" w="med" len="med"/>
                    </a:lnR>
                    <a:lnT w="6350" cap="flat" cmpd="sng" algn="ctr">
                      <a:solidFill>
                        <a:srgbClr val="C8DCE8"/>
                      </a:solidFill>
                      <a:prstDash val="solid"/>
                      <a:round/>
                      <a:headEnd type="none" w="med" len="med"/>
                      <a:tailEnd type="none" w="med" len="med"/>
                    </a:lnT>
                    <a:lnB w="6350" cap="flat" cmpd="sng" algn="ctr">
                      <a:solidFill>
                        <a:srgbClr val="C8DCE8"/>
                      </a:solidFill>
                      <a:prstDash val="solid"/>
                      <a:round/>
                      <a:headEnd type="none" w="med" len="med"/>
                      <a:tailEnd type="none" w="med" len="med"/>
                    </a:lnB>
                  </a:tcPr>
                </a:tc>
                <a:extLst>
                  <a:ext uri="{0D108BD9-81ED-4DB2-BD59-A6C34878D82A}">
                    <a16:rowId xmlns:a16="http://schemas.microsoft.com/office/drawing/2014/main" val="10003"/>
                  </a:ext>
                </a:extLst>
              </a:tr>
              <a:tr h="457200">
                <a:tc>
                  <a:txBody>
                    <a:bodyPr/>
                    <a:lstStyle/>
                    <a:p>
                      <a:pPr marL="0" indent="0" algn="ctr">
                        <a:buNone/>
                      </a:pPr>
                      <a:r>
                        <a:rPr lang="en-US" sz="1200" dirty="0">
                          <a:solidFill>
                            <a:srgbClr val="1A2B3C"/>
                          </a:solidFill>
                          <a:latin typeface="Calibri" pitchFamily="34" charset="0"/>
                          <a:ea typeface="Calibri" pitchFamily="34" charset="-122"/>
                          <a:cs typeface="Calibri" pitchFamily="34" charset="-120"/>
                        </a:rPr>
                        <a:t>Core Model</a:t>
                      </a:r>
                      <a:endParaRPr lang="en-US" sz="1200" dirty="0">
                        <a:latin typeface="Calibri" charset="0"/>
                        <a:ea typeface="Calibri" charset="0"/>
                        <a:cs typeface="Calibri" charset="0"/>
                      </a:endParaRPr>
                    </a:p>
                  </a:txBody>
                  <a:tcPr>
                    <a:lnL w="6350" cap="flat" cmpd="sng" algn="ctr">
                      <a:solidFill>
                        <a:srgbClr val="C8DCE8"/>
                      </a:solidFill>
                      <a:prstDash val="solid"/>
                      <a:round/>
                      <a:headEnd type="none" w="med" len="med"/>
                      <a:tailEnd type="none" w="med" len="med"/>
                    </a:lnL>
                    <a:lnR w="6350" cap="flat" cmpd="sng" algn="ctr">
                      <a:solidFill>
                        <a:srgbClr val="C8DCE8"/>
                      </a:solidFill>
                      <a:prstDash val="solid"/>
                      <a:round/>
                      <a:headEnd type="none" w="med" len="med"/>
                      <a:tailEnd type="none" w="med" len="med"/>
                    </a:lnR>
                    <a:lnT w="6350" cap="flat" cmpd="sng" algn="ctr">
                      <a:solidFill>
                        <a:srgbClr val="C8DCE8"/>
                      </a:solidFill>
                      <a:prstDash val="solid"/>
                      <a:round/>
                      <a:headEnd type="none" w="med" len="med"/>
                      <a:tailEnd type="none" w="med" len="med"/>
                    </a:lnT>
                    <a:lnB w="6350" cap="flat" cmpd="sng" algn="ctr">
                      <a:solidFill>
                        <a:srgbClr val="C8DCE8"/>
                      </a:solidFill>
                      <a:prstDash val="solid"/>
                      <a:round/>
                      <a:headEnd type="none" w="med" len="med"/>
                      <a:tailEnd type="none" w="med" len="med"/>
                    </a:lnB>
                  </a:tcPr>
                </a:tc>
                <a:tc>
                  <a:txBody>
                    <a:bodyPr/>
                    <a:lstStyle/>
                    <a:p>
                      <a:pPr marL="0" indent="0" algn="ctr">
                        <a:buNone/>
                      </a:pPr>
                      <a:r>
                        <a:rPr lang="en-US" sz="1200" dirty="0">
                          <a:solidFill>
                            <a:srgbClr val="1A2B3C"/>
                          </a:solidFill>
                          <a:latin typeface="Calibri" pitchFamily="34" charset="0"/>
                          <a:ea typeface="Calibri" pitchFamily="34" charset="-122"/>
                          <a:cs typeface="Calibri" pitchFamily="34" charset="-120"/>
                        </a:rPr>
                        <a:t>RoBERTa-base (fine-tuned)</a:t>
                      </a:r>
                      <a:endParaRPr lang="en-US" sz="1200" dirty="0">
                        <a:latin typeface="Calibri" charset="0"/>
                        <a:ea typeface="Calibri" charset="0"/>
                        <a:cs typeface="Calibri" charset="0"/>
                      </a:endParaRPr>
                    </a:p>
                  </a:txBody>
                  <a:tcPr>
                    <a:lnL w="6350" cap="flat" cmpd="sng" algn="ctr">
                      <a:solidFill>
                        <a:srgbClr val="C8DCE8"/>
                      </a:solidFill>
                      <a:prstDash val="solid"/>
                      <a:round/>
                      <a:headEnd type="none" w="med" len="med"/>
                      <a:tailEnd type="none" w="med" len="med"/>
                    </a:lnL>
                    <a:lnR w="6350" cap="flat" cmpd="sng" algn="ctr">
                      <a:solidFill>
                        <a:srgbClr val="C8DCE8"/>
                      </a:solidFill>
                      <a:prstDash val="solid"/>
                      <a:round/>
                      <a:headEnd type="none" w="med" len="med"/>
                      <a:tailEnd type="none" w="med" len="med"/>
                    </a:lnR>
                    <a:lnT w="6350" cap="flat" cmpd="sng" algn="ctr">
                      <a:solidFill>
                        <a:srgbClr val="C8DCE8"/>
                      </a:solidFill>
                      <a:prstDash val="solid"/>
                      <a:round/>
                      <a:headEnd type="none" w="med" len="med"/>
                      <a:tailEnd type="none" w="med" len="med"/>
                    </a:lnT>
                    <a:lnB w="6350" cap="flat" cmpd="sng" algn="ctr">
                      <a:solidFill>
                        <a:srgbClr val="C8DCE8"/>
                      </a:solidFill>
                      <a:prstDash val="solid"/>
                      <a:round/>
                      <a:headEnd type="none" w="med" len="med"/>
                      <a:tailEnd type="none" w="med" len="med"/>
                    </a:lnB>
                  </a:tcPr>
                </a:tc>
                <a:tc>
                  <a:txBody>
                    <a:bodyPr/>
                    <a:lstStyle/>
                    <a:p>
                      <a:pPr marL="0" indent="0" algn="ctr">
                        <a:buNone/>
                      </a:pPr>
                      <a:r>
                        <a:rPr lang="en-US" sz="1200" dirty="0">
                          <a:solidFill>
                            <a:srgbClr val="1A2B3C"/>
                          </a:solidFill>
                          <a:latin typeface="Calibri" pitchFamily="34" charset="0"/>
                          <a:ea typeface="Calibri" pitchFamily="34" charset="-122"/>
                          <a:cs typeface="Calibri" pitchFamily="34" charset="-120"/>
                        </a:rPr>
                        <a:t>BGE embeddings + DeepSeek-R1:1.5b</a:t>
                      </a:r>
                      <a:endParaRPr lang="en-US" sz="1200" dirty="0">
                        <a:latin typeface="Calibri" charset="0"/>
                        <a:ea typeface="Calibri" charset="0"/>
                        <a:cs typeface="Calibri" charset="0"/>
                      </a:endParaRPr>
                    </a:p>
                  </a:txBody>
                  <a:tcPr>
                    <a:lnL w="6350" cap="flat" cmpd="sng" algn="ctr">
                      <a:solidFill>
                        <a:srgbClr val="C8DCE8"/>
                      </a:solidFill>
                      <a:prstDash val="solid"/>
                      <a:round/>
                      <a:headEnd type="none" w="med" len="med"/>
                      <a:tailEnd type="none" w="med" len="med"/>
                    </a:lnL>
                    <a:lnR w="6350" cap="flat" cmpd="sng" algn="ctr">
                      <a:solidFill>
                        <a:srgbClr val="C8DCE8"/>
                      </a:solidFill>
                      <a:prstDash val="solid"/>
                      <a:round/>
                      <a:headEnd type="none" w="med" len="med"/>
                      <a:tailEnd type="none" w="med" len="med"/>
                    </a:lnR>
                    <a:lnT w="6350" cap="flat" cmpd="sng" algn="ctr">
                      <a:solidFill>
                        <a:srgbClr val="C8DCE8"/>
                      </a:solidFill>
                      <a:prstDash val="solid"/>
                      <a:round/>
                      <a:headEnd type="none" w="med" len="med"/>
                      <a:tailEnd type="none" w="med" len="med"/>
                    </a:lnT>
                    <a:lnB w="6350" cap="flat" cmpd="sng" algn="ctr">
                      <a:solidFill>
                        <a:srgbClr val="C8DCE8"/>
                      </a:solidFill>
                      <a:prstDash val="solid"/>
                      <a:round/>
                      <a:headEnd type="none" w="med" len="med"/>
                      <a:tailEnd type="none" w="med" len="med"/>
                    </a:lnB>
                  </a:tcPr>
                </a:tc>
                <a:extLst>
                  <a:ext uri="{0D108BD9-81ED-4DB2-BD59-A6C34878D82A}">
                    <a16:rowId xmlns:a16="http://schemas.microsoft.com/office/drawing/2014/main" val="10004"/>
                  </a:ext>
                </a:extLst>
              </a:tr>
              <a:tr h="457200">
                <a:tc>
                  <a:txBody>
                    <a:bodyPr/>
                    <a:lstStyle/>
                    <a:p>
                      <a:pPr marL="0" indent="0" algn="ctr">
                        <a:buNone/>
                      </a:pPr>
                      <a:r>
                        <a:rPr lang="en-US" sz="1200" dirty="0">
                          <a:solidFill>
                            <a:srgbClr val="1A2B3C"/>
                          </a:solidFill>
                          <a:latin typeface="Calibri" pitchFamily="34" charset="0"/>
                          <a:ea typeface="Calibri" pitchFamily="34" charset="-122"/>
                          <a:cs typeface="Calibri" pitchFamily="34" charset="-120"/>
                        </a:rPr>
                        <a:t>Output</a:t>
                      </a:r>
                      <a:endParaRPr lang="en-US" sz="1200" dirty="0">
                        <a:latin typeface="Calibri" charset="0"/>
                        <a:ea typeface="Calibri" charset="0"/>
                        <a:cs typeface="Calibri" charset="0"/>
                      </a:endParaRPr>
                    </a:p>
                  </a:txBody>
                  <a:tcPr>
                    <a:lnL w="6350" cap="flat" cmpd="sng" algn="ctr">
                      <a:solidFill>
                        <a:srgbClr val="C8DCE8"/>
                      </a:solidFill>
                      <a:prstDash val="solid"/>
                      <a:round/>
                      <a:headEnd type="none" w="med" len="med"/>
                      <a:tailEnd type="none" w="med" len="med"/>
                    </a:lnL>
                    <a:lnR w="6350" cap="flat" cmpd="sng" algn="ctr">
                      <a:solidFill>
                        <a:srgbClr val="C8DCE8"/>
                      </a:solidFill>
                      <a:prstDash val="solid"/>
                      <a:round/>
                      <a:headEnd type="none" w="med" len="med"/>
                      <a:tailEnd type="none" w="med" len="med"/>
                    </a:lnR>
                    <a:lnT w="6350" cap="flat" cmpd="sng" algn="ctr">
                      <a:solidFill>
                        <a:srgbClr val="C8DCE8"/>
                      </a:solidFill>
                      <a:prstDash val="solid"/>
                      <a:round/>
                      <a:headEnd type="none" w="med" len="med"/>
                      <a:tailEnd type="none" w="med" len="med"/>
                    </a:lnT>
                    <a:lnB w="6350" cap="flat" cmpd="sng" algn="ctr">
                      <a:solidFill>
                        <a:srgbClr val="C8DCE8"/>
                      </a:solidFill>
                      <a:prstDash val="solid"/>
                      <a:round/>
                      <a:headEnd type="none" w="med" len="med"/>
                      <a:tailEnd type="none" w="med" len="med"/>
                    </a:lnB>
                  </a:tcPr>
                </a:tc>
                <a:tc>
                  <a:txBody>
                    <a:bodyPr/>
                    <a:lstStyle/>
                    <a:p>
                      <a:pPr marL="0" indent="0" algn="ctr">
                        <a:buNone/>
                      </a:pPr>
                      <a:r>
                        <a:rPr lang="en-US" sz="1200" dirty="0">
                          <a:solidFill>
                            <a:srgbClr val="1A2B3C"/>
                          </a:solidFill>
                          <a:latin typeface="Calibri" pitchFamily="34" charset="0"/>
                          <a:ea typeface="Calibri" pitchFamily="34" charset="-122"/>
                          <a:cs typeface="Calibri" pitchFamily="34" charset="-120"/>
                        </a:rPr>
                        <a:t>Binary shortage signals</a:t>
                      </a:r>
                      <a:endParaRPr lang="en-US" sz="1200" dirty="0">
                        <a:latin typeface="Calibri" charset="0"/>
                        <a:ea typeface="Calibri" charset="0"/>
                        <a:cs typeface="Calibri" charset="0"/>
                      </a:endParaRPr>
                    </a:p>
                  </a:txBody>
                  <a:tcPr>
                    <a:lnL w="6350" cap="flat" cmpd="sng" algn="ctr">
                      <a:solidFill>
                        <a:srgbClr val="C8DCE8"/>
                      </a:solidFill>
                      <a:prstDash val="solid"/>
                      <a:round/>
                      <a:headEnd type="none" w="med" len="med"/>
                      <a:tailEnd type="none" w="med" len="med"/>
                    </a:lnL>
                    <a:lnR w="6350" cap="flat" cmpd="sng" algn="ctr">
                      <a:solidFill>
                        <a:srgbClr val="C8DCE8"/>
                      </a:solidFill>
                      <a:prstDash val="solid"/>
                      <a:round/>
                      <a:headEnd type="none" w="med" len="med"/>
                      <a:tailEnd type="none" w="med" len="med"/>
                    </a:lnR>
                    <a:lnT w="6350" cap="flat" cmpd="sng" algn="ctr">
                      <a:solidFill>
                        <a:srgbClr val="C8DCE8"/>
                      </a:solidFill>
                      <a:prstDash val="solid"/>
                      <a:round/>
                      <a:headEnd type="none" w="med" len="med"/>
                      <a:tailEnd type="none" w="med" len="med"/>
                    </a:lnT>
                    <a:lnB w="6350" cap="flat" cmpd="sng" algn="ctr">
                      <a:solidFill>
                        <a:srgbClr val="C8DCE8"/>
                      </a:solidFill>
                      <a:prstDash val="solid"/>
                      <a:round/>
                      <a:headEnd type="none" w="med" len="med"/>
                      <a:tailEnd type="none" w="med" len="med"/>
                    </a:lnB>
                  </a:tcPr>
                </a:tc>
                <a:tc>
                  <a:txBody>
                    <a:bodyPr/>
                    <a:lstStyle/>
                    <a:p>
                      <a:pPr marL="0" indent="0" algn="ctr">
                        <a:buNone/>
                      </a:pPr>
                      <a:r>
                        <a:rPr lang="en-US" sz="1200" dirty="0">
                          <a:solidFill>
                            <a:srgbClr val="1A2B3C"/>
                          </a:solidFill>
                          <a:latin typeface="Calibri" pitchFamily="34" charset="0"/>
                          <a:ea typeface="Calibri" pitchFamily="34" charset="-122"/>
                          <a:cs typeface="Calibri" pitchFamily="34" charset="-120"/>
                        </a:rPr>
                        <a:t>Natural language answers</a:t>
                      </a:r>
                      <a:endParaRPr lang="en-US" sz="1200" dirty="0">
                        <a:latin typeface="Calibri" charset="0"/>
                        <a:ea typeface="Calibri" charset="0"/>
                        <a:cs typeface="Calibri" charset="0"/>
                      </a:endParaRPr>
                    </a:p>
                  </a:txBody>
                  <a:tcPr>
                    <a:lnL w="6350" cap="flat" cmpd="sng" algn="ctr">
                      <a:solidFill>
                        <a:srgbClr val="C8DCE8"/>
                      </a:solidFill>
                      <a:prstDash val="solid"/>
                      <a:round/>
                      <a:headEnd type="none" w="med" len="med"/>
                      <a:tailEnd type="none" w="med" len="med"/>
                    </a:lnL>
                    <a:lnR w="6350" cap="flat" cmpd="sng" algn="ctr">
                      <a:solidFill>
                        <a:srgbClr val="C8DCE8"/>
                      </a:solidFill>
                      <a:prstDash val="solid"/>
                      <a:round/>
                      <a:headEnd type="none" w="med" len="med"/>
                      <a:tailEnd type="none" w="med" len="med"/>
                    </a:lnR>
                    <a:lnT w="6350" cap="flat" cmpd="sng" algn="ctr">
                      <a:solidFill>
                        <a:srgbClr val="C8DCE8"/>
                      </a:solidFill>
                      <a:prstDash val="solid"/>
                      <a:round/>
                      <a:headEnd type="none" w="med" len="med"/>
                      <a:tailEnd type="none" w="med" len="med"/>
                    </a:lnT>
                    <a:lnB w="6350" cap="flat" cmpd="sng" algn="ctr">
                      <a:solidFill>
                        <a:srgbClr val="C8DCE8"/>
                      </a:solidFill>
                      <a:prstDash val="solid"/>
                      <a:round/>
                      <a:headEnd type="none" w="med" len="med"/>
                      <a:tailEnd type="none" w="med" len="med"/>
                    </a:lnB>
                  </a:tcPr>
                </a:tc>
                <a:extLst>
                  <a:ext uri="{0D108BD9-81ED-4DB2-BD59-A6C34878D82A}">
                    <a16:rowId xmlns:a16="http://schemas.microsoft.com/office/drawing/2014/main" val="10005"/>
                  </a:ext>
                </a:extLst>
              </a:tr>
              <a:tr h="457200">
                <a:tc>
                  <a:txBody>
                    <a:bodyPr/>
                    <a:lstStyle/>
                    <a:p>
                      <a:pPr marL="0" indent="0" algn="ctr">
                        <a:buNone/>
                      </a:pPr>
                      <a:r>
                        <a:rPr lang="en-US" sz="1200" dirty="0">
                          <a:solidFill>
                            <a:srgbClr val="1A2B3C"/>
                          </a:solidFill>
                          <a:latin typeface="Calibri" pitchFamily="34" charset="0"/>
                          <a:ea typeface="Calibri" pitchFamily="34" charset="-122"/>
                          <a:cs typeface="Calibri" pitchFamily="34" charset="-120"/>
                        </a:rPr>
                        <a:t>Evaluation</a:t>
                      </a:r>
                      <a:endParaRPr lang="en-US" sz="1200" dirty="0">
                        <a:latin typeface="Calibri" charset="0"/>
                        <a:ea typeface="Calibri" charset="0"/>
                        <a:cs typeface="Calibri" charset="0"/>
                      </a:endParaRPr>
                    </a:p>
                  </a:txBody>
                  <a:tcPr>
                    <a:lnL w="6350" cap="flat" cmpd="sng" algn="ctr">
                      <a:solidFill>
                        <a:srgbClr val="C8DCE8"/>
                      </a:solidFill>
                      <a:prstDash val="solid"/>
                      <a:round/>
                      <a:headEnd type="none" w="med" len="med"/>
                      <a:tailEnd type="none" w="med" len="med"/>
                    </a:lnL>
                    <a:lnR w="6350" cap="flat" cmpd="sng" algn="ctr">
                      <a:solidFill>
                        <a:srgbClr val="C8DCE8"/>
                      </a:solidFill>
                      <a:prstDash val="solid"/>
                      <a:round/>
                      <a:headEnd type="none" w="med" len="med"/>
                      <a:tailEnd type="none" w="med" len="med"/>
                    </a:lnR>
                    <a:lnT w="6350" cap="flat" cmpd="sng" algn="ctr">
                      <a:solidFill>
                        <a:srgbClr val="C8DCE8"/>
                      </a:solidFill>
                      <a:prstDash val="solid"/>
                      <a:round/>
                      <a:headEnd type="none" w="med" len="med"/>
                      <a:tailEnd type="none" w="med" len="med"/>
                    </a:lnT>
                    <a:lnB w="6350" cap="flat" cmpd="sng" algn="ctr">
                      <a:solidFill>
                        <a:srgbClr val="C8DCE8"/>
                      </a:solidFill>
                      <a:prstDash val="solid"/>
                      <a:round/>
                      <a:headEnd type="none" w="med" len="med"/>
                      <a:tailEnd type="none" w="med" len="med"/>
                    </a:lnB>
                  </a:tcPr>
                </a:tc>
                <a:tc>
                  <a:txBody>
                    <a:bodyPr/>
                    <a:lstStyle/>
                    <a:p>
                      <a:pPr marL="0" indent="0" algn="ctr">
                        <a:buNone/>
                      </a:pPr>
                      <a:r>
                        <a:rPr lang="en-US" sz="1200" dirty="0">
                          <a:solidFill>
                            <a:srgbClr val="1A2B3C"/>
                          </a:solidFill>
                          <a:latin typeface="Calibri" pitchFamily="34" charset="0"/>
                          <a:ea typeface="Calibri" pitchFamily="34" charset="-122"/>
                          <a:cs typeface="Calibri" pitchFamily="34" charset="-120"/>
                        </a:rPr>
                        <a:t>F1 = 0.87 (shortage class)</a:t>
                      </a:r>
                      <a:endParaRPr lang="en-US" sz="1200" dirty="0">
                        <a:latin typeface="Calibri" charset="0"/>
                        <a:ea typeface="Calibri" charset="0"/>
                        <a:cs typeface="Calibri" charset="0"/>
                      </a:endParaRPr>
                    </a:p>
                  </a:txBody>
                  <a:tcPr>
                    <a:lnL w="6350" cap="flat" cmpd="sng" algn="ctr">
                      <a:solidFill>
                        <a:srgbClr val="C8DCE8"/>
                      </a:solidFill>
                      <a:prstDash val="solid"/>
                      <a:round/>
                      <a:headEnd type="none" w="med" len="med"/>
                      <a:tailEnd type="none" w="med" len="med"/>
                    </a:lnL>
                    <a:lnR w="6350" cap="flat" cmpd="sng" algn="ctr">
                      <a:solidFill>
                        <a:srgbClr val="C8DCE8"/>
                      </a:solidFill>
                      <a:prstDash val="solid"/>
                      <a:round/>
                      <a:headEnd type="none" w="med" len="med"/>
                      <a:tailEnd type="none" w="med" len="med"/>
                    </a:lnR>
                    <a:lnT w="6350" cap="flat" cmpd="sng" algn="ctr">
                      <a:solidFill>
                        <a:srgbClr val="C8DCE8"/>
                      </a:solidFill>
                      <a:prstDash val="solid"/>
                      <a:round/>
                      <a:headEnd type="none" w="med" len="med"/>
                      <a:tailEnd type="none" w="med" len="med"/>
                    </a:lnT>
                    <a:lnB w="6350" cap="flat" cmpd="sng" algn="ctr">
                      <a:solidFill>
                        <a:srgbClr val="C8DCE8"/>
                      </a:solidFill>
                      <a:prstDash val="solid"/>
                      <a:round/>
                      <a:headEnd type="none" w="med" len="med"/>
                      <a:tailEnd type="none" w="med" len="med"/>
                    </a:lnB>
                  </a:tcPr>
                </a:tc>
                <a:tc>
                  <a:txBody>
                    <a:bodyPr/>
                    <a:lstStyle/>
                    <a:p>
                      <a:pPr marL="0" indent="0" algn="ctr">
                        <a:buNone/>
                      </a:pPr>
                      <a:r>
                        <a:rPr lang="en-US" sz="1200" dirty="0">
                          <a:solidFill>
                            <a:srgbClr val="1A2B3C"/>
                          </a:solidFill>
                          <a:latin typeface="Calibri" pitchFamily="34" charset="0"/>
                          <a:ea typeface="Calibri" pitchFamily="34" charset="-122"/>
                          <a:cs typeface="Calibri" pitchFamily="34" charset="-120"/>
                        </a:rPr>
                        <a:t>Physician 5-pt rating: 4.36/5</a:t>
                      </a:r>
                      <a:endParaRPr lang="en-US" sz="1200" dirty="0">
                        <a:latin typeface="Calibri" charset="0"/>
                        <a:ea typeface="Calibri" charset="0"/>
                        <a:cs typeface="Calibri" charset="0"/>
                      </a:endParaRPr>
                    </a:p>
                  </a:txBody>
                  <a:tcPr>
                    <a:lnL w="6350" cap="flat" cmpd="sng" algn="ctr">
                      <a:solidFill>
                        <a:srgbClr val="C8DCE8"/>
                      </a:solidFill>
                      <a:prstDash val="solid"/>
                      <a:round/>
                      <a:headEnd type="none" w="med" len="med"/>
                      <a:tailEnd type="none" w="med" len="med"/>
                    </a:lnL>
                    <a:lnR w="6350" cap="flat" cmpd="sng" algn="ctr">
                      <a:solidFill>
                        <a:srgbClr val="C8DCE8"/>
                      </a:solidFill>
                      <a:prstDash val="solid"/>
                      <a:round/>
                      <a:headEnd type="none" w="med" len="med"/>
                      <a:tailEnd type="none" w="med" len="med"/>
                    </a:lnR>
                    <a:lnT w="6350" cap="flat" cmpd="sng" algn="ctr">
                      <a:solidFill>
                        <a:srgbClr val="C8DCE8"/>
                      </a:solidFill>
                      <a:prstDash val="solid"/>
                      <a:round/>
                      <a:headEnd type="none" w="med" len="med"/>
                      <a:tailEnd type="none" w="med" len="med"/>
                    </a:lnT>
                    <a:lnB w="6350" cap="flat" cmpd="sng" algn="ctr">
                      <a:solidFill>
                        <a:srgbClr val="C8DCE8"/>
                      </a:solidFill>
                      <a:prstDash val="solid"/>
                      <a:round/>
                      <a:headEnd type="none" w="med" len="med"/>
                      <a:tailEnd type="none" w="med" len="med"/>
                    </a:lnB>
                  </a:tcPr>
                </a:tc>
                <a:extLst>
                  <a:ext uri="{0D108BD9-81ED-4DB2-BD59-A6C34878D82A}">
                    <a16:rowId xmlns:a16="http://schemas.microsoft.com/office/drawing/2014/main" val="10006"/>
                  </a:ext>
                </a:extLst>
              </a:tr>
              <a:tr h="457200">
                <a:tc>
                  <a:txBody>
                    <a:bodyPr/>
                    <a:lstStyle/>
                    <a:p>
                      <a:pPr marL="0" indent="0" algn="ctr">
                        <a:buNone/>
                      </a:pPr>
                      <a:r>
                        <a:rPr lang="en-US" sz="1200" dirty="0">
                          <a:solidFill>
                            <a:srgbClr val="1A2B3C"/>
                          </a:solidFill>
                          <a:latin typeface="Calibri" pitchFamily="34" charset="0"/>
                          <a:ea typeface="Calibri" pitchFamily="34" charset="-122"/>
                          <a:cs typeface="Calibri" pitchFamily="34" charset="-120"/>
                        </a:rPr>
                        <a:t>Downstream Use</a:t>
                      </a:r>
                      <a:endParaRPr lang="en-US" sz="1200" dirty="0">
                        <a:latin typeface="Calibri" charset="0"/>
                        <a:ea typeface="Calibri" charset="0"/>
                        <a:cs typeface="Calibri" charset="0"/>
                      </a:endParaRPr>
                    </a:p>
                  </a:txBody>
                  <a:tcPr>
                    <a:lnL w="6350" cap="flat" cmpd="sng" algn="ctr">
                      <a:solidFill>
                        <a:srgbClr val="C8DCE8"/>
                      </a:solidFill>
                      <a:prstDash val="solid"/>
                      <a:round/>
                      <a:headEnd type="none" w="med" len="med"/>
                      <a:tailEnd type="none" w="med" len="med"/>
                    </a:lnL>
                    <a:lnR w="6350" cap="flat" cmpd="sng" algn="ctr">
                      <a:solidFill>
                        <a:srgbClr val="C8DCE8"/>
                      </a:solidFill>
                      <a:prstDash val="solid"/>
                      <a:round/>
                      <a:headEnd type="none" w="med" len="med"/>
                      <a:tailEnd type="none" w="med" len="med"/>
                    </a:lnR>
                    <a:lnT w="6350" cap="flat" cmpd="sng" algn="ctr">
                      <a:solidFill>
                        <a:srgbClr val="C8DCE8"/>
                      </a:solidFill>
                      <a:prstDash val="solid"/>
                      <a:round/>
                      <a:headEnd type="none" w="med" len="med"/>
                      <a:tailEnd type="none" w="med" len="med"/>
                    </a:lnT>
                    <a:lnB w="6350" cap="flat" cmpd="sng" algn="ctr">
                      <a:solidFill>
                        <a:srgbClr val="C8DCE8"/>
                      </a:solidFill>
                      <a:prstDash val="solid"/>
                      <a:round/>
                      <a:headEnd type="none" w="med" len="med"/>
                      <a:tailEnd type="none" w="med" len="med"/>
                    </a:lnB>
                  </a:tcPr>
                </a:tc>
                <a:tc>
                  <a:txBody>
                    <a:bodyPr/>
                    <a:lstStyle/>
                    <a:p>
                      <a:pPr marL="0" indent="0" algn="ctr">
                        <a:buNone/>
                      </a:pPr>
                      <a:r>
                        <a:rPr lang="en-US" sz="1200" dirty="0">
                          <a:solidFill>
                            <a:srgbClr val="1A2B3C"/>
                          </a:solidFill>
                          <a:latin typeface="Calibri" pitchFamily="34" charset="0"/>
                          <a:ea typeface="Calibri" pitchFamily="34" charset="-122"/>
                          <a:cs typeface="Calibri" pitchFamily="34" charset="-120"/>
                        </a:rPr>
                        <a:t>VAR model + GNN forecasting</a:t>
                      </a:r>
                      <a:endParaRPr lang="en-US" sz="1200" dirty="0">
                        <a:latin typeface="Calibri" charset="0"/>
                        <a:ea typeface="Calibri" charset="0"/>
                        <a:cs typeface="Calibri" charset="0"/>
                      </a:endParaRPr>
                    </a:p>
                  </a:txBody>
                  <a:tcPr>
                    <a:lnL w="6350" cap="flat" cmpd="sng" algn="ctr">
                      <a:solidFill>
                        <a:srgbClr val="C8DCE8"/>
                      </a:solidFill>
                      <a:prstDash val="solid"/>
                      <a:round/>
                      <a:headEnd type="none" w="med" len="med"/>
                      <a:tailEnd type="none" w="med" len="med"/>
                    </a:lnL>
                    <a:lnR w="6350" cap="flat" cmpd="sng" algn="ctr">
                      <a:solidFill>
                        <a:srgbClr val="C8DCE8"/>
                      </a:solidFill>
                      <a:prstDash val="solid"/>
                      <a:round/>
                      <a:headEnd type="none" w="med" len="med"/>
                      <a:tailEnd type="none" w="med" len="med"/>
                    </a:lnR>
                    <a:lnT w="6350" cap="flat" cmpd="sng" algn="ctr">
                      <a:solidFill>
                        <a:srgbClr val="C8DCE8"/>
                      </a:solidFill>
                      <a:prstDash val="solid"/>
                      <a:round/>
                      <a:headEnd type="none" w="med" len="med"/>
                      <a:tailEnd type="none" w="med" len="med"/>
                    </a:lnT>
                    <a:lnB w="6350" cap="flat" cmpd="sng" algn="ctr">
                      <a:solidFill>
                        <a:srgbClr val="C8DCE8"/>
                      </a:solidFill>
                      <a:prstDash val="solid"/>
                      <a:round/>
                      <a:headEnd type="none" w="med" len="med"/>
                      <a:tailEnd type="none" w="med" len="med"/>
                    </a:lnB>
                  </a:tcPr>
                </a:tc>
                <a:tc>
                  <a:txBody>
                    <a:bodyPr/>
                    <a:lstStyle/>
                    <a:p>
                      <a:pPr marL="0" indent="0" algn="ctr">
                        <a:buNone/>
                      </a:pPr>
                      <a:r>
                        <a:rPr lang="en-US" sz="1200" dirty="0">
                          <a:solidFill>
                            <a:srgbClr val="1A2B3C"/>
                          </a:solidFill>
                          <a:latin typeface="Calibri" pitchFamily="34" charset="0"/>
                          <a:ea typeface="Calibri" pitchFamily="34" charset="-122"/>
                          <a:cs typeface="Calibri" pitchFamily="34" charset="-120"/>
                        </a:rPr>
                        <a:t>Patient education &amp; physician support</a:t>
                      </a:r>
                      <a:r>
                        <a:rPr lang="zh-CN" altLang="en-US" sz="1200" dirty="0">
                          <a:solidFill>
                            <a:srgbClr val="1A2B3C"/>
                          </a:solidFill>
                          <a:latin typeface="Calibri" pitchFamily="34" charset="0"/>
                          <a:ea typeface="Calibri" pitchFamily="34" charset="-122"/>
                          <a:cs typeface="Calibri" pitchFamily="34" charset="-120"/>
                        </a:rPr>
                        <a:t> </a:t>
                      </a:r>
                      <a:r>
                        <a:rPr lang="en-US" altLang="zh-CN" sz="1200" dirty="0">
                          <a:solidFill>
                            <a:srgbClr val="1A2B3C"/>
                          </a:solidFill>
                          <a:latin typeface="Calibri" pitchFamily="34" charset="0"/>
                          <a:ea typeface="Calibri" pitchFamily="34" charset="-122"/>
                          <a:cs typeface="Calibri" pitchFamily="34" charset="-120"/>
                        </a:rPr>
                        <a:t>Application</a:t>
                      </a:r>
                      <a:r>
                        <a:rPr lang="zh-CN" altLang="en-US" sz="1200" dirty="0">
                          <a:solidFill>
                            <a:srgbClr val="1A2B3C"/>
                          </a:solidFill>
                          <a:latin typeface="Calibri" pitchFamily="34" charset="0"/>
                          <a:ea typeface="Calibri" pitchFamily="34" charset="-122"/>
                          <a:cs typeface="Calibri" pitchFamily="34" charset="-120"/>
                        </a:rPr>
                        <a:t> </a:t>
                      </a:r>
                      <a:endParaRPr lang="en-US" sz="1200" dirty="0">
                        <a:latin typeface="Calibri" charset="0"/>
                        <a:ea typeface="Calibri" charset="0"/>
                        <a:cs typeface="Calibri" charset="0"/>
                      </a:endParaRPr>
                    </a:p>
                  </a:txBody>
                  <a:tcPr>
                    <a:lnL w="6350" cap="flat" cmpd="sng" algn="ctr">
                      <a:solidFill>
                        <a:srgbClr val="C8DCE8"/>
                      </a:solidFill>
                      <a:prstDash val="solid"/>
                      <a:round/>
                      <a:headEnd type="none" w="med" len="med"/>
                      <a:tailEnd type="none" w="med" len="med"/>
                    </a:lnL>
                    <a:lnR w="6350" cap="flat" cmpd="sng" algn="ctr">
                      <a:solidFill>
                        <a:srgbClr val="C8DCE8"/>
                      </a:solidFill>
                      <a:prstDash val="solid"/>
                      <a:round/>
                      <a:headEnd type="none" w="med" len="med"/>
                      <a:tailEnd type="none" w="med" len="med"/>
                    </a:lnR>
                    <a:lnT w="6350" cap="flat" cmpd="sng" algn="ctr">
                      <a:solidFill>
                        <a:srgbClr val="C8DCE8"/>
                      </a:solidFill>
                      <a:prstDash val="solid"/>
                      <a:round/>
                      <a:headEnd type="none" w="med" len="med"/>
                      <a:tailEnd type="none" w="med" len="med"/>
                    </a:lnT>
                    <a:lnB w="6350" cap="flat" cmpd="sng" algn="ctr">
                      <a:solidFill>
                        <a:srgbClr val="C8DCE8"/>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66928"/>
          </a:xfrm>
          <a:prstGeom prst="rect">
            <a:avLst/>
          </a:prstGeom>
          <a:noFill/>
          <a:ln/>
        </p:spPr>
        <p:txBody>
          <a:bodyPr wrap="square" lIns="0" tIns="0" rIns="0" bIns="0" rtlCol="0" anchor="ctr"/>
          <a:lstStyle/>
          <a:p>
            <a:pPr marL="0" indent="0">
              <a:buNone/>
            </a:pPr>
            <a:r>
              <a:rPr lang="en-US" sz="2400" b="1" dirty="0">
                <a:solidFill>
                  <a:srgbClr val="0D2137"/>
                </a:solidFill>
                <a:latin typeface="Calibri" pitchFamily="34" charset="0"/>
                <a:ea typeface="Calibri" pitchFamily="34" charset="-122"/>
                <a:cs typeface="Calibri" pitchFamily="34" charset="-120"/>
              </a:rPr>
              <a:t>PART 1 — Drug Shortage Detection: Problem &amp; Motivation</a:t>
            </a:r>
            <a:endParaRPr lang="en-US" sz="2400" dirty="0"/>
          </a:p>
        </p:txBody>
      </p:sp>
      <p:sp>
        <p:nvSpPr>
          <p:cNvPr id="3" name="Shape 1"/>
          <p:cNvSpPr/>
          <p:nvPr/>
        </p:nvSpPr>
        <p:spPr>
          <a:xfrm>
            <a:off x="457200" y="795528"/>
            <a:ext cx="8229600" cy="0"/>
          </a:xfrm>
          <a:prstGeom prst="line">
            <a:avLst/>
          </a:prstGeom>
          <a:noFill/>
          <a:ln w="25400">
            <a:solidFill>
              <a:srgbClr val="028090"/>
            </a:solidFill>
            <a:prstDash val="solid"/>
          </a:ln>
        </p:spPr>
        <p:txBody>
          <a:bodyPr/>
          <a:lstStyle/>
          <a:p>
            <a:endParaRPr lang="en-CN"/>
          </a:p>
        </p:txBody>
      </p:sp>
      <p:sp>
        <p:nvSpPr>
          <p:cNvPr id="4" name="Shape 2"/>
          <p:cNvSpPr/>
          <p:nvPr/>
        </p:nvSpPr>
        <p:spPr>
          <a:xfrm>
            <a:off x="365760" y="932688"/>
            <a:ext cx="8412480" cy="1005840"/>
          </a:xfrm>
          <a:prstGeom prst="rect">
            <a:avLst/>
          </a:prstGeom>
          <a:solidFill>
            <a:srgbClr val="E8F4F8"/>
          </a:solidFill>
          <a:ln w="12700">
            <a:solidFill>
              <a:srgbClr val="D0E4EC"/>
            </a:solidFill>
            <a:prstDash val="solid"/>
          </a:ln>
          <a:effectLst>
            <a:outerShdw blurRad="76200" dist="25400" dir="8100000" algn="bl" rotWithShape="0">
              <a:srgbClr val="000000">
                <a:alpha val="12000"/>
              </a:srgbClr>
            </a:outerShdw>
          </a:effectLst>
        </p:spPr>
        <p:txBody>
          <a:bodyPr/>
          <a:lstStyle/>
          <a:p>
            <a:endParaRPr lang="en-CN"/>
          </a:p>
        </p:txBody>
      </p:sp>
      <p:sp>
        <p:nvSpPr>
          <p:cNvPr id="5" name="Text 3"/>
          <p:cNvSpPr/>
          <p:nvPr/>
        </p:nvSpPr>
        <p:spPr>
          <a:xfrm>
            <a:off x="548640" y="960120"/>
            <a:ext cx="8046720" cy="347472"/>
          </a:xfrm>
          <a:prstGeom prst="rect">
            <a:avLst/>
          </a:prstGeom>
          <a:noFill/>
          <a:ln/>
        </p:spPr>
        <p:txBody>
          <a:bodyPr wrap="square" rtlCol="0" anchor="ctr"/>
          <a:lstStyle/>
          <a:p>
            <a:pPr marL="0" indent="0">
              <a:buNone/>
            </a:pPr>
            <a:r>
              <a:rPr lang="en-US" b="1" dirty="0">
                <a:solidFill>
                  <a:srgbClr val="0D2137"/>
                </a:solidFill>
                <a:latin typeface="Calibri" pitchFamily="34" charset="0"/>
                <a:ea typeface="Calibri" pitchFamily="34" charset="-122"/>
                <a:cs typeface="Calibri" pitchFamily="34" charset="-120"/>
              </a:rPr>
              <a:t>Context: GLP-1 Receptor Agonist Shortages (2010–2025)</a:t>
            </a:r>
            <a:endParaRPr lang="en-US" dirty="0"/>
          </a:p>
        </p:txBody>
      </p:sp>
      <p:sp>
        <p:nvSpPr>
          <p:cNvPr id="6" name="Text 4"/>
          <p:cNvSpPr/>
          <p:nvPr/>
        </p:nvSpPr>
        <p:spPr>
          <a:xfrm>
            <a:off x="548640" y="1325880"/>
            <a:ext cx="8046720" cy="502920"/>
          </a:xfrm>
          <a:prstGeom prst="rect">
            <a:avLst/>
          </a:prstGeom>
          <a:noFill/>
          <a:ln/>
        </p:spPr>
        <p:txBody>
          <a:bodyPr wrap="square" rtlCol="0" anchor="ctr"/>
          <a:lstStyle/>
          <a:p>
            <a:pPr marL="0" indent="0">
              <a:buNone/>
            </a:pPr>
            <a:r>
              <a:rPr lang="en-US" sz="1400" dirty="0">
                <a:solidFill>
                  <a:srgbClr val="1A2B3C"/>
                </a:solidFill>
                <a:latin typeface="Calibri" pitchFamily="34" charset="0"/>
                <a:ea typeface="Calibri" pitchFamily="34" charset="-122"/>
                <a:cs typeface="Calibri" pitchFamily="34" charset="-120"/>
              </a:rPr>
              <a:t>Medications: Ozempic · Wegovy · Rybelsus · Victoza · Mounjaro · Zepbound  |  Affects patient access, treatment continuity &amp; medication switching decisions</a:t>
            </a:r>
            <a:endParaRPr lang="en-US" sz="1400" dirty="0"/>
          </a:p>
        </p:txBody>
      </p:sp>
      <p:sp>
        <p:nvSpPr>
          <p:cNvPr id="7" name="Shape 5"/>
          <p:cNvSpPr/>
          <p:nvPr/>
        </p:nvSpPr>
        <p:spPr>
          <a:xfrm>
            <a:off x="365760" y="2121408"/>
            <a:ext cx="1920240" cy="2697480"/>
          </a:xfrm>
          <a:prstGeom prst="rect">
            <a:avLst/>
          </a:prstGeom>
          <a:solidFill>
            <a:srgbClr val="F0F6FA"/>
          </a:solidFill>
          <a:ln w="12700">
            <a:solidFill>
              <a:srgbClr val="D0E4EC"/>
            </a:solidFill>
            <a:prstDash val="solid"/>
          </a:ln>
          <a:effectLst>
            <a:outerShdw blurRad="76200" dist="25400" dir="8100000" algn="bl" rotWithShape="0">
              <a:srgbClr val="000000">
                <a:alpha val="12000"/>
              </a:srgbClr>
            </a:outerShdw>
          </a:effectLst>
        </p:spPr>
        <p:txBody>
          <a:bodyPr/>
          <a:lstStyle/>
          <a:p>
            <a:endParaRPr lang="en-CN"/>
          </a:p>
        </p:txBody>
      </p:sp>
      <p:sp>
        <p:nvSpPr>
          <p:cNvPr id="8" name="Shape 6"/>
          <p:cNvSpPr/>
          <p:nvPr/>
        </p:nvSpPr>
        <p:spPr>
          <a:xfrm>
            <a:off x="365760" y="2121408"/>
            <a:ext cx="1920240" cy="384048"/>
          </a:xfrm>
          <a:prstGeom prst="rect">
            <a:avLst/>
          </a:prstGeom>
          <a:solidFill>
            <a:srgbClr val="028090"/>
          </a:solidFill>
          <a:ln w="12700">
            <a:solidFill>
              <a:srgbClr val="028090"/>
            </a:solidFill>
            <a:prstDash val="solid"/>
          </a:ln>
        </p:spPr>
        <p:txBody>
          <a:bodyPr/>
          <a:lstStyle/>
          <a:p>
            <a:endParaRPr lang="en-CN"/>
          </a:p>
        </p:txBody>
      </p:sp>
      <p:sp>
        <p:nvSpPr>
          <p:cNvPr id="9" name="Text 7"/>
          <p:cNvSpPr/>
          <p:nvPr/>
        </p:nvSpPr>
        <p:spPr>
          <a:xfrm>
            <a:off x="365760" y="2139696"/>
            <a:ext cx="1920240" cy="347472"/>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Traditional Data Gap</a:t>
            </a:r>
            <a:endParaRPr lang="en-US" sz="1600" dirty="0"/>
          </a:p>
        </p:txBody>
      </p:sp>
      <p:sp>
        <p:nvSpPr>
          <p:cNvPr id="10" name="Text 8"/>
          <p:cNvSpPr/>
          <p:nvPr/>
        </p:nvSpPr>
        <p:spPr>
          <a:xfrm>
            <a:off x="457200" y="2587752"/>
            <a:ext cx="1737360" cy="2103120"/>
          </a:xfrm>
          <a:prstGeom prst="rect">
            <a:avLst/>
          </a:prstGeom>
          <a:noFill/>
          <a:ln/>
        </p:spPr>
        <p:txBody>
          <a:bodyPr wrap="square" rtlCol="0" anchor="ctr"/>
          <a:lstStyle/>
          <a:p>
            <a:pPr marL="0" indent="0" algn="ctr">
              <a:buNone/>
            </a:pPr>
            <a:r>
              <a:rPr lang="en-US" sz="1400" dirty="0">
                <a:solidFill>
                  <a:srgbClr val="1A2B3C"/>
                </a:solidFill>
                <a:latin typeface="Calibri" pitchFamily="34" charset="0"/>
                <a:ea typeface="Calibri" pitchFamily="34" charset="-122"/>
                <a:cs typeface="Calibri" pitchFamily="34" charset="-120"/>
              </a:rPr>
              <a:t>FDA reports &amp; manufacturer announcements are lagging indicators (don't capture real-time information)</a:t>
            </a:r>
            <a:endParaRPr lang="en-US" sz="1400" dirty="0"/>
          </a:p>
        </p:txBody>
      </p:sp>
      <p:sp>
        <p:nvSpPr>
          <p:cNvPr id="11" name="Shape 9"/>
          <p:cNvSpPr/>
          <p:nvPr/>
        </p:nvSpPr>
        <p:spPr>
          <a:xfrm>
            <a:off x="2514600" y="2121408"/>
            <a:ext cx="1920240" cy="2697480"/>
          </a:xfrm>
          <a:prstGeom prst="rect">
            <a:avLst/>
          </a:prstGeom>
          <a:solidFill>
            <a:srgbClr val="F0F6FA"/>
          </a:solidFill>
          <a:ln w="12700">
            <a:solidFill>
              <a:srgbClr val="D0E4EC"/>
            </a:solidFill>
            <a:prstDash val="solid"/>
          </a:ln>
          <a:effectLst>
            <a:outerShdw blurRad="76200" dist="25400" dir="8100000" algn="bl" rotWithShape="0">
              <a:srgbClr val="000000">
                <a:alpha val="12000"/>
              </a:srgbClr>
            </a:outerShdw>
          </a:effectLst>
        </p:spPr>
        <p:txBody>
          <a:bodyPr/>
          <a:lstStyle/>
          <a:p>
            <a:endParaRPr lang="en-CN"/>
          </a:p>
        </p:txBody>
      </p:sp>
      <p:sp>
        <p:nvSpPr>
          <p:cNvPr id="12" name="Shape 10"/>
          <p:cNvSpPr/>
          <p:nvPr/>
        </p:nvSpPr>
        <p:spPr>
          <a:xfrm>
            <a:off x="2514600" y="2121408"/>
            <a:ext cx="1920240" cy="384048"/>
          </a:xfrm>
          <a:prstGeom prst="rect">
            <a:avLst/>
          </a:prstGeom>
          <a:solidFill>
            <a:srgbClr val="028090"/>
          </a:solidFill>
          <a:ln w="12700">
            <a:solidFill>
              <a:srgbClr val="028090"/>
            </a:solidFill>
            <a:prstDash val="solid"/>
          </a:ln>
        </p:spPr>
        <p:txBody>
          <a:bodyPr/>
          <a:lstStyle/>
          <a:p>
            <a:endParaRPr lang="en-CN"/>
          </a:p>
        </p:txBody>
      </p:sp>
      <p:sp>
        <p:nvSpPr>
          <p:cNvPr id="13" name="Text 11"/>
          <p:cNvSpPr/>
          <p:nvPr/>
        </p:nvSpPr>
        <p:spPr>
          <a:xfrm>
            <a:off x="2514600" y="2139696"/>
            <a:ext cx="1920240" cy="347472"/>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NLP Task Defined</a:t>
            </a:r>
            <a:endParaRPr lang="en-US" sz="1600" dirty="0"/>
          </a:p>
        </p:txBody>
      </p:sp>
      <p:sp>
        <p:nvSpPr>
          <p:cNvPr id="14" name="Text 12"/>
          <p:cNvSpPr/>
          <p:nvPr/>
        </p:nvSpPr>
        <p:spPr>
          <a:xfrm>
            <a:off x="2606040" y="2587752"/>
            <a:ext cx="1737360" cy="2103120"/>
          </a:xfrm>
          <a:prstGeom prst="rect">
            <a:avLst/>
          </a:prstGeom>
          <a:noFill/>
          <a:ln/>
        </p:spPr>
        <p:txBody>
          <a:bodyPr wrap="square" rtlCol="0" anchor="ctr"/>
          <a:lstStyle/>
          <a:p>
            <a:pPr marL="0" indent="0" algn="ctr">
              <a:buNone/>
            </a:pPr>
            <a:r>
              <a:rPr lang="en-US" sz="1400" dirty="0">
                <a:solidFill>
                  <a:srgbClr val="1A2B3C"/>
                </a:solidFill>
                <a:latin typeface="Calibri" pitchFamily="34" charset="0"/>
                <a:ea typeface="Calibri" pitchFamily="34" charset="-122"/>
                <a:cs typeface="Calibri" pitchFamily="34" charset="-120"/>
              </a:rPr>
              <a:t>Binary classification: given Reddit post → shortage-related (1) vs. non-shortage (0)</a:t>
            </a:r>
            <a:endParaRPr lang="en-US" sz="1400" dirty="0"/>
          </a:p>
        </p:txBody>
      </p:sp>
      <p:sp>
        <p:nvSpPr>
          <p:cNvPr id="15" name="Shape 13"/>
          <p:cNvSpPr/>
          <p:nvPr/>
        </p:nvSpPr>
        <p:spPr>
          <a:xfrm>
            <a:off x="4663440" y="2121408"/>
            <a:ext cx="1920240" cy="2697480"/>
          </a:xfrm>
          <a:prstGeom prst="rect">
            <a:avLst/>
          </a:prstGeom>
          <a:solidFill>
            <a:srgbClr val="F0F6FA"/>
          </a:solidFill>
          <a:ln w="12700">
            <a:solidFill>
              <a:srgbClr val="D0E4EC"/>
            </a:solidFill>
            <a:prstDash val="solid"/>
          </a:ln>
          <a:effectLst>
            <a:outerShdw blurRad="76200" dist="25400" dir="8100000" algn="bl" rotWithShape="0">
              <a:srgbClr val="000000">
                <a:alpha val="12000"/>
              </a:srgbClr>
            </a:outerShdw>
          </a:effectLst>
        </p:spPr>
        <p:txBody>
          <a:bodyPr/>
          <a:lstStyle/>
          <a:p>
            <a:endParaRPr lang="en-CN"/>
          </a:p>
        </p:txBody>
      </p:sp>
      <p:sp>
        <p:nvSpPr>
          <p:cNvPr id="16" name="Shape 14"/>
          <p:cNvSpPr/>
          <p:nvPr/>
        </p:nvSpPr>
        <p:spPr>
          <a:xfrm>
            <a:off x="4663440" y="2121408"/>
            <a:ext cx="1920240" cy="384048"/>
          </a:xfrm>
          <a:prstGeom prst="rect">
            <a:avLst/>
          </a:prstGeom>
          <a:solidFill>
            <a:srgbClr val="028090"/>
          </a:solidFill>
          <a:ln w="12700">
            <a:solidFill>
              <a:srgbClr val="028090"/>
            </a:solidFill>
            <a:prstDash val="solid"/>
          </a:ln>
        </p:spPr>
        <p:txBody>
          <a:bodyPr/>
          <a:lstStyle/>
          <a:p>
            <a:endParaRPr lang="en-CN"/>
          </a:p>
        </p:txBody>
      </p:sp>
      <p:sp>
        <p:nvSpPr>
          <p:cNvPr id="17" name="Text 15"/>
          <p:cNvSpPr/>
          <p:nvPr/>
        </p:nvSpPr>
        <p:spPr>
          <a:xfrm>
            <a:off x="4663440" y="2139696"/>
            <a:ext cx="1920240" cy="347472"/>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Key Challenges</a:t>
            </a:r>
            <a:endParaRPr lang="en-US" sz="1600" dirty="0"/>
          </a:p>
        </p:txBody>
      </p:sp>
      <p:sp>
        <p:nvSpPr>
          <p:cNvPr id="18" name="Text 16"/>
          <p:cNvSpPr/>
          <p:nvPr/>
        </p:nvSpPr>
        <p:spPr>
          <a:xfrm>
            <a:off x="4754880" y="2587752"/>
            <a:ext cx="1737360" cy="2103120"/>
          </a:xfrm>
          <a:prstGeom prst="rect">
            <a:avLst/>
          </a:prstGeom>
          <a:noFill/>
          <a:ln/>
        </p:spPr>
        <p:txBody>
          <a:bodyPr wrap="square" rtlCol="0" anchor="ctr"/>
          <a:lstStyle/>
          <a:p>
            <a:r>
              <a:rPr lang="en-US" sz="1400" dirty="0">
                <a:solidFill>
                  <a:srgbClr val="1A2B3C"/>
                </a:solidFill>
                <a:latin typeface="Calibri" pitchFamily="34" charset="0"/>
                <a:ea typeface="Calibri" pitchFamily="34" charset="-122"/>
                <a:cs typeface="Calibri" pitchFamily="34" charset="-120"/>
              </a:rPr>
              <a:t>· Noisy informal text </a:t>
            </a:r>
          </a:p>
          <a:p>
            <a:pPr marL="0" indent="0">
              <a:buNone/>
            </a:pPr>
            <a:r>
              <a:rPr lang="en-US" sz="1400" dirty="0">
                <a:solidFill>
                  <a:srgbClr val="1A2B3C"/>
                </a:solidFill>
                <a:latin typeface="Calibri" pitchFamily="34" charset="0"/>
                <a:ea typeface="Calibri" pitchFamily="34" charset="-122"/>
                <a:cs typeface="Calibri" pitchFamily="34" charset="-120"/>
              </a:rPr>
              <a:t>· Class imbalance </a:t>
            </a:r>
          </a:p>
          <a:p>
            <a:pPr marL="0" indent="0">
              <a:buNone/>
            </a:pPr>
            <a:r>
              <a:rPr lang="en-US" sz="1400" dirty="0">
                <a:solidFill>
                  <a:srgbClr val="1A2B3C"/>
                </a:solidFill>
                <a:latin typeface="Calibri" pitchFamily="34" charset="0"/>
                <a:ea typeface="Calibri" pitchFamily="34" charset="-122"/>
                <a:cs typeface="Calibri" pitchFamily="34" charset="-120"/>
              </a:rPr>
              <a:t>· No-label Data</a:t>
            </a:r>
            <a:endParaRPr lang="en-US" sz="1400" dirty="0"/>
          </a:p>
        </p:txBody>
      </p:sp>
      <p:sp>
        <p:nvSpPr>
          <p:cNvPr id="19" name="Shape 17"/>
          <p:cNvSpPr/>
          <p:nvPr/>
        </p:nvSpPr>
        <p:spPr>
          <a:xfrm>
            <a:off x="6812280" y="2121408"/>
            <a:ext cx="1920240" cy="2697480"/>
          </a:xfrm>
          <a:prstGeom prst="rect">
            <a:avLst/>
          </a:prstGeom>
          <a:solidFill>
            <a:srgbClr val="F0F6FA"/>
          </a:solidFill>
          <a:ln w="12700">
            <a:solidFill>
              <a:srgbClr val="D0E4EC"/>
            </a:solidFill>
            <a:prstDash val="solid"/>
          </a:ln>
          <a:effectLst>
            <a:outerShdw blurRad="76200" dist="25400" dir="8100000" algn="bl" rotWithShape="0">
              <a:srgbClr val="000000">
                <a:alpha val="12000"/>
              </a:srgbClr>
            </a:outerShdw>
          </a:effectLst>
        </p:spPr>
        <p:txBody>
          <a:bodyPr/>
          <a:lstStyle/>
          <a:p>
            <a:endParaRPr lang="en-CN"/>
          </a:p>
        </p:txBody>
      </p:sp>
      <p:sp>
        <p:nvSpPr>
          <p:cNvPr id="20" name="Shape 18"/>
          <p:cNvSpPr/>
          <p:nvPr/>
        </p:nvSpPr>
        <p:spPr>
          <a:xfrm>
            <a:off x="6812280" y="2121408"/>
            <a:ext cx="1920240" cy="384048"/>
          </a:xfrm>
          <a:prstGeom prst="rect">
            <a:avLst/>
          </a:prstGeom>
          <a:solidFill>
            <a:srgbClr val="028090"/>
          </a:solidFill>
          <a:ln w="12700">
            <a:solidFill>
              <a:srgbClr val="028090"/>
            </a:solidFill>
            <a:prstDash val="solid"/>
          </a:ln>
        </p:spPr>
        <p:txBody>
          <a:bodyPr/>
          <a:lstStyle/>
          <a:p>
            <a:endParaRPr lang="en-CN"/>
          </a:p>
        </p:txBody>
      </p:sp>
      <p:sp>
        <p:nvSpPr>
          <p:cNvPr id="21" name="Text 19"/>
          <p:cNvSpPr/>
          <p:nvPr/>
        </p:nvSpPr>
        <p:spPr>
          <a:xfrm>
            <a:off x="6812280" y="2139696"/>
            <a:ext cx="1920240" cy="347472"/>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 Business Question</a:t>
            </a:r>
            <a:endParaRPr lang="en-US" sz="1600" dirty="0"/>
          </a:p>
        </p:txBody>
      </p:sp>
      <p:sp>
        <p:nvSpPr>
          <p:cNvPr id="22" name="Text 20"/>
          <p:cNvSpPr/>
          <p:nvPr/>
        </p:nvSpPr>
        <p:spPr>
          <a:xfrm>
            <a:off x="6903720" y="2587752"/>
            <a:ext cx="1737360" cy="2103120"/>
          </a:xfrm>
          <a:prstGeom prst="rect">
            <a:avLst/>
          </a:prstGeom>
          <a:noFill/>
          <a:ln/>
        </p:spPr>
        <p:txBody>
          <a:bodyPr wrap="square" rtlCol="0" anchor="ctr"/>
          <a:lstStyle/>
          <a:p>
            <a:pPr marL="0" indent="0" algn="ctr">
              <a:buNone/>
            </a:pPr>
            <a:r>
              <a:rPr lang="en-US" sz="1400" dirty="0">
                <a:solidFill>
                  <a:srgbClr val="1A2B3C"/>
                </a:solidFill>
                <a:latin typeface="Calibri" pitchFamily="34" charset="0"/>
                <a:ea typeface="Calibri" pitchFamily="34" charset="-122"/>
                <a:cs typeface="Calibri" pitchFamily="34" charset="-120"/>
              </a:rPr>
              <a:t>Can social media discussions predict prescription behavior changes and serve as leading indicators?</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66928"/>
          </a:xfrm>
          <a:prstGeom prst="rect">
            <a:avLst/>
          </a:prstGeom>
          <a:noFill/>
          <a:ln/>
        </p:spPr>
        <p:txBody>
          <a:bodyPr wrap="square" lIns="0" tIns="0" rIns="0" bIns="0" rtlCol="0" anchor="ctr"/>
          <a:lstStyle/>
          <a:p>
            <a:r>
              <a:rPr lang="en-US" sz="2400" b="1" dirty="0">
                <a:solidFill>
                  <a:srgbClr val="0D2137"/>
                </a:solidFill>
                <a:latin typeface="Calibri" pitchFamily="34" charset="0"/>
                <a:ea typeface="Calibri" pitchFamily="34" charset="-122"/>
                <a:cs typeface="Calibri" pitchFamily="34" charset="-120"/>
              </a:rPr>
              <a:t>PART 1— Dataset &amp; Processing Pipeline</a:t>
            </a:r>
            <a:endParaRPr lang="en-US" sz="2400" dirty="0"/>
          </a:p>
        </p:txBody>
      </p:sp>
      <p:sp>
        <p:nvSpPr>
          <p:cNvPr id="3" name="Shape 1"/>
          <p:cNvSpPr/>
          <p:nvPr/>
        </p:nvSpPr>
        <p:spPr>
          <a:xfrm>
            <a:off x="457200" y="795528"/>
            <a:ext cx="8229600" cy="0"/>
          </a:xfrm>
          <a:prstGeom prst="line">
            <a:avLst/>
          </a:prstGeom>
          <a:noFill/>
          <a:ln w="25400">
            <a:solidFill>
              <a:srgbClr val="028090"/>
            </a:solidFill>
            <a:prstDash val="solid"/>
          </a:ln>
        </p:spPr>
        <p:txBody>
          <a:bodyPr/>
          <a:lstStyle/>
          <a:p>
            <a:endParaRPr lang="en-CN"/>
          </a:p>
        </p:txBody>
      </p:sp>
      <p:sp>
        <p:nvSpPr>
          <p:cNvPr id="4" name="Shape 2"/>
          <p:cNvSpPr/>
          <p:nvPr/>
        </p:nvSpPr>
        <p:spPr>
          <a:xfrm>
            <a:off x="365760" y="932688"/>
            <a:ext cx="3383280" cy="4023360"/>
          </a:xfrm>
          <a:prstGeom prst="rect">
            <a:avLst/>
          </a:prstGeom>
          <a:solidFill>
            <a:srgbClr val="F0F6FA"/>
          </a:solidFill>
          <a:ln w="12700">
            <a:solidFill>
              <a:srgbClr val="D0E4EC"/>
            </a:solidFill>
            <a:prstDash val="solid"/>
          </a:ln>
          <a:effectLst>
            <a:outerShdw blurRad="76200" dist="25400" dir="8100000" algn="bl" rotWithShape="0">
              <a:srgbClr val="000000">
                <a:alpha val="12000"/>
              </a:srgbClr>
            </a:outerShdw>
          </a:effectLst>
        </p:spPr>
        <p:txBody>
          <a:bodyPr/>
          <a:lstStyle/>
          <a:p>
            <a:endParaRPr lang="en-CN" sz="2800"/>
          </a:p>
        </p:txBody>
      </p:sp>
      <p:sp>
        <p:nvSpPr>
          <p:cNvPr id="5" name="Shape 3"/>
          <p:cNvSpPr/>
          <p:nvPr/>
        </p:nvSpPr>
        <p:spPr>
          <a:xfrm>
            <a:off x="365760" y="932688"/>
            <a:ext cx="3383280" cy="384048"/>
          </a:xfrm>
          <a:prstGeom prst="rect">
            <a:avLst/>
          </a:prstGeom>
          <a:solidFill>
            <a:srgbClr val="0D2137"/>
          </a:solidFill>
          <a:ln w="12700">
            <a:solidFill>
              <a:srgbClr val="0D2137"/>
            </a:solidFill>
            <a:prstDash val="solid"/>
          </a:ln>
        </p:spPr>
        <p:txBody>
          <a:bodyPr/>
          <a:lstStyle/>
          <a:p>
            <a:endParaRPr lang="en-CN" sz="2000"/>
          </a:p>
        </p:txBody>
      </p:sp>
      <p:sp>
        <p:nvSpPr>
          <p:cNvPr id="6" name="Text 4"/>
          <p:cNvSpPr/>
          <p:nvPr/>
        </p:nvSpPr>
        <p:spPr>
          <a:xfrm>
            <a:off x="365760" y="950976"/>
            <a:ext cx="3383280" cy="347472"/>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Dataset Facts</a:t>
            </a:r>
            <a:endParaRPr lang="en-US" sz="1400" dirty="0"/>
          </a:p>
        </p:txBody>
      </p:sp>
      <p:sp>
        <p:nvSpPr>
          <p:cNvPr id="7" name="Text 5"/>
          <p:cNvSpPr/>
          <p:nvPr/>
        </p:nvSpPr>
        <p:spPr>
          <a:xfrm>
            <a:off x="457200" y="1417320"/>
            <a:ext cx="1280160" cy="402336"/>
          </a:xfrm>
          <a:prstGeom prst="rect">
            <a:avLst/>
          </a:prstGeom>
          <a:noFill/>
          <a:ln/>
        </p:spPr>
        <p:txBody>
          <a:bodyPr wrap="square" rtlCol="0" anchor="ctr"/>
          <a:lstStyle/>
          <a:p>
            <a:pPr marL="0" indent="0" algn="r">
              <a:buNone/>
            </a:pPr>
            <a:r>
              <a:rPr lang="en-US" b="1" dirty="0">
                <a:solidFill>
                  <a:srgbClr val="028090"/>
                </a:solidFill>
                <a:latin typeface="Calibri" pitchFamily="34" charset="0"/>
                <a:ea typeface="Calibri" pitchFamily="34" charset="-122"/>
                <a:cs typeface="Calibri" pitchFamily="34" charset="-120"/>
              </a:rPr>
              <a:t>~800K</a:t>
            </a:r>
            <a:endParaRPr lang="en-US" dirty="0"/>
          </a:p>
        </p:txBody>
      </p:sp>
      <p:sp>
        <p:nvSpPr>
          <p:cNvPr id="8" name="Text 6"/>
          <p:cNvSpPr/>
          <p:nvPr/>
        </p:nvSpPr>
        <p:spPr>
          <a:xfrm>
            <a:off x="1847088" y="1453896"/>
            <a:ext cx="1737360" cy="402336"/>
          </a:xfrm>
          <a:prstGeom prst="rect">
            <a:avLst/>
          </a:prstGeom>
          <a:noFill/>
          <a:ln/>
        </p:spPr>
        <p:txBody>
          <a:bodyPr wrap="square" rtlCol="0" anchor="ctr"/>
          <a:lstStyle/>
          <a:p>
            <a:pPr marL="0" indent="0">
              <a:buNone/>
            </a:pPr>
            <a:r>
              <a:rPr lang="en-US" sz="1400" dirty="0">
                <a:solidFill>
                  <a:srgbClr val="1A2B3C"/>
                </a:solidFill>
                <a:latin typeface="Calibri" pitchFamily="34" charset="0"/>
                <a:ea typeface="Calibri" pitchFamily="34" charset="-122"/>
                <a:cs typeface="Calibri" pitchFamily="34" charset="-120"/>
              </a:rPr>
              <a:t>Reddit posts &amp; comments</a:t>
            </a:r>
            <a:endParaRPr lang="en-US" sz="1400" dirty="0"/>
          </a:p>
        </p:txBody>
      </p:sp>
      <p:sp>
        <p:nvSpPr>
          <p:cNvPr id="9" name="Text 7"/>
          <p:cNvSpPr/>
          <p:nvPr/>
        </p:nvSpPr>
        <p:spPr>
          <a:xfrm>
            <a:off x="457200" y="1929384"/>
            <a:ext cx="1280160" cy="402336"/>
          </a:xfrm>
          <a:prstGeom prst="rect">
            <a:avLst/>
          </a:prstGeom>
          <a:noFill/>
          <a:ln/>
        </p:spPr>
        <p:txBody>
          <a:bodyPr wrap="square" rtlCol="0" anchor="ctr"/>
          <a:lstStyle/>
          <a:p>
            <a:pPr marL="0" indent="0" algn="r">
              <a:buNone/>
            </a:pPr>
            <a:r>
              <a:rPr lang="en-US" b="1" dirty="0">
                <a:solidFill>
                  <a:srgbClr val="028090"/>
                </a:solidFill>
                <a:latin typeface="Calibri" pitchFamily="34" charset="0"/>
                <a:ea typeface="Calibri" pitchFamily="34" charset="-122"/>
                <a:cs typeface="Calibri" pitchFamily="34" charset="-120"/>
              </a:rPr>
              <a:t>14–16</a:t>
            </a:r>
            <a:endParaRPr lang="en-US" dirty="0"/>
          </a:p>
        </p:txBody>
      </p:sp>
      <p:sp>
        <p:nvSpPr>
          <p:cNvPr id="10" name="Text 8"/>
          <p:cNvSpPr/>
          <p:nvPr/>
        </p:nvSpPr>
        <p:spPr>
          <a:xfrm>
            <a:off x="1847088" y="1965960"/>
            <a:ext cx="1737360" cy="402336"/>
          </a:xfrm>
          <a:prstGeom prst="rect">
            <a:avLst/>
          </a:prstGeom>
          <a:noFill/>
          <a:ln/>
        </p:spPr>
        <p:txBody>
          <a:bodyPr wrap="square" rtlCol="0" anchor="ctr"/>
          <a:lstStyle/>
          <a:p>
            <a:pPr marL="0" indent="0">
              <a:buNone/>
            </a:pPr>
            <a:r>
              <a:rPr lang="en-US" sz="1400" dirty="0">
                <a:solidFill>
                  <a:srgbClr val="1A2B3C"/>
                </a:solidFill>
                <a:latin typeface="Calibri" pitchFamily="34" charset="0"/>
                <a:ea typeface="Calibri" pitchFamily="34" charset="-122"/>
                <a:cs typeface="Calibri" pitchFamily="34" charset="-120"/>
              </a:rPr>
              <a:t>GLP-1 related subreddits</a:t>
            </a:r>
            <a:endParaRPr lang="en-US" sz="1400" dirty="0"/>
          </a:p>
        </p:txBody>
      </p:sp>
      <p:sp>
        <p:nvSpPr>
          <p:cNvPr id="11" name="Text 9"/>
          <p:cNvSpPr/>
          <p:nvPr/>
        </p:nvSpPr>
        <p:spPr>
          <a:xfrm>
            <a:off x="457200" y="2441448"/>
            <a:ext cx="1280160" cy="402336"/>
          </a:xfrm>
          <a:prstGeom prst="rect">
            <a:avLst/>
          </a:prstGeom>
          <a:noFill/>
          <a:ln/>
        </p:spPr>
        <p:txBody>
          <a:bodyPr wrap="square" rtlCol="0" anchor="ctr"/>
          <a:lstStyle/>
          <a:p>
            <a:pPr marL="0" indent="0" algn="r">
              <a:buNone/>
            </a:pPr>
            <a:r>
              <a:rPr lang="en-US" b="1" dirty="0">
                <a:solidFill>
                  <a:srgbClr val="028090"/>
                </a:solidFill>
                <a:latin typeface="Calibri" pitchFamily="34" charset="0"/>
                <a:ea typeface="Calibri" pitchFamily="34" charset="-122"/>
                <a:cs typeface="Calibri" pitchFamily="34" charset="-120"/>
              </a:rPr>
              <a:t>Jan 2010</a:t>
            </a:r>
            <a:endParaRPr lang="en-US" dirty="0"/>
          </a:p>
        </p:txBody>
      </p:sp>
      <p:sp>
        <p:nvSpPr>
          <p:cNvPr id="12" name="Text 10"/>
          <p:cNvSpPr/>
          <p:nvPr/>
        </p:nvSpPr>
        <p:spPr>
          <a:xfrm>
            <a:off x="1847088" y="2478024"/>
            <a:ext cx="1737360" cy="402336"/>
          </a:xfrm>
          <a:prstGeom prst="rect">
            <a:avLst/>
          </a:prstGeom>
          <a:noFill/>
          <a:ln/>
        </p:spPr>
        <p:txBody>
          <a:bodyPr wrap="square" rtlCol="0" anchor="ctr"/>
          <a:lstStyle/>
          <a:p>
            <a:pPr marL="0" indent="0">
              <a:buNone/>
            </a:pPr>
            <a:r>
              <a:rPr lang="en-US" sz="1400" dirty="0">
                <a:solidFill>
                  <a:srgbClr val="1A2B3C"/>
                </a:solidFill>
                <a:latin typeface="Calibri" pitchFamily="34" charset="0"/>
                <a:ea typeface="Calibri" pitchFamily="34" charset="-122"/>
                <a:cs typeface="Calibri" pitchFamily="34" charset="-120"/>
              </a:rPr>
              <a:t>– Jan 2025 timespan</a:t>
            </a:r>
            <a:endParaRPr lang="en-US" sz="1400" dirty="0"/>
          </a:p>
        </p:txBody>
      </p:sp>
      <p:sp>
        <p:nvSpPr>
          <p:cNvPr id="13" name="Text 11"/>
          <p:cNvSpPr/>
          <p:nvPr/>
        </p:nvSpPr>
        <p:spPr>
          <a:xfrm>
            <a:off x="457200" y="2953512"/>
            <a:ext cx="1280160" cy="402336"/>
          </a:xfrm>
          <a:prstGeom prst="rect">
            <a:avLst/>
          </a:prstGeom>
          <a:noFill/>
          <a:ln/>
        </p:spPr>
        <p:txBody>
          <a:bodyPr wrap="square" rtlCol="0" anchor="ctr"/>
          <a:lstStyle/>
          <a:p>
            <a:pPr marL="0" indent="0" algn="r">
              <a:buNone/>
            </a:pPr>
            <a:r>
              <a:rPr lang="en-US" b="1" dirty="0">
                <a:solidFill>
                  <a:srgbClr val="028090"/>
                </a:solidFill>
                <a:latin typeface="Calibri" pitchFamily="34" charset="0"/>
                <a:ea typeface="Calibri" pitchFamily="34" charset="-122"/>
                <a:cs typeface="Calibri" pitchFamily="34" charset="-120"/>
              </a:rPr>
              <a:t>1,200</a:t>
            </a:r>
            <a:endParaRPr lang="en-US" dirty="0"/>
          </a:p>
        </p:txBody>
      </p:sp>
      <p:sp>
        <p:nvSpPr>
          <p:cNvPr id="14" name="Text 12"/>
          <p:cNvSpPr/>
          <p:nvPr/>
        </p:nvSpPr>
        <p:spPr>
          <a:xfrm>
            <a:off x="1847088" y="2990088"/>
            <a:ext cx="1737360" cy="402336"/>
          </a:xfrm>
          <a:prstGeom prst="rect">
            <a:avLst/>
          </a:prstGeom>
          <a:noFill/>
          <a:ln/>
        </p:spPr>
        <p:txBody>
          <a:bodyPr wrap="square" rtlCol="0" anchor="ctr"/>
          <a:lstStyle/>
          <a:p>
            <a:pPr marL="0" indent="0">
              <a:buNone/>
            </a:pPr>
            <a:r>
              <a:rPr lang="en-US" sz="1400" dirty="0">
                <a:solidFill>
                  <a:srgbClr val="1A2B3C"/>
                </a:solidFill>
                <a:latin typeface="Calibri" pitchFamily="34" charset="0"/>
                <a:ea typeface="Calibri" pitchFamily="34" charset="-122"/>
                <a:cs typeface="Calibri" pitchFamily="34" charset="-120"/>
              </a:rPr>
              <a:t>Manually labeled posts</a:t>
            </a:r>
            <a:endParaRPr lang="en-US" sz="1400" dirty="0"/>
          </a:p>
        </p:txBody>
      </p:sp>
      <p:sp>
        <p:nvSpPr>
          <p:cNvPr id="15" name="Text 13"/>
          <p:cNvSpPr/>
          <p:nvPr/>
        </p:nvSpPr>
        <p:spPr>
          <a:xfrm>
            <a:off x="457200" y="3465576"/>
            <a:ext cx="1280160" cy="402336"/>
          </a:xfrm>
          <a:prstGeom prst="rect">
            <a:avLst/>
          </a:prstGeom>
          <a:noFill/>
          <a:ln/>
        </p:spPr>
        <p:txBody>
          <a:bodyPr wrap="square" rtlCol="0" anchor="ctr"/>
          <a:lstStyle/>
          <a:p>
            <a:pPr marL="0" indent="0" algn="r">
              <a:buNone/>
            </a:pPr>
            <a:r>
              <a:rPr lang="en-US" b="1" dirty="0">
                <a:solidFill>
                  <a:srgbClr val="028090"/>
                </a:solidFill>
                <a:latin typeface="Calibri" pitchFamily="34" charset="0"/>
                <a:ea typeface="Calibri" pitchFamily="34" charset="-122"/>
                <a:cs typeface="Calibri" pitchFamily="34" charset="-120"/>
              </a:rPr>
              <a:t>421</a:t>
            </a:r>
            <a:endParaRPr lang="en-US" dirty="0"/>
          </a:p>
        </p:txBody>
      </p:sp>
      <p:sp>
        <p:nvSpPr>
          <p:cNvPr id="16" name="Text 14"/>
          <p:cNvSpPr/>
          <p:nvPr/>
        </p:nvSpPr>
        <p:spPr>
          <a:xfrm>
            <a:off x="1847088" y="3502152"/>
            <a:ext cx="1737360" cy="402336"/>
          </a:xfrm>
          <a:prstGeom prst="rect">
            <a:avLst/>
          </a:prstGeom>
          <a:noFill/>
          <a:ln/>
        </p:spPr>
        <p:txBody>
          <a:bodyPr wrap="square" rtlCol="0" anchor="ctr"/>
          <a:lstStyle/>
          <a:p>
            <a:pPr marL="0" indent="0">
              <a:buNone/>
            </a:pPr>
            <a:r>
              <a:rPr lang="en-US" sz="1400" dirty="0">
                <a:solidFill>
                  <a:srgbClr val="1A2B3C"/>
                </a:solidFill>
                <a:latin typeface="Calibri" pitchFamily="34" charset="0"/>
                <a:ea typeface="Calibri" pitchFamily="34" charset="-122"/>
                <a:cs typeface="Calibri" pitchFamily="34" charset="-120"/>
              </a:rPr>
              <a:t>Shortage-related (label=1)</a:t>
            </a:r>
            <a:endParaRPr lang="en-US" sz="1400" dirty="0"/>
          </a:p>
        </p:txBody>
      </p:sp>
      <p:sp>
        <p:nvSpPr>
          <p:cNvPr id="17" name="Text 15"/>
          <p:cNvSpPr/>
          <p:nvPr/>
        </p:nvSpPr>
        <p:spPr>
          <a:xfrm>
            <a:off x="457200" y="3977640"/>
            <a:ext cx="1280160" cy="402336"/>
          </a:xfrm>
          <a:prstGeom prst="rect">
            <a:avLst/>
          </a:prstGeom>
          <a:noFill/>
          <a:ln/>
        </p:spPr>
        <p:txBody>
          <a:bodyPr wrap="square" rtlCol="0" anchor="ctr"/>
          <a:lstStyle/>
          <a:p>
            <a:pPr marL="0" indent="0" algn="r">
              <a:buNone/>
            </a:pPr>
            <a:r>
              <a:rPr lang="en-US" b="1" dirty="0">
                <a:solidFill>
                  <a:srgbClr val="028090"/>
                </a:solidFill>
                <a:latin typeface="Calibri" pitchFamily="34" charset="0"/>
                <a:ea typeface="Calibri" pitchFamily="34" charset="-122"/>
                <a:cs typeface="Calibri" pitchFamily="34" charset="-120"/>
              </a:rPr>
              <a:t>κ = 0.95</a:t>
            </a:r>
            <a:endParaRPr lang="en-US" dirty="0"/>
          </a:p>
        </p:txBody>
      </p:sp>
      <p:sp>
        <p:nvSpPr>
          <p:cNvPr id="18" name="Text 16"/>
          <p:cNvSpPr/>
          <p:nvPr/>
        </p:nvSpPr>
        <p:spPr>
          <a:xfrm>
            <a:off x="1847088" y="4014216"/>
            <a:ext cx="1737360" cy="402336"/>
          </a:xfrm>
          <a:prstGeom prst="rect">
            <a:avLst/>
          </a:prstGeom>
          <a:noFill/>
          <a:ln/>
        </p:spPr>
        <p:txBody>
          <a:bodyPr wrap="square" rtlCol="0" anchor="ctr"/>
          <a:lstStyle/>
          <a:p>
            <a:pPr marL="0" indent="0">
              <a:buNone/>
            </a:pPr>
            <a:r>
              <a:rPr lang="en-US" sz="1400" dirty="0">
                <a:solidFill>
                  <a:srgbClr val="1A2B3C"/>
                </a:solidFill>
                <a:latin typeface="Calibri" pitchFamily="34" charset="0"/>
                <a:ea typeface="Calibri" pitchFamily="34" charset="-122"/>
                <a:cs typeface="Calibri" pitchFamily="34" charset="-120"/>
              </a:rPr>
              <a:t>Cohen's Kappa (2 RAs + GPT)</a:t>
            </a:r>
            <a:endParaRPr lang="en-US" sz="1400" dirty="0"/>
          </a:p>
        </p:txBody>
      </p:sp>
      <p:sp>
        <p:nvSpPr>
          <p:cNvPr id="19" name="Text 17"/>
          <p:cNvSpPr/>
          <p:nvPr/>
        </p:nvSpPr>
        <p:spPr>
          <a:xfrm>
            <a:off x="457200" y="4489704"/>
            <a:ext cx="1280160" cy="402336"/>
          </a:xfrm>
          <a:prstGeom prst="rect">
            <a:avLst/>
          </a:prstGeom>
          <a:noFill/>
          <a:ln/>
        </p:spPr>
        <p:txBody>
          <a:bodyPr wrap="square" rtlCol="0" anchor="ctr"/>
          <a:lstStyle/>
          <a:p>
            <a:pPr marL="0" indent="0" algn="r">
              <a:buNone/>
            </a:pPr>
            <a:r>
              <a:rPr lang="en-US" b="1" dirty="0">
                <a:solidFill>
                  <a:srgbClr val="028090"/>
                </a:solidFill>
                <a:latin typeface="Calibri" pitchFamily="34" charset="0"/>
                <a:ea typeface="Calibri" pitchFamily="34" charset="-122"/>
                <a:cs typeface="Calibri" pitchFamily="34" charset="-120"/>
              </a:rPr>
              <a:t>95.6%</a:t>
            </a:r>
            <a:endParaRPr lang="en-US" dirty="0"/>
          </a:p>
        </p:txBody>
      </p:sp>
      <p:sp>
        <p:nvSpPr>
          <p:cNvPr id="20" name="Text 18"/>
          <p:cNvSpPr/>
          <p:nvPr/>
        </p:nvSpPr>
        <p:spPr>
          <a:xfrm>
            <a:off x="1847088" y="4526280"/>
            <a:ext cx="1737360" cy="402336"/>
          </a:xfrm>
          <a:prstGeom prst="rect">
            <a:avLst/>
          </a:prstGeom>
          <a:noFill/>
          <a:ln/>
        </p:spPr>
        <p:txBody>
          <a:bodyPr wrap="square" rtlCol="0" anchor="ctr"/>
          <a:lstStyle/>
          <a:p>
            <a:pPr marL="0" indent="0">
              <a:buNone/>
            </a:pPr>
            <a:r>
              <a:rPr lang="en-US" sz="1400" dirty="0">
                <a:solidFill>
                  <a:srgbClr val="1A2B3C"/>
                </a:solidFill>
                <a:latin typeface="Calibri" pitchFamily="34" charset="0"/>
                <a:ea typeface="Calibri" pitchFamily="34" charset="-122"/>
                <a:cs typeface="Calibri" pitchFamily="34" charset="-120"/>
              </a:rPr>
              <a:t>Overall annotation agreement</a:t>
            </a:r>
            <a:endParaRPr lang="en-US" sz="1400" dirty="0"/>
          </a:p>
        </p:txBody>
      </p:sp>
      <p:sp>
        <p:nvSpPr>
          <p:cNvPr id="21" name="Text 19"/>
          <p:cNvSpPr/>
          <p:nvPr/>
        </p:nvSpPr>
        <p:spPr>
          <a:xfrm>
            <a:off x="3977640" y="932688"/>
            <a:ext cx="4846320" cy="347472"/>
          </a:xfrm>
          <a:prstGeom prst="rect">
            <a:avLst/>
          </a:prstGeom>
          <a:noFill/>
          <a:ln/>
        </p:spPr>
        <p:txBody>
          <a:bodyPr wrap="square" rtlCol="0" anchor="ctr"/>
          <a:lstStyle/>
          <a:p>
            <a:pPr marL="0" indent="0">
              <a:buNone/>
            </a:pPr>
            <a:r>
              <a:rPr lang="en-US" sz="1600" b="1" dirty="0">
                <a:solidFill>
                  <a:srgbClr val="0D2137"/>
                </a:solidFill>
                <a:latin typeface="Calibri" pitchFamily="34" charset="0"/>
                <a:ea typeface="Calibri" pitchFamily="34" charset="-122"/>
                <a:cs typeface="Calibri" pitchFamily="34" charset="-120"/>
              </a:rPr>
              <a:t>Pipeline Architecture</a:t>
            </a:r>
            <a:endParaRPr lang="en-US" sz="1600" dirty="0"/>
          </a:p>
        </p:txBody>
      </p:sp>
      <p:sp>
        <p:nvSpPr>
          <p:cNvPr id="22" name="Shape 20"/>
          <p:cNvSpPr/>
          <p:nvPr/>
        </p:nvSpPr>
        <p:spPr>
          <a:xfrm>
            <a:off x="3977640" y="1371600"/>
            <a:ext cx="4846320" cy="347472"/>
          </a:xfrm>
          <a:prstGeom prst="rect">
            <a:avLst/>
          </a:prstGeom>
          <a:solidFill>
            <a:srgbClr val="E8F4F8"/>
          </a:solidFill>
          <a:ln w="6350">
            <a:solidFill>
              <a:srgbClr val="B8D4DF"/>
            </a:solidFill>
            <a:prstDash val="solid"/>
          </a:ln>
        </p:spPr>
        <p:txBody>
          <a:bodyPr/>
          <a:lstStyle/>
          <a:p>
            <a:endParaRPr lang="en-CN"/>
          </a:p>
        </p:txBody>
      </p:sp>
      <p:sp>
        <p:nvSpPr>
          <p:cNvPr id="23" name="Shape 21"/>
          <p:cNvSpPr/>
          <p:nvPr/>
        </p:nvSpPr>
        <p:spPr>
          <a:xfrm>
            <a:off x="3977640" y="1371600"/>
            <a:ext cx="91440" cy="347472"/>
          </a:xfrm>
          <a:prstGeom prst="rect">
            <a:avLst/>
          </a:prstGeom>
          <a:solidFill>
            <a:srgbClr val="0D2137"/>
          </a:solidFill>
          <a:ln w="12700">
            <a:solidFill>
              <a:srgbClr val="0D2137"/>
            </a:solidFill>
            <a:prstDash val="solid"/>
          </a:ln>
        </p:spPr>
        <p:txBody>
          <a:bodyPr/>
          <a:lstStyle/>
          <a:p>
            <a:endParaRPr lang="en-CN" sz="2000"/>
          </a:p>
        </p:txBody>
      </p:sp>
      <p:sp>
        <p:nvSpPr>
          <p:cNvPr id="24" name="Text 22"/>
          <p:cNvSpPr/>
          <p:nvPr/>
        </p:nvSpPr>
        <p:spPr>
          <a:xfrm>
            <a:off x="4142232" y="1371600"/>
            <a:ext cx="4663440" cy="347472"/>
          </a:xfrm>
          <a:prstGeom prst="rect">
            <a:avLst/>
          </a:prstGeom>
          <a:noFill/>
          <a:ln/>
        </p:spPr>
        <p:txBody>
          <a:bodyPr wrap="square" rtlCol="0" anchor="ctr"/>
          <a:lstStyle/>
          <a:p>
            <a:pPr marL="0" indent="0">
              <a:buNone/>
            </a:pPr>
            <a:r>
              <a:rPr lang="en-US" sz="1600" dirty="0">
                <a:solidFill>
                  <a:srgbClr val="1A2B3C"/>
                </a:solidFill>
                <a:latin typeface="Calibri" pitchFamily="34" charset="0"/>
                <a:ea typeface="Calibri" pitchFamily="34" charset="-122"/>
                <a:cs typeface="Calibri" pitchFamily="34" charset="-120"/>
              </a:rPr>
              <a:t>Reddit Collection (800K posts)</a:t>
            </a:r>
            <a:endParaRPr lang="en-US" sz="1600" dirty="0"/>
          </a:p>
        </p:txBody>
      </p:sp>
      <p:sp>
        <p:nvSpPr>
          <p:cNvPr id="25" name="Shape 23"/>
          <p:cNvSpPr/>
          <p:nvPr/>
        </p:nvSpPr>
        <p:spPr>
          <a:xfrm>
            <a:off x="6400800" y="1719072"/>
            <a:ext cx="0" cy="109728"/>
          </a:xfrm>
          <a:prstGeom prst="line">
            <a:avLst/>
          </a:prstGeom>
          <a:noFill/>
          <a:ln w="19050">
            <a:solidFill>
              <a:srgbClr val="028090"/>
            </a:solidFill>
            <a:prstDash val="solid"/>
          </a:ln>
        </p:spPr>
        <p:txBody>
          <a:bodyPr/>
          <a:lstStyle/>
          <a:p>
            <a:endParaRPr lang="en-CN" sz="2000"/>
          </a:p>
        </p:txBody>
      </p:sp>
      <p:sp>
        <p:nvSpPr>
          <p:cNvPr id="26" name="Shape 24"/>
          <p:cNvSpPr/>
          <p:nvPr/>
        </p:nvSpPr>
        <p:spPr>
          <a:xfrm>
            <a:off x="3977640" y="1828800"/>
            <a:ext cx="4846320" cy="347472"/>
          </a:xfrm>
          <a:prstGeom prst="rect">
            <a:avLst/>
          </a:prstGeom>
          <a:solidFill>
            <a:srgbClr val="E8F4F8"/>
          </a:solidFill>
          <a:ln w="6350">
            <a:solidFill>
              <a:srgbClr val="B8D4DF"/>
            </a:solidFill>
            <a:prstDash val="solid"/>
          </a:ln>
        </p:spPr>
        <p:txBody>
          <a:bodyPr/>
          <a:lstStyle/>
          <a:p>
            <a:endParaRPr lang="en-CN" sz="1600"/>
          </a:p>
        </p:txBody>
      </p:sp>
      <p:sp>
        <p:nvSpPr>
          <p:cNvPr id="27" name="Shape 25"/>
          <p:cNvSpPr/>
          <p:nvPr/>
        </p:nvSpPr>
        <p:spPr>
          <a:xfrm>
            <a:off x="3977640" y="1828800"/>
            <a:ext cx="91440" cy="347472"/>
          </a:xfrm>
          <a:prstGeom prst="rect">
            <a:avLst/>
          </a:prstGeom>
          <a:solidFill>
            <a:srgbClr val="028090"/>
          </a:solidFill>
          <a:ln w="12700">
            <a:solidFill>
              <a:srgbClr val="028090"/>
            </a:solidFill>
            <a:prstDash val="solid"/>
          </a:ln>
        </p:spPr>
        <p:txBody>
          <a:bodyPr/>
          <a:lstStyle/>
          <a:p>
            <a:endParaRPr lang="en-CN" sz="2000"/>
          </a:p>
        </p:txBody>
      </p:sp>
      <p:sp>
        <p:nvSpPr>
          <p:cNvPr id="28" name="Text 26"/>
          <p:cNvSpPr/>
          <p:nvPr/>
        </p:nvSpPr>
        <p:spPr>
          <a:xfrm>
            <a:off x="4142232" y="1828800"/>
            <a:ext cx="4663440" cy="347472"/>
          </a:xfrm>
          <a:prstGeom prst="rect">
            <a:avLst/>
          </a:prstGeom>
          <a:noFill/>
          <a:ln/>
        </p:spPr>
        <p:txBody>
          <a:bodyPr wrap="square" rtlCol="0" anchor="ctr"/>
          <a:lstStyle/>
          <a:p>
            <a:pPr marL="0" indent="0">
              <a:buNone/>
            </a:pPr>
            <a:r>
              <a:rPr lang="en-US" sz="1600" dirty="0">
                <a:solidFill>
                  <a:srgbClr val="1A2B3C"/>
                </a:solidFill>
                <a:latin typeface="Calibri" pitchFamily="34" charset="0"/>
                <a:ea typeface="Calibri" pitchFamily="34" charset="-122"/>
                <a:cs typeface="Calibri" pitchFamily="34" charset="-120"/>
              </a:rPr>
              <a:t>Manual Labeling (1,200 posts · κ=0.95)</a:t>
            </a:r>
            <a:endParaRPr lang="en-US" sz="1600" dirty="0"/>
          </a:p>
        </p:txBody>
      </p:sp>
      <p:sp>
        <p:nvSpPr>
          <p:cNvPr id="29" name="Shape 27"/>
          <p:cNvSpPr/>
          <p:nvPr/>
        </p:nvSpPr>
        <p:spPr>
          <a:xfrm>
            <a:off x="6400800" y="2176272"/>
            <a:ext cx="0" cy="109728"/>
          </a:xfrm>
          <a:prstGeom prst="line">
            <a:avLst/>
          </a:prstGeom>
          <a:noFill/>
          <a:ln w="19050">
            <a:solidFill>
              <a:srgbClr val="028090"/>
            </a:solidFill>
            <a:prstDash val="solid"/>
          </a:ln>
        </p:spPr>
        <p:txBody>
          <a:bodyPr/>
          <a:lstStyle/>
          <a:p>
            <a:endParaRPr lang="en-CN" sz="2000"/>
          </a:p>
        </p:txBody>
      </p:sp>
      <p:sp>
        <p:nvSpPr>
          <p:cNvPr id="30" name="Shape 28"/>
          <p:cNvSpPr/>
          <p:nvPr/>
        </p:nvSpPr>
        <p:spPr>
          <a:xfrm>
            <a:off x="3977640" y="2286000"/>
            <a:ext cx="4846320" cy="347472"/>
          </a:xfrm>
          <a:prstGeom prst="rect">
            <a:avLst/>
          </a:prstGeom>
          <a:solidFill>
            <a:srgbClr val="E8F4F8"/>
          </a:solidFill>
          <a:ln w="6350">
            <a:solidFill>
              <a:srgbClr val="B8D4DF"/>
            </a:solidFill>
            <a:prstDash val="solid"/>
          </a:ln>
        </p:spPr>
        <p:txBody>
          <a:bodyPr/>
          <a:lstStyle/>
          <a:p>
            <a:endParaRPr lang="en-CN" sz="1600"/>
          </a:p>
        </p:txBody>
      </p:sp>
      <p:sp>
        <p:nvSpPr>
          <p:cNvPr id="31" name="Shape 29"/>
          <p:cNvSpPr/>
          <p:nvPr/>
        </p:nvSpPr>
        <p:spPr>
          <a:xfrm>
            <a:off x="3977640" y="2286000"/>
            <a:ext cx="91440" cy="347472"/>
          </a:xfrm>
          <a:prstGeom prst="rect">
            <a:avLst/>
          </a:prstGeom>
          <a:solidFill>
            <a:srgbClr val="028090"/>
          </a:solidFill>
          <a:ln w="12700">
            <a:solidFill>
              <a:srgbClr val="028090"/>
            </a:solidFill>
            <a:prstDash val="solid"/>
          </a:ln>
        </p:spPr>
        <p:txBody>
          <a:bodyPr/>
          <a:lstStyle/>
          <a:p>
            <a:endParaRPr lang="en-CN" sz="2000"/>
          </a:p>
        </p:txBody>
      </p:sp>
      <p:sp>
        <p:nvSpPr>
          <p:cNvPr id="32" name="Text 30"/>
          <p:cNvSpPr/>
          <p:nvPr/>
        </p:nvSpPr>
        <p:spPr>
          <a:xfrm>
            <a:off x="4142232" y="2286000"/>
            <a:ext cx="4663440" cy="347472"/>
          </a:xfrm>
          <a:prstGeom prst="rect">
            <a:avLst/>
          </a:prstGeom>
          <a:noFill/>
          <a:ln/>
        </p:spPr>
        <p:txBody>
          <a:bodyPr wrap="square" rtlCol="0" anchor="ctr"/>
          <a:lstStyle/>
          <a:p>
            <a:pPr marL="0" indent="0">
              <a:buNone/>
            </a:pPr>
            <a:r>
              <a:rPr lang="en-US" sz="1600" dirty="0">
                <a:solidFill>
                  <a:srgbClr val="1A2B3C"/>
                </a:solidFill>
                <a:latin typeface="Calibri" pitchFamily="34" charset="0"/>
                <a:ea typeface="Calibri" pitchFamily="34" charset="-122"/>
                <a:cs typeface="Calibri" pitchFamily="34" charset="-120"/>
              </a:rPr>
              <a:t>RoBERTa Fine-tuning (60/20/20 split)</a:t>
            </a:r>
            <a:endParaRPr lang="en-US" sz="1600" dirty="0"/>
          </a:p>
        </p:txBody>
      </p:sp>
      <p:sp>
        <p:nvSpPr>
          <p:cNvPr id="33" name="Shape 31"/>
          <p:cNvSpPr/>
          <p:nvPr/>
        </p:nvSpPr>
        <p:spPr>
          <a:xfrm>
            <a:off x="6400800" y="2633472"/>
            <a:ext cx="0" cy="109728"/>
          </a:xfrm>
          <a:prstGeom prst="line">
            <a:avLst/>
          </a:prstGeom>
          <a:noFill/>
          <a:ln w="19050">
            <a:solidFill>
              <a:srgbClr val="028090"/>
            </a:solidFill>
            <a:prstDash val="solid"/>
          </a:ln>
        </p:spPr>
        <p:txBody>
          <a:bodyPr/>
          <a:lstStyle/>
          <a:p>
            <a:endParaRPr lang="en-CN" sz="2000"/>
          </a:p>
        </p:txBody>
      </p:sp>
      <p:sp>
        <p:nvSpPr>
          <p:cNvPr id="34" name="Shape 32"/>
          <p:cNvSpPr/>
          <p:nvPr/>
        </p:nvSpPr>
        <p:spPr>
          <a:xfrm>
            <a:off x="3977640" y="2743200"/>
            <a:ext cx="4846320" cy="347472"/>
          </a:xfrm>
          <a:prstGeom prst="rect">
            <a:avLst/>
          </a:prstGeom>
          <a:solidFill>
            <a:srgbClr val="E8F4F8"/>
          </a:solidFill>
          <a:ln w="6350">
            <a:solidFill>
              <a:srgbClr val="B8D4DF"/>
            </a:solidFill>
            <a:prstDash val="solid"/>
          </a:ln>
        </p:spPr>
        <p:txBody>
          <a:bodyPr/>
          <a:lstStyle/>
          <a:p>
            <a:endParaRPr lang="en-CN" sz="1600"/>
          </a:p>
        </p:txBody>
      </p:sp>
      <p:sp>
        <p:nvSpPr>
          <p:cNvPr id="35" name="Shape 33"/>
          <p:cNvSpPr/>
          <p:nvPr/>
        </p:nvSpPr>
        <p:spPr>
          <a:xfrm>
            <a:off x="3977640" y="2743200"/>
            <a:ext cx="91440" cy="347472"/>
          </a:xfrm>
          <a:prstGeom prst="rect">
            <a:avLst/>
          </a:prstGeom>
          <a:solidFill>
            <a:srgbClr val="028090"/>
          </a:solidFill>
          <a:ln w="12700">
            <a:solidFill>
              <a:srgbClr val="028090"/>
            </a:solidFill>
            <a:prstDash val="solid"/>
          </a:ln>
        </p:spPr>
        <p:txBody>
          <a:bodyPr/>
          <a:lstStyle/>
          <a:p>
            <a:endParaRPr lang="en-CN" sz="2000"/>
          </a:p>
        </p:txBody>
      </p:sp>
      <p:sp>
        <p:nvSpPr>
          <p:cNvPr id="36" name="Text 34"/>
          <p:cNvSpPr/>
          <p:nvPr/>
        </p:nvSpPr>
        <p:spPr>
          <a:xfrm>
            <a:off x="4142232" y="2743200"/>
            <a:ext cx="4663440" cy="347472"/>
          </a:xfrm>
          <a:prstGeom prst="rect">
            <a:avLst/>
          </a:prstGeom>
          <a:noFill/>
          <a:ln/>
        </p:spPr>
        <p:txBody>
          <a:bodyPr wrap="square" rtlCol="0" anchor="ctr"/>
          <a:lstStyle/>
          <a:p>
            <a:pPr marL="0" indent="0">
              <a:buNone/>
            </a:pPr>
            <a:r>
              <a:rPr lang="en-US" sz="1600" dirty="0">
                <a:solidFill>
                  <a:srgbClr val="1A2B3C"/>
                </a:solidFill>
                <a:latin typeface="Calibri" pitchFamily="34" charset="0"/>
                <a:ea typeface="Calibri" pitchFamily="34" charset="-122"/>
                <a:cs typeface="Calibri" pitchFamily="34" charset="-120"/>
              </a:rPr>
              <a:t>Full Corpus Prediction (batch inference)</a:t>
            </a:r>
            <a:endParaRPr lang="en-US" sz="1600" dirty="0"/>
          </a:p>
        </p:txBody>
      </p:sp>
      <p:sp>
        <p:nvSpPr>
          <p:cNvPr id="37" name="Shape 35"/>
          <p:cNvSpPr/>
          <p:nvPr/>
        </p:nvSpPr>
        <p:spPr>
          <a:xfrm>
            <a:off x="6400800" y="3090672"/>
            <a:ext cx="0" cy="109728"/>
          </a:xfrm>
          <a:prstGeom prst="line">
            <a:avLst/>
          </a:prstGeom>
          <a:noFill/>
          <a:ln w="19050">
            <a:solidFill>
              <a:srgbClr val="028090"/>
            </a:solidFill>
            <a:prstDash val="solid"/>
          </a:ln>
        </p:spPr>
        <p:txBody>
          <a:bodyPr/>
          <a:lstStyle/>
          <a:p>
            <a:endParaRPr lang="en-CN" sz="2000"/>
          </a:p>
        </p:txBody>
      </p:sp>
      <p:sp>
        <p:nvSpPr>
          <p:cNvPr id="38" name="Shape 36"/>
          <p:cNvSpPr/>
          <p:nvPr/>
        </p:nvSpPr>
        <p:spPr>
          <a:xfrm>
            <a:off x="3977640" y="3200400"/>
            <a:ext cx="4846320" cy="347472"/>
          </a:xfrm>
          <a:prstGeom prst="rect">
            <a:avLst/>
          </a:prstGeom>
          <a:solidFill>
            <a:srgbClr val="E8F4F8"/>
          </a:solidFill>
          <a:ln w="6350">
            <a:solidFill>
              <a:srgbClr val="B8D4DF"/>
            </a:solidFill>
            <a:prstDash val="solid"/>
          </a:ln>
        </p:spPr>
        <p:txBody>
          <a:bodyPr/>
          <a:lstStyle/>
          <a:p>
            <a:endParaRPr lang="en-CN"/>
          </a:p>
        </p:txBody>
      </p:sp>
      <p:sp>
        <p:nvSpPr>
          <p:cNvPr id="39" name="Shape 37"/>
          <p:cNvSpPr/>
          <p:nvPr/>
        </p:nvSpPr>
        <p:spPr>
          <a:xfrm>
            <a:off x="3977640" y="3200400"/>
            <a:ext cx="91440" cy="347472"/>
          </a:xfrm>
          <a:prstGeom prst="rect">
            <a:avLst/>
          </a:prstGeom>
          <a:solidFill>
            <a:srgbClr val="028090"/>
          </a:solidFill>
          <a:ln w="12700">
            <a:solidFill>
              <a:srgbClr val="028090"/>
            </a:solidFill>
            <a:prstDash val="solid"/>
          </a:ln>
        </p:spPr>
        <p:txBody>
          <a:bodyPr/>
          <a:lstStyle/>
          <a:p>
            <a:endParaRPr lang="en-CN" sz="2000"/>
          </a:p>
        </p:txBody>
      </p:sp>
      <p:sp>
        <p:nvSpPr>
          <p:cNvPr id="40" name="Text 38"/>
          <p:cNvSpPr/>
          <p:nvPr/>
        </p:nvSpPr>
        <p:spPr>
          <a:xfrm>
            <a:off x="4142232" y="3200400"/>
            <a:ext cx="4663440" cy="347472"/>
          </a:xfrm>
          <a:prstGeom prst="rect">
            <a:avLst/>
          </a:prstGeom>
          <a:noFill/>
          <a:ln/>
        </p:spPr>
        <p:txBody>
          <a:bodyPr wrap="square" rtlCol="0" anchor="ctr"/>
          <a:lstStyle/>
          <a:p>
            <a:pPr marL="0" indent="0">
              <a:buNone/>
            </a:pPr>
            <a:r>
              <a:rPr lang="en-US" sz="1600" dirty="0">
                <a:solidFill>
                  <a:srgbClr val="1A2B3C"/>
                </a:solidFill>
                <a:latin typeface="Calibri" pitchFamily="34" charset="0"/>
                <a:ea typeface="Calibri" pitchFamily="34" charset="-122"/>
                <a:cs typeface="Calibri" pitchFamily="34" charset="-120"/>
              </a:rPr>
              <a:t>LLM Filtering — o3-mini multi-layer prompting</a:t>
            </a:r>
            <a:endParaRPr lang="en-US" sz="1600" dirty="0"/>
          </a:p>
        </p:txBody>
      </p:sp>
      <p:sp>
        <p:nvSpPr>
          <p:cNvPr id="41" name="Shape 39"/>
          <p:cNvSpPr/>
          <p:nvPr/>
        </p:nvSpPr>
        <p:spPr>
          <a:xfrm>
            <a:off x="6400800" y="3547872"/>
            <a:ext cx="0" cy="109728"/>
          </a:xfrm>
          <a:prstGeom prst="line">
            <a:avLst/>
          </a:prstGeom>
          <a:noFill/>
          <a:ln w="19050">
            <a:solidFill>
              <a:srgbClr val="028090"/>
            </a:solidFill>
            <a:prstDash val="solid"/>
          </a:ln>
        </p:spPr>
        <p:txBody>
          <a:bodyPr/>
          <a:lstStyle/>
          <a:p>
            <a:endParaRPr lang="en-CN" sz="2000"/>
          </a:p>
        </p:txBody>
      </p:sp>
      <p:sp>
        <p:nvSpPr>
          <p:cNvPr id="42" name="Shape 40"/>
          <p:cNvSpPr/>
          <p:nvPr/>
        </p:nvSpPr>
        <p:spPr>
          <a:xfrm>
            <a:off x="3977640" y="3657600"/>
            <a:ext cx="4846320" cy="347472"/>
          </a:xfrm>
          <a:prstGeom prst="rect">
            <a:avLst/>
          </a:prstGeom>
          <a:solidFill>
            <a:srgbClr val="DDFAF2"/>
          </a:solidFill>
          <a:ln w="6350">
            <a:solidFill>
              <a:srgbClr val="B8D4DF"/>
            </a:solidFill>
            <a:prstDash val="solid"/>
          </a:ln>
        </p:spPr>
        <p:txBody>
          <a:bodyPr/>
          <a:lstStyle/>
          <a:p>
            <a:endParaRPr lang="en-CN"/>
          </a:p>
        </p:txBody>
      </p:sp>
      <p:sp>
        <p:nvSpPr>
          <p:cNvPr id="43" name="Shape 41"/>
          <p:cNvSpPr/>
          <p:nvPr/>
        </p:nvSpPr>
        <p:spPr>
          <a:xfrm>
            <a:off x="3977640" y="3657600"/>
            <a:ext cx="91440" cy="347472"/>
          </a:xfrm>
          <a:prstGeom prst="rect">
            <a:avLst/>
          </a:prstGeom>
          <a:solidFill>
            <a:srgbClr val="02C39A"/>
          </a:solidFill>
          <a:ln w="12700">
            <a:solidFill>
              <a:srgbClr val="02C39A"/>
            </a:solidFill>
            <a:prstDash val="solid"/>
          </a:ln>
        </p:spPr>
        <p:txBody>
          <a:bodyPr/>
          <a:lstStyle/>
          <a:p>
            <a:endParaRPr lang="en-CN" sz="2000"/>
          </a:p>
        </p:txBody>
      </p:sp>
      <p:sp>
        <p:nvSpPr>
          <p:cNvPr id="44" name="Text 42"/>
          <p:cNvSpPr/>
          <p:nvPr/>
        </p:nvSpPr>
        <p:spPr>
          <a:xfrm>
            <a:off x="4142232" y="3657600"/>
            <a:ext cx="4663440" cy="347472"/>
          </a:xfrm>
          <a:prstGeom prst="rect">
            <a:avLst/>
          </a:prstGeom>
          <a:noFill/>
          <a:ln/>
        </p:spPr>
        <p:txBody>
          <a:bodyPr wrap="square" rtlCol="0" anchor="ctr"/>
          <a:lstStyle/>
          <a:p>
            <a:pPr marL="0" indent="0">
              <a:buNone/>
            </a:pPr>
            <a:r>
              <a:rPr lang="en-US" sz="1600" b="1" dirty="0">
                <a:solidFill>
                  <a:srgbClr val="1A2B3C"/>
                </a:solidFill>
                <a:latin typeface="Calibri" pitchFamily="34" charset="0"/>
                <a:ea typeface="Calibri" pitchFamily="34" charset="-122"/>
                <a:cs typeface="Calibri" pitchFamily="34" charset="-120"/>
              </a:rPr>
              <a:t>52,866 Shortage Posts Identified ✓</a:t>
            </a:r>
            <a:endParaRPr lang="en-US" sz="1600" dirty="0"/>
          </a:p>
        </p:txBody>
      </p:sp>
      <p:sp>
        <p:nvSpPr>
          <p:cNvPr id="45" name="Shape 43"/>
          <p:cNvSpPr/>
          <p:nvPr/>
        </p:nvSpPr>
        <p:spPr>
          <a:xfrm>
            <a:off x="6400800" y="4005072"/>
            <a:ext cx="0" cy="109728"/>
          </a:xfrm>
          <a:prstGeom prst="line">
            <a:avLst/>
          </a:prstGeom>
          <a:noFill/>
          <a:ln w="19050">
            <a:solidFill>
              <a:srgbClr val="028090"/>
            </a:solidFill>
            <a:prstDash val="solid"/>
          </a:ln>
        </p:spPr>
        <p:txBody>
          <a:bodyPr/>
          <a:lstStyle/>
          <a:p>
            <a:endParaRPr lang="en-CN" sz="2000"/>
          </a:p>
        </p:txBody>
      </p:sp>
      <p:sp>
        <p:nvSpPr>
          <p:cNvPr id="46" name="Shape 44"/>
          <p:cNvSpPr/>
          <p:nvPr/>
        </p:nvSpPr>
        <p:spPr>
          <a:xfrm>
            <a:off x="3977640" y="4114800"/>
            <a:ext cx="4846320" cy="347472"/>
          </a:xfrm>
          <a:prstGeom prst="rect">
            <a:avLst/>
          </a:prstGeom>
          <a:solidFill>
            <a:srgbClr val="E8F4F8"/>
          </a:solidFill>
          <a:ln w="6350">
            <a:solidFill>
              <a:srgbClr val="B8D4DF"/>
            </a:solidFill>
            <a:prstDash val="solid"/>
          </a:ln>
        </p:spPr>
        <p:txBody>
          <a:bodyPr/>
          <a:lstStyle/>
          <a:p>
            <a:endParaRPr lang="en-CN"/>
          </a:p>
        </p:txBody>
      </p:sp>
      <p:sp>
        <p:nvSpPr>
          <p:cNvPr id="47" name="Shape 45"/>
          <p:cNvSpPr/>
          <p:nvPr/>
        </p:nvSpPr>
        <p:spPr>
          <a:xfrm>
            <a:off x="3977640" y="4114800"/>
            <a:ext cx="91440" cy="347472"/>
          </a:xfrm>
          <a:prstGeom prst="rect">
            <a:avLst/>
          </a:prstGeom>
          <a:solidFill>
            <a:srgbClr val="F4A261"/>
          </a:solidFill>
          <a:ln w="12700">
            <a:solidFill>
              <a:srgbClr val="F4A261"/>
            </a:solidFill>
            <a:prstDash val="solid"/>
          </a:ln>
        </p:spPr>
        <p:txBody>
          <a:bodyPr/>
          <a:lstStyle/>
          <a:p>
            <a:endParaRPr lang="en-CN" sz="1600"/>
          </a:p>
        </p:txBody>
      </p:sp>
      <p:sp>
        <p:nvSpPr>
          <p:cNvPr id="48" name="Text 46"/>
          <p:cNvSpPr/>
          <p:nvPr/>
        </p:nvSpPr>
        <p:spPr>
          <a:xfrm>
            <a:off x="4142232" y="4114800"/>
            <a:ext cx="4663440" cy="347472"/>
          </a:xfrm>
          <a:prstGeom prst="rect">
            <a:avLst/>
          </a:prstGeom>
          <a:noFill/>
          <a:ln/>
        </p:spPr>
        <p:txBody>
          <a:bodyPr wrap="square" rtlCol="0" anchor="ctr"/>
          <a:lstStyle/>
          <a:p>
            <a:pPr marL="0" indent="0">
              <a:buNone/>
            </a:pPr>
            <a:r>
              <a:rPr lang="en-US" sz="1600" dirty="0">
                <a:solidFill>
                  <a:srgbClr val="1A2B3C"/>
                </a:solidFill>
                <a:latin typeface="Calibri" pitchFamily="34" charset="0"/>
                <a:ea typeface="Calibri" pitchFamily="34" charset="-122"/>
                <a:cs typeface="Calibri" pitchFamily="34" charset="-120"/>
              </a:rPr>
              <a:t>LDA Topic Modeling (10 topics)</a:t>
            </a:r>
            <a:endParaRPr lang="en-US" sz="1600" dirty="0"/>
          </a:p>
        </p:txBody>
      </p:sp>
      <p:sp>
        <p:nvSpPr>
          <p:cNvPr id="49" name="Shape 47"/>
          <p:cNvSpPr/>
          <p:nvPr/>
        </p:nvSpPr>
        <p:spPr>
          <a:xfrm>
            <a:off x="6400800" y="4462272"/>
            <a:ext cx="0" cy="109728"/>
          </a:xfrm>
          <a:prstGeom prst="line">
            <a:avLst/>
          </a:prstGeom>
          <a:noFill/>
          <a:ln w="19050">
            <a:solidFill>
              <a:srgbClr val="028090"/>
            </a:solidFill>
            <a:prstDash val="solid"/>
          </a:ln>
        </p:spPr>
        <p:txBody>
          <a:bodyPr/>
          <a:lstStyle/>
          <a:p>
            <a:endParaRPr lang="en-CN" sz="2000"/>
          </a:p>
        </p:txBody>
      </p:sp>
      <p:sp>
        <p:nvSpPr>
          <p:cNvPr id="50" name="Shape 48"/>
          <p:cNvSpPr/>
          <p:nvPr/>
        </p:nvSpPr>
        <p:spPr>
          <a:xfrm>
            <a:off x="3977640" y="4572000"/>
            <a:ext cx="4846320" cy="347472"/>
          </a:xfrm>
          <a:prstGeom prst="rect">
            <a:avLst/>
          </a:prstGeom>
          <a:solidFill>
            <a:srgbClr val="E8F4F8"/>
          </a:solidFill>
          <a:ln w="6350">
            <a:solidFill>
              <a:srgbClr val="B8D4DF"/>
            </a:solidFill>
            <a:prstDash val="solid"/>
          </a:ln>
        </p:spPr>
        <p:txBody>
          <a:bodyPr/>
          <a:lstStyle/>
          <a:p>
            <a:endParaRPr lang="en-CN" sz="1600"/>
          </a:p>
        </p:txBody>
      </p:sp>
      <p:sp>
        <p:nvSpPr>
          <p:cNvPr id="51" name="Shape 49"/>
          <p:cNvSpPr/>
          <p:nvPr/>
        </p:nvSpPr>
        <p:spPr>
          <a:xfrm>
            <a:off x="3977640" y="4572000"/>
            <a:ext cx="91440" cy="347472"/>
          </a:xfrm>
          <a:prstGeom prst="rect">
            <a:avLst/>
          </a:prstGeom>
          <a:solidFill>
            <a:srgbClr val="F4A261"/>
          </a:solidFill>
          <a:ln w="12700">
            <a:solidFill>
              <a:srgbClr val="F4A261"/>
            </a:solidFill>
            <a:prstDash val="solid"/>
          </a:ln>
        </p:spPr>
        <p:txBody>
          <a:bodyPr/>
          <a:lstStyle/>
          <a:p>
            <a:endParaRPr lang="en-CN" sz="2000"/>
          </a:p>
        </p:txBody>
      </p:sp>
      <p:sp>
        <p:nvSpPr>
          <p:cNvPr id="52" name="Text 50"/>
          <p:cNvSpPr/>
          <p:nvPr/>
        </p:nvSpPr>
        <p:spPr>
          <a:xfrm>
            <a:off x="4142232" y="4572000"/>
            <a:ext cx="4663440" cy="347472"/>
          </a:xfrm>
          <a:prstGeom prst="rect">
            <a:avLst/>
          </a:prstGeom>
          <a:noFill/>
          <a:ln/>
        </p:spPr>
        <p:txBody>
          <a:bodyPr wrap="square" rtlCol="0" anchor="ctr"/>
          <a:lstStyle/>
          <a:p>
            <a:pPr marL="0" indent="0">
              <a:buNone/>
            </a:pPr>
            <a:r>
              <a:rPr lang="en-US" sz="1600" dirty="0">
                <a:solidFill>
                  <a:srgbClr val="1A2B3C"/>
                </a:solidFill>
                <a:latin typeface="Calibri" pitchFamily="34" charset="0"/>
                <a:ea typeface="Calibri" pitchFamily="34" charset="-122"/>
                <a:cs typeface="Calibri" pitchFamily="34" charset="-120"/>
              </a:rPr>
              <a:t>Weekly Time-Series → VAR + GNN Downstream</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66928"/>
          </a:xfrm>
          <a:prstGeom prst="rect">
            <a:avLst/>
          </a:prstGeom>
          <a:noFill/>
          <a:ln/>
        </p:spPr>
        <p:txBody>
          <a:bodyPr wrap="square" lIns="0" tIns="0" rIns="0" bIns="0" rtlCol="0" anchor="ctr"/>
          <a:lstStyle/>
          <a:p>
            <a:pPr marL="0" indent="0">
              <a:buNone/>
            </a:pPr>
            <a:r>
              <a:rPr lang="en-US" sz="2400" b="1" dirty="0">
                <a:solidFill>
                  <a:srgbClr val="0D2137"/>
                </a:solidFill>
                <a:latin typeface="Calibri" pitchFamily="34" charset="0"/>
                <a:ea typeface="Calibri" pitchFamily="34" charset="-122"/>
                <a:cs typeface="Calibri" pitchFamily="34" charset="-120"/>
              </a:rPr>
              <a:t>PART 1 — Model Architecture &amp; Hyperparameters</a:t>
            </a:r>
            <a:endParaRPr lang="en-US" sz="2400" dirty="0"/>
          </a:p>
        </p:txBody>
      </p:sp>
      <p:sp>
        <p:nvSpPr>
          <p:cNvPr id="3" name="Shape 1"/>
          <p:cNvSpPr/>
          <p:nvPr/>
        </p:nvSpPr>
        <p:spPr>
          <a:xfrm>
            <a:off x="457200" y="795528"/>
            <a:ext cx="8229600" cy="0"/>
          </a:xfrm>
          <a:prstGeom prst="line">
            <a:avLst/>
          </a:prstGeom>
          <a:noFill/>
          <a:ln w="25400">
            <a:solidFill>
              <a:srgbClr val="028090"/>
            </a:solidFill>
            <a:prstDash val="solid"/>
          </a:ln>
        </p:spPr>
        <p:txBody>
          <a:bodyPr/>
          <a:lstStyle/>
          <a:p>
            <a:endParaRPr lang="en-CN"/>
          </a:p>
        </p:txBody>
      </p:sp>
      <p:sp>
        <p:nvSpPr>
          <p:cNvPr id="4" name="Text 2"/>
          <p:cNvSpPr/>
          <p:nvPr/>
        </p:nvSpPr>
        <p:spPr>
          <a:xfrm>
            <a:off x="347472" y="932688"/>
            <a:ext cx="3931920" cy="320040"/>
          </a:xfrm>
          <a:prstGeom prst="rect">
            <a:avLst/>
          </a:prstGeom>
          <a:noFill/>
          <a:ln/>
        </p:spPr>
        <p:txBody>
          <a:bodyPr wrap="square" rtlCol="0" anchor="ctr"/>
          <a:lstStyle/>
          <a:p>
            <a:pPr marL="0" indent="0">
              <a:buNone/>
            </a:pPr>
            <a:r>
              <a:rPr lang="en-US" sz="1600" b="1" dirty="0">
                <a:solidFill>
                  <a:srgbClr val="0D2137"/>
                </a:solidFill>
                <a:latin typeface="Calibri" pitchFamily="34" charset="0"/>
                <a:ea typeface="Calibri" pitchFamily="34" charset="-122"/>
                <a:cs typeface="Calibri" pitchFamily="34" charset="-120"/>
              </a:rPr>
              <a:t>Model Architecture</a:t>
            </a:r>
            <a:endParaRPr lang="en-US" sz="1600" dirty="0"/>
          </a:p>
        </p:txBody>
      </p:sp>
      <p:sp>
        <p:nvSpPr>
          <p:cNvPr id="5" name="Shape 3"/>
          <p:cNvSpPr/>
          <p:nvPr/>
        </p:nvSpPr>
        <p:spPr>
          <a:xfrm>
            <a:off x="347472" y="1325880"/>
            <a:ext cx="3931920" cy="420624"/>
          </a:xfrm>
          <a:prstGeom prst="rect">
            <a:avLst/>
          </a:prstGeom>
          <a:solidFill>
            <a:srgbClr val="E8F4F8"/>
          </a:solidFill>
          <a:ln w="6350">
            <a:solidFill>
              <a:srgbClr val="B8D4DF"/>
            </a:solidFill>
            <a:prstDash val="solid"/>
          </a:ln>
          <a:effectLst>
            <a:outerShdw blurRad="76200" dist="25400" dir="8100000" algn="bl" rotWithShape="0">
              <a:srgbClr val="000000">
                <a:alpha val="12000"/>
              </a:srgbClr>
            </a:outerShdw>
          </a:effectLst>
        </p:spPr>
        <p:txBody>
          <a:bodyPr/>
          <a:lstStyle/>
          <a:p>
            <a:endParaRPr lang="en-CN" sz="1600"/>
          </a:p>
        </p:txBody>
      </p:sp>
      <p:sp>
        <p:nvSpPr>
          <p:cNvPr id="6" name="Text 4"/>
          <p:cNvSpPr/>
          <p:nvPr/>
        </p:nvSpPr>
        <p:spPr>
          <a:xfrm>
            <a:off x="347472" y="1325880"/>
            <a:ext cx="3931920" cy="420624"/>
          </a:xfrm>
          <a:prstGeom prst="rect">
            <a:avLst/>
          </a:prstGeom>
          <a:noFill/>
          <a:ln/>
        </p:spPr>
        <p:txBody>
          <a:bodyPr wrap="square" rtlCol="0" anchor="ctr"/>
          <a:lstStyle/>
          <a:p>
            <a:pPr marL="0" indent="0" algn="ctr">
              <a:buNone/>
            </a:pPr>
            <a:r>
              <a:rPr lang="en-US" sz="1600" dirty="0">
                <a:solidFill>
                  <a:srgbClr val="0D2137"/>
                </a:solidFill>
                <a:latin typeface="Calibri" pitchFamily="34" charset="0"/>
                <a:ea typeface="Calibri" pitchFamily="34" charset="-122"/>
                <a:cs typeface="Calibri" pitchFamily="34" charset="-120"/>
              </a:rPr>
              <a:t>Input: Reddit Post xᵢ</a:t>
            </a:r>
            <a:endParaRPr lang="en-US" sz="1600" dirty="0"/>
          </a:p>
        </p:txBody>
      </p:sp>
      <p:sp>
        <p:nvSpPr>
          <p:cNvPr id="7" name="Shape 5"/>
          <p:cNvSpPr/>
          <p:nvPr/>
        </p:nvSpPr>
        <p:spPr>
          <a:xfrm>
            <a:off x="2313432" y="1746504"/>
            <a:ext cx="0" cy="128016"/>
          </a:xfrm>
          <a:prstGeom prst="line">
            <a:avLst/>
          </a:prstGeom>
          <a:noFill/>
          <a:ln w="25400">
            <a:solidFill>
              <a:srgbClr val="028090"/>
            </a:solidFill>
            <a:prstDash val="solid"/>
          </a:ln>
        </p:spPr>
        <p:txBody>
          <a:bodyPr/>
          <a:lstStyle/>
          <a:p>
            <a:endParaRPr lang="en-CN"/>
          </a:p>
        </p:txBody>
      </p:sp>
      <p:sp>
        <p:nvSpPr>
          <p:cNvPr id="8" name="Shape 6"/>
          <p:cNvSpPr/>
          <p:nvPr/>
        </p:nvSpPr>
        <p:spPr>
          <a:xfrm>
            <a:off x="347472" y="1874520"/>
            <a:ext cx="3931920" cy="420624"/>
          </a:xfrm>
          <a:prstGeom prst="rect">
            <a:avLst/>
          </a:prstGeom>
          <a:solidFill>
            <a:srgbClr val="D0EAF0"/>
          </a:solidFill>
          <a:ln w="6350">
            <a:solidFill>
              <a:srgbClr val="B8D4DF"/>
            </a:solidFill>
            <a:prstDash val="solid"/>
          </a:ln>
          <a:effectLst>
            <a:outerShdw blurRad="76200" dist="25400" dir="8100000" algn="bl" rotWithShape="0">
              <a:srgbClr val="000000">
                <a:alpha val="12000"/>
              </a:srgbClr>
            </a:outerShdw>
          </a:effectLst>
        </p:spPr>
        <p:txBody>
          <a:bodyPr/>
          <a:lstStyle/>
          <a:p>
            <a:endParaRPr lang="en-CN"/>
          </a:p>
        </p:txBody>
      </p:sp>
      <p:sp>
        <p:nvSpPr>
          <p:cNvPr id="9" name="Text 7"/>
          <p:cNvSpPr/>
          <p:nvPr/>
        </p:nvSpPr>
        <p:spPr>
          <a:xfrm>
            <a:off x="347472" y="1874520"/>
            <a:ext cx="3931920" cy="420624"/>
          </a:xfrm>
          <a:prstGeom prst="rect">
            <a:avLst/>
          </a:prstGeom>
          <a:noFill/>
          <a:ln/>
        </p:spPr>
        <p:txBody>
          <a:bodyPr wrap="square" rtlCol="0" anchor="ctr"/>
          <a:lstStyle/>
          <a:p>
            <a:pPr marL="0" indent="0" algn="ctr">
              <a:buNone/>
            </a:pPr>
            <a:r>
              <a:rPr lang="en-US" sz="1600" dirty="0">
                <a:solidFill>
                  <a:srgbClr val="0D2137"/>
                </a:solidFill>
                <a:latin typeface="Calibri" pitchFamily="34" charset="0"/>
                <a:ea typeface="Calibri" pitchFamily="34" charset="-122"/>
                <a:cs typeface="Calibri" pitchFamily="34" charset="-120"/>
              </a:rPr>
              <a:t>RoBERTa Tokenizer → [CLS] t₁…tₙ [SEP]</a:t>
            </a:r>
            <a:endParaRPr lang="en-US" sz="1600" dirty="0"/>
          </a:p>
        </p:txBody>
      </p:sp>
      <p:sp>
        <p:nvSpPr>
          <p:cNvPr id="10" name="Shape 8"/>
          <p:cNvSpPr/>
          <p:nvPr/>
        </p:nvSpPr>
        <p:spPr>
          <a:xfrm>
            <a:off x="2313432" y="2295144"/>
            <a:ext cx="0" cy="128016"/>
          </a:xfrm>
          <a:prstGeom prst="line">
            <a:avLst/>
          </a:prstGeom>
          <a:noFill/>
          <a:ln w="25400">
            <a:solidFill>
              <a:srgbClr val="028090"/>
            </a:solidFill>
            <a:prstDash val="solid"/>
          </a:ln>
        </p:spPr>
        <p:txBody>
          <a:bodyPr/>
          <a:lstStyle/>
          <a:p>
            <a:endParaRPr lang="en-CN"/>
          </a:p>
        </p:txBody>
      </p:sp>
      <p:sp>
        <p:nvSpPr>
          <p:cNvPr id="11" name="Shape 9"/>
          <p:cNvSpPr/>
          <p:nvPr/>
        </p:nvSpPr>
        <p:spPr>
          <a:xfrm>
            <a:off x="347472" y="2423160"/>
            <a:ext cx="3931920" cy="420624"/>
          </a:xfrm>
          <a:prstGeom prst="rect">
            <a:avLst/>
          </a:prstGeom>
          <a:solidFill>
            <a:srgbClr val="028090"/>
          </a:solidFill>
          <a:ln w="6350">
            <a:solidFill>
              <a:srgbClr val="B8D4DF"/>
            </a:solidFill>
            <a:prstDash val="solid"/>
          </a:ln>
          <a:effectLst>
            <a:outerShdw blurRad="76200" dist="25400" dir="8100000" algn="bl" rotWithShape="0">
              <a:srgbClr val="000000">
                <a:alpha val="12000"/>
              </a:srgbClr>
            </a:outerShdw>
          </a:effectLst>
        </p:spPr>
        <p:txBody>
          <a:bodyPr/>
          <a:lstStyle/>
          <a:p>
            <a:endParaRPr lang="en-CN"/>
          </a:p>
        </p:txBody>
      </p:sp>
      <p:sp>
        <p:nvSpPr>
          <p:cNvPr id="12" name="Text 10"/>
          <p:cNvSpPr/>
          <p:nvPr/>
        </p:nvSpPr>
        <p:spPr>
          <a:xfrm>
            <a:off x="347472" y="2423160"/>
            <a:ext cx="3931920" cy="420624"/>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RoBERTa Encoder — 12 Transformer Layers</a:t>
            </a:r>
            <a:endParaRPr lang="en-US" sz="1600" dirty="0"/>
          </a:p>
        </p:txBody>
      </p:sp>
      <p:sp>
        <p:nvSpPr>
          <p:cNvPr id="13" name="Shape 11"/>
          <p:cNvSpPr/>
          <p:nvPr/>
        </p:nvSpPr>
        <p:spPr>
          <a:xfrm>
            <a:off x="2313432" y="2843784"/>
            <a:ext cx="0" cy="128016"/>
          </a:xfrm>
          <a:prstGeom prst="line">
            <a:avLst/>
          </a:prstGeom>
          <a:noFill/>
          <a:ln w="25400">
            <a:solidFill>
              <a:srgbClr val="028090"/>
            </a:solidFill>
            <a:prstDash val="solid"/>
          </a:ln>
        </p:spPr>
        <p:txBody>
          <a:bodyPr/>
          <a:lstStyle/>
          <a:p>
            <a:endParaRPr lang="en-CN"/>
          </a:p>
        </p:txBody>
      </p:sp>
      <p:sp>
        <p:nvSpPr>
          <p:cNvPr id="14" name="Shape 12"/>
          <p:cNvSpPr/>
          <p:nvPr/>
        </p:nvSpPr>
        <p:spPr>
          <a:xfrm>
            <a:off x="347472" y="2971800"/>
            <a:ext cx="3931920" cy="420624"/>
          </a:xfrm>
          <a:prstGeom prst="rect">
            <a:avLst/>
          </a:prstGeom>
          <a:solidFill>
            <a:srgbClr val="D0EAF0"/>
          </a:solidFill>
          <a:ln w="6350">
            <a:solidFill>
              <a:srgbClr val="B8D4DF"/>
            </a:solidFill>
            <a:prstDash val="solid"/>
          </a:ln>
          <a:effectLst>
            <a:outerShdw blurRad="76200" dist="25400" dir="8100000" algn="bl" rotWithShape="0">
              <a:srgbClr val="000000">
                <a:alpha val="12000"/>
              </a:srgbClr>
            </a:outerShdw>
          </a:effectLst>
        </p:spPr>
        <p:txBody>
          <a:bodyPr/>
          <a:lstStyle/>
          <a:p>
            <a:endParaRPr lang="en-CN" sz="1600"/>
          </a:p>
        </p:txBody>
      </p:sp>
      <p:sp>
        <p:nvSpPr>
          <p:cNvPr id="15" name="Text 13"/>
          <p:cNvSpPr/>
          <p:nvPr/>
        </p:nvSpPr>
        <p:spPr>
          <a:xfrm>
            <a:off x="347472" y="2971800"/>
            <a:ext cx="3931920" cy="420624"/>
          </a:xfrm>
          <a:prstGeom prst="rect">
            <a:avLst/>
          </a:prstGeom>
          <a:noFill/>
          <a:ln/>
        </p:spPr>
        <p:txBody>
          <a:bodyPr wrap="square" rtlCol="0" anchor="ctr"/>
          <a:lstStyle/>
          <a:p>
            <a:pPr marL="0" indent="0" algn="ctr">
              <a:buNone/>
            </a:pPr>
            <a:r>
              <a:rPr lang="en-US" sz="1600" dirty="0">
                <a:solidFill>
                  <a:srgbClr val="0D2137"/>
                </a:solidFill>
                <a:latin typeface="Calibri" pitchFamily="34" charset="0"/>
                <a:ea typeface="Calibri" pitchFamily="34" charset="-122"/>
                <a:cs typeface="Calibri" pitchFamily="34" charset="-120"/>
              </a:rPr>
              <a:t>hᵢ = Encoder(xᵢ)  [768-dim representation]</a:t>
            </a:r>
            <a:endParaRPr lang="en-US" sz="1600" dirty="0"/>
          </a:p>
        </p:txBody>
      </p:sp>
      <p:sp>
        <p:nvSpPr>
          <p:cNvPr id="16" name="Shape 14"/>
          <p:cNvSpPr/>
          <p:nvPr/>
        </p:nvSpPr>
        <p:spPr>
          <a:xfrm>
            <a:off x="2313432" y="3392424"/>
            <a:ext cx="0" cy="128016"/>
          </a:xfrm>
          <a:prstGeom prst="line">
            <a:avLst/>
          </a:prstGeom>
          <a:noFill/>
          <a:ln w="25400">
            <a:solidFill>
              <a:srgbClr val="028090"/>
            </a:solidFill>
            <a:prstDash val="solid"/>
          </a:ln>
        </p:spPr>
        <p:txBody>
          <a:bodyPr/>
          <a:lstStyle/>
          <a:p>
            <a:endParaRPr lang="en-CN"/>
          </a:p>
        </p:txBody>
      </p:sp>
      <p:sp>
        <p:nvSpPr>
          <p:cNvPr id="17" name="Shape 15"/>
          <p:cNvSpPr/>
          <p:nvPr/>
        </p:nvSpPr>
        <p:spPr>
          <a:xfrm>
            <a:off x="347472" y="3520440"/>
            <a:ext cx="3931920" cy="420624"/>
          </a:xfrm>
          <a:prstGeom prst="rect">
            <a:avLst/>
          </a:prstGeom>
          <a:solidFill>
            <a:srgbClr val="E8F4F8"/>
          </a:solidFill>
          <a:ln w="6350">
            <a:solidFill>
              <a:srgbClr val="B8D4DF"/>
            </a:solidFill>
            <a:prstDash val="solid"/>
          </a:ln>
          <a:effectLst>
            <a:outerShdw blurRad="76200" dist="25400" dir="8100000" algn="bl" rotWithShape="0">
              <a:srgbClr val="000000">
                <a:alpha val="12000"/>
              </a:srgbClr>
            </a:outerShdw>
          </a:effectLst>
        </p:spPr>
        <p:txBody>
          <a:bodyPr/>
          <a:lstStyle/>
          <a:p>
            <a:endParaRPr lang="en-CN" sz="1600"/>
          </a:p>
        </p:txBody>
      </p:sp>
      <p:sp>
        <p:nvSpPr>
          <p:cNvPr id="18" name="Text 16"/>
          <p:cNvSpPr/>
          <p:nvPr/>
        </p:nvSpPr>
        <p:spPr>
          <a:xfrm>
            <a:off x="347472" y="3520440"/>
            <a:ext cx="3931920" cy="420624"/>
          </a:xfrm>
          <a:prstGeom prst="rect">
            <a:avLst/>
          </a:prstGeom>
          <a:noFill/>
          <a:ln/>
        </p:spPr>
        <p:txBody>
          <a:bodyPr wrap="square" rtlCol="0" anchor="ctr"/>
          <a:lstStyle/>
          <a:p>
            <a:pPr marL="0" indent="0" algn="ctr">
              <a:buNone/>
            </a:pPr>
            <a:r>
              <a:rPr lang="en-US" sz="1600" dirty="0">
                <a:solidFill>
                  <a:srgbClr val="0D2137"/>
                </a:solidFill>
                <a:latin typeface="Calibri" pitchFamily="34" charset="0"/>
                <a:ea typeface="Calibri" pitchFamily="34" charset="-122"/>
                <a:cs typeface="Calibri" pitchFamily="34" charset="-120"/>
              </a:rPr>
              <a:t>Classification Head: zᵢ = Whᵢ + b</a:t>
            </a:r>
            <a:endParaRPr lang="en-US" sz="1600" dirty="0"/>
          </a:p>
        </p:txBody>
      </p:sp>
      <p:sp>
        <p:nvSpPr>
          <p:cNvPr id="19" name="Shape 17"/>
          <p:cNvSpPr/>
          <p:nvPr/>
        </p:nvSpPr>
        <p:spPr>
          <a:xfrm>
            <a:off x="2313432" y="3941064"/>
            <a:ext cx="0" cy="128016"/>
          </a:xfrm>
          <a:prstGeom prst="line">
            <a:avLst/>
          </a:prstGeom>
          <a:noFill/>
          <a:ln w="25400">
            <a:solidFill>
              <a:srgbClr val="028090"/>
            </a:solidFill>
            <a:prstDash val="solid"/>
          </a:ln>
        </p:spPr>
        <p:txBody>
          <a:bodyPr/>
          <a:lstStyle/>
          <a:p>
            <a:endParaRPr lang="en-CN"/>
          </a:p>
        </p:txBody>
      </p:sp>
      <p:sp>
        <p:nvSpPr>
          <p:cNvPr id="20" name="Shape 18"/>
          <p:cNvSpPr/>
          <p:nvPr/>
        </p:nvSpPr>
        <p:spPr>
          <a:xfrm>
            <a:off x="347472" y="4069080"/>
            <a:ext cx="3931920" cy="420624"/>
          </a:xfrm>
          <a:prstGeom prst="rect">
            <a:avLst/>
          </a:prstGeom>
          <a:solidFill>
            <a:srgbClr val="02C39A"/>
          </a:solidFill>
          <a:ln w="6350">
            <a:solidFill>
              <a:srgbClr val="B8D4DF"/>
            </a:solidFill>
            <a:prstDash val="solid"/>
          </a:ln>
          <a:effectLst>
            <a:outerShdw blurRad="76200" dist="25400" dir="8100000" algn="bl" rotWithShape="0">
              <a:srgbClr val="000000">
                <a:alpha val="12000"/>
              </a:srgbClr>
            </a:outerShdw>
          </a:effectLst>
        </p:spPr>
        <p:txBody>
          <a:bodyPr/>
          <a:lstStyle/>
          <a:p>
            <a:endParaRPr lang="en-CN"/>
          </a:p>
        </p:txBody>
      </p:sp>
      <p:sp>
        <p:nvSpPr>
          <p:cNvPr id="21" name="Text 19"/>
          <p:cNvSpPr/>
          <p:nvPr/>
        </p:nvSpPr>
        <p:spPr>
          <a:xfrm>
            <a:off x="347472" y="4069080"/>
            <a:ext cx="3931920" cy="420624"/>
          </a:xfrm>
          <a:prstGeom prst="rect">
            <a:avLst/>
          </a:prstGeom>
          <a:noFill/>
          <a:ln/>
        </p:spPr>
        <p:txBody>
          <a:bodyPr wrap="square" rtlCol="0" anchor="ctr"/>
          <a:lstStyle/>
          <a:p>
            <a:pPr marL="0" indent="0" algn="ctr">
              <a:buNone/>
            </a:pPr>
            <a:r>
              <a:rPr lang="en-US" sz="1600" b="1" dirty="0">
                <a:solidFill>
                  <a:srgbClr val="0D2137"/>
                </a:solidFill>
                <a:latin typeface="Calibri" pitchFamily="34" charset="0"/>
                <a:ea typeface="Calibri" pitchFamily="34" charset="-122"/>
                <a:cs typeface="Calibri" pitchFamily="34" charset="-120"/>
              </a:rPr>
              <a:t>P(yᵢ=1|xᵢ) = softmax(zᵢ)₁</a:t>
            </a:r>
            <a:endParaRPr lang="en-US" sz="1600" dirty="0"/>
          </a:p>
        </p:txBody>
      </p:sp>
      <p:sp>
        <p:nvSpPr>
          <p:cNvPr id="22" name="Text 20"/>
          <p:cNvSpPr/>
          <p:nvPr/>
        </p:nvSpPr>
        <p:spPr>
          <a:xfrm>
            <a:off x="4480560" y="932688"/>
            <a:ext cx="4389120" cy="320040"/>
          </a:xfrm>
          <a:prstGeom prst="rect">
            <a:avLst/>
          </a:prstGeom>
          <a:noFill/>
          <a:ln/>
        </p:spPr>
        <p:txBody>
          <a:bodyPr wrap="square" rtlCol="0" anchor="ctr"/>
          <a:lstStyle/>
          <a:p>
            <a:pPr marL="0" indent="0">
              <a:buNone/>
            </a:pPr>
            <a:r>
              <a:rPr lang="en-US" sz="1400" b="1" dirty="0">
                <a:solidFill>
                  <a:srgbClr val="0D2137"/>
                </a:solidFill>
                <a:latin typeface="Calibri" pitchFamily="34" charset="0"/>
                <a:ea typeface="Calibri" pitchFamily="34" charset="-122"/>
                <a:cs typeface="Calibri" pitchFamily="34" charset="-120"/>
              </a:rPr>
              <a:t>Hyperparameter Settings</a:t>
            </a:r>
            <a:endParaRPr lang="en-US" sz="1400" dirty="0"/>
          </a:p>
        </p:txBody>
      </p:sp>
      <p:graphicFrame>
        <p:nvGraphicFramePr>
          <p:cNvPr id="23" name="Table 0"/>
          <p:cNvGraphicFramePr>
            <a:graphicFrameLocks noGrp="1"/>
          </p:cNvGraphicFramePr>
          <p:nvPr>
            <p:extLst>
              <p:ext uri="{D42A27DB-BD31-4B8C-83A1-F6EECF244321}">
                <p14:modId xmlns:p14="http://schemas.microsoft.com/office/powerpoint/2010/main" val="3807578494"/>
              </p:ext>
            </p:extLst>
          </p:nvPr>
        </p:nvGraphicFramePr>
        <p:xfrm>
          <a:off x="4480560" y="1325880"/>
          <a:ext cx="4389120" cy="3840480"/>
        </p:xfrm>
        <a:graphic>
          <a:graphicData uri="http://schemas.openxmlformats.org/drawingml/2006/table">
            <a:tbl>
              <a:tblPr/>
              <a:tblGrid>
                <a:gridCol w="1538403">
                  <a:extLst>
                    <a:ext uri="{9D8B030D-6E8A-4147-A177-3AD203B41FA5}">
                      <a16:colId xmlns:a16="http://schemas.microsoft.com/office/drawing/2014/main" val="20000"/>
                    </a:ext>
                  </a:extLst>
                </a:gridCol>
                <a:gridCol w="1386672">
                  <a:extLst>
                    <a:ext uri="{9D8B030D-6E8A-4147-A177-3AD203B41FA5}">
                      <a16:colId xmlns:a16="http://schemas.microsoft.com/office/drawing/2014/main" val="20001"/>
                    </a:ext>
                  </a:extLst>
                </a:gridCol>
                <a:gridCol w="1464045">
                  <a:extLst>
                    <a:ext uri="{9D8B030D-6E8A-4147-A177-3AD203B41FA5}">
                      <a16:colId xmlns:a16="http://schemas.microsoft.com/office/drawing/2014/main" val="20002"/>
                    </a:ext>
                  </a:extLst>
                </a:gridCol>
              </a:tblGrid>
              <a:tr h="384048">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Hyperparameter</a:t>
                      </a:r>
                      <a:endParaRPr lang="en-US" sz="1200" dirty="0">
                        <a:latin typeface="Calibri" charset="0"/>
                        <a:ea typeface="Calibri" charset="0"/>
                        <a:cs typeface="Calibri" charset="0"/>
                      </a:endParaRPr>
                    </a:p>
                  </a:txBody>
                  <a:tcPr>
                    <a:lnL w="6350" cap="flat" cmpd="sng" algn="ctr">
                      <a:solidFill>
                        <a:srgbClr val="C8DCE8"/>
                      </a:solidFill>
                      <a:prstDash val="solid"/>
                      <a:round/>
                      <a:headEnd type="none" w="med" len="med"/>
                      <a:tailEnd type="none" w="med" len="med"/>
                    </a:lnL>
                    <a:lnR w="6350" cap="flat" cmpd="sng" algn="ctr">
                      <a:solidFill>
                        <a:srgbClr val="C8DCE8"/>
                      </a:solidFill>
                      <a:prstDash val="solid"/>
                      <a:round/>
                      <a:headEnd type="none" w="med" len="med"/>
                      <a:tailEnd type="none" w="med" len="med"/>
                    </a:lnR>
                    <a:lnT w="6350" cap="flat" cmpd="sng" algn="ctr">
                      <a:solidFill>
                        <a:srgbClr val="C8DCE8"/>
                      </a:solidFill>
                      <a:prstDash val="solid"/>
                      <a:round/>
                      <a:headEnd type="none" w="med" len="med"/>
                      <a:tailEnd type="none" w="med" len="med"/>
                    </a:lnT>
                    <a:lnB w="6350" cap="flat" cmpd="sng" algn="ctr">
                      <a:solidFill>
                        <a:srgbClr val="C8DCE8"/>
                      </a:solidFill>
                      <a:prstDash val="solid"/>
                      <a:round/>
                      <a:headEnd type="none" w="med" len="med"/>
                      <a:tailEnd type="none" w="med" len="med"/>
                    </a:lnB>
                    <a:solidFill>
                      <a:srgbClr val="0D2137"/>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Baseline</a:t>
                      </a:r>
                      <a:endParaRPr lang="en-US" sz="1200" dirty="0">
                        <a:latin typeface="Calibri" charset="0"/>
                        <a:ea typeface="Calibri" charset="0"/>
                        <a:cs typeface="Calibri" charset="0"/>
                      </a:endParaRPr>
                    </a:p>
                  </a:txBody>
                  <a:tcPr>
                    <a:lnL w="6350" cap="flat" cmpd="sng" algn="ctr">
                      <a:solidFill>
                        <a:srgbClr val="C8DCE8"/>
                      </a:solidFill>
                      <a:prstDash val="solid"/>
                      <a:round/>
                      <a:headEnd type="none" w="med" len="med"/>
                      <a:tailEnd type="none" w="med" len="med"/>
                    </a:lnL>
                    <a:lnR w="6350" cap="flat" cmpd="sng" algn="ctr">
                      <a:solidFill>
                        <a:srgbClr val="C8DCE8"/>
                      </a:solidFill>
                      <a:prstDash val="solid"/>
                      <a:round/>
                      <a:headEnd type="none" w="med" len="med"/>
                      <a:tailEnd type="none" w="med" len="med"/>
                    </a:lnR>
                    <a:lnT w="6350" cap="flat" cmpd="sng" algn="ctr">
                      <a:solidFill>
                        <a:srgbClr val="C8DCE8"/>
                      </a:solidFill>
                      <a:prstDash val="solid"/>
                      <a:round/>
                      <a:headEnd type="none" w="med" len="med"/>
                      <a:tailEnd type="none" w="med" len="med"/>
                    </a:lnT>
                    <a:lnB w="6350" cap="flat" cmpd="sng" algn="ctr">
                      <a:solidFill>
                        <a:srgbClr val="C8DCE8"/>
                      </a:solidFill>
                      <a:prstDash val="solid"/>
                      <a:round/>
                      <a:headEnd type="none" w="med" len="med"/>
                      <a:tailEnd type="none" w="med" len="med"/>
                    </a:lnB>
                    <a:solidFill>
                      <a:srgbClr val="5A7080"/>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Improved</a:t>
                      </a:r>
                      <a:endParaRPr lang="en-US" sz="1200" dirty="0">
                        <a:latin typeface="Calibri" charset="0"/>
                        <a:ea typeface="Calibri" charset="0"/>
                        <a:cs typeface="Calibri" charset="0"/>
                      </a:endParaRPr>
                    </a:p>
                  </a:txBody>
                  <a:tcPr>
                    <a:lnL w="6350" cap="flat" cmpd="sng" algn="ctr">
                      <a:solidFill>
                        <a:srgbClr val="C8DCE8"/>
                      </a:solidFill>
                      <a:prstDash val="solid"/>
                      <a:round/>
                      <a:headEnd type="none" w="med" len="med"/>
                      <a:tailEnd type="none" w="med" len="med"/>
                    </a:lnL>
                    <a:lnR w="6350" cap="flat" cmpd="sng" algn="ctr">
                      <a:solidFill>
                        <a:srgbClr val="C8DCE8"/>
                      </a:solidFill>
                      <a:prstDash val="solid"/>
                      <a:round/>
                      <a:headEnd type="none" w="med" len="med"/>
                      <a:tailEnd type="none" w="med" len="med"/>
                    </a:lnR>
                    <a:lnT w="6350" cap="flat" cmpd="sng" algn="ctr">
                      <a:solidFill>
                        <a:srgbClr val="C8DCE8"/>
                      </a:solidFill>
                      <a:prstDash val="solid"/>
                      <a:round/>
                      <a:headEnd type="none" w="med" len="med"/>
                      <a:tailEnd type="none" w="med" len="med"/>
                    </a:lnT>
                    <a:lnB w="6350" cap="flat" cmpd="sng" algn="ctr">
                      <a:solidFill>
                        <a:srgbClr val="C8DCE8"/>
                      </a:solidFill>
                      <a:prstDash val="solid"/>
                      <a:round/>
                      <a:headEnd type="none" w="med" len="med"/>
                      <a:tailEnd type="none" w="med" len="med"/>
                    </a:lnB>
                    <a:solidFill>
                      <a:srgbClr val="028090"/>
                    </a:solidFill>
                  </a:tcPr>
                </a:tc>
                <a:extLst>
                  <a:ext uri="{0D108BD9-81ED-4DB2-BD59-A6C34878D82A}">
                    <a16:rowId xmlns:a16="http://schemas.microsoft.com/office/drawing/2014/main" val="10000"/>
                  </a:ext>
                </a:extLst>
              </a:tr>
              <a:tr h="384048">
                <a:tc>
                  <a:txBody>
                    <a:bodyPr/>
                    <a:lstStyle/>
                    <a:p>
                      <a:pPr marL="0" indent="0" algn="ctr">
                        <a:buNone/>
                      </a:pPr>
                      <a:r>
                        <a:rPr lang="en-US" sz="1200" dirty="0">
                          <a:solidFill>
                            <a:srgbClr val="1A2B3C"/>
                          </a:solidFill>
                          <a:latin typeface="Calibri" pitchFamily="34" charset="0"/>
                          <a:ea typeface="Calibri" pitchFamily="34" charset="-122"/>
                          <a:cs typeface="Calibri" pitchFamily="34" charset="-120"/>
                        </a:rPr>
                        <a:t>Model</a:t>
                      </a:r>
                      <a:endParaRPr lang="en-US" sz="1200" dirty="0">
                        <a:latin typeface="Calibri" charset="0"/>
                        <a:ea typeface="Calibri" charset="0"/>
                        <a:cs typeface="Calibri" charset="0"/>
                      </a:endParaRPr>
                    </a:p>
                  </a:txBody>
                  <a:tcPr>
                    <a:lnL w="6350" cap="flat" cmpd="sng" algn="ctr">
                      <a:solidFill>
                        <a:srgbClr val="C8DCE8"/>
                      </a:solidFill>
                      <a:prstDash val="solid"/>
                      <a:round/>
                      <a:headEnd type="none" w="med" len="med"/>
                      <a:tailEnd type="none" w="med" len="med"/>
                    </a:lnL>
                    <a:lnR w="6350" cap="flat" cmpd="sng" algn="ctr">
                      <a:solidFill>
                        <a:srgbClr val="C8DCE8"/>
                      </a:solidFill>
                      <a:prstDash val="solid"/>
                      <a:round/>
                      <a:headEnd type="none" w="med" len="med"/>
                      <a:tailEnd type="none" w="med" len="med"/>
                    </a:lnR>
                    <a:lnT w="6350" cap="flat" cmpd="sng" algn="ctr">
                      <a:solidFill>
                        <a:srgbClr val="C8DCE8"/>
                      </a:solidFill>
                      <a:prstDash val="solid"/>
                      <a:round/>
                      <a:headEnd type="none" w="med" len="med"/>
                      <a:tailEnd type="none" w="med" len="med"/>
                    </a:lnT>
                    <a:lnB w="6350" cap="flat" cmpd="sng" algn="ctr">
                      <a:solidFill>
                        <a:srgbClr val="C8DCE8"/>
                      </a:solidFill>
                      <a:prstDash val="solid"/>
                      <a:round/>
                      <a:headEnd type="none" w="med" len="med"/>
                      <a:tailEnd type="none" w="med" len="med"/>
                    </a:lnB>
                  </a:tcPr>
                </a:tc>
                <a:tc>
                  <a:txBody>
                    <a:bodyPr/>
                    <a:lstStyle/>
                    <a:p>
                      <a:pPr marL="0" indent="0" algn="ctr">
                        <a:buNone/>
                      </a:pPr>
                      <a:r>
                        <a:rPr lang="en-US" sz="1200" dirty="0">
                          <a:solidFill>
                            <a:srgbClr val="1A2B3C"/>
                          </a:solidFill>
                          <a:latin typeface="Calibri" pitchFamily="34" charset="0"/>
                          <a:ea typeface="Calibri" pitchFamily="34" charset="-122"/>
                          <a:cs typeface="Calibri" pitchFamily="34" charset="-120"/>
                        </a:rPr>
                        <a:t>RoBERTa-base</a:t>
                      </a:r>
                      <a:endParaRPr lang="en-US" sz="1200" dirty="0">
                        <a:latin typeface="Calibri" charset="0"/>
                        <a:ea typeface="Calibri" charset="0"/>
                        <a:cs typeface="Calibri" charset="0"/>
                      </a:endParaRPr>
                    </a:p>
                  </a:txBody>
                  <a:tcPr>
                    <a:lnL w="6350" cap="flat" cmpd="sng" algn="ctr">
                      <a:solidFill>
                        <a:srgbClr val="C8DCE8"/>
                      </a:solidFill>
                      <a:prstDash val="solid"/>
                      <a:round/>
                      <a:headEnd type="none" w="med" len="med"/>
                      <a:tailEnd type="none" w="med" len="med"/>
                    </a:lnL>
                    <a:lnR w="6350" cap="flat" cmpd="sng" algn="ctr">
                      <a:solidFill>
                        <a:srgbClr val="C8DCE8"/>
                      </a:solidFill>
                      <a:prstDash val="solid"/>
                      <a:round/>
                      <a:headEnd type="none" w="med" len="med"/>
                      <a:tailEnd type="none" w="med" len="med"/>
                    </a:lnR>
                    <a:lnT w="6350" cap="flat" cmpd="sng" algn="ctr">
                      <a:solidFill>
                        <a:srgbClr val="C8DCE8"/>
                      </a:solidFill>
                      <a:prstDash val="solid"/>
                      <a:round/>
                      <a:headEnd type="none" w="med" len="med"/>
                      <a:tailEnd type="none" w="med" len="med"/>
                    </a:lnT>
                    <a:lnB w="6350" cap="flat" cmpd="sng" algn="ctr">
                      <a:solidFill>
                        <a:srgbClr val="C8DCE8"/>
                      </a:solidFill>
                      <a:prstDash val="solid"/>
                      <a:round/>
                      <a:headEnd type="none" w="med" len="med"/>
                      <a:tailEnd type="none" w="med" len="med"/>
                    </a:lnB>
                  </a:tcPr>
                </a:tc>
                <a:tc>
                  <a:txBody>
                    <a:bodyPr/>
                    <a:lstStyle/>
                    <a:p>
                      <a:pPr marL="0" indent="0" algn="ctr">
                        <a:buNone/>
                      </a:pPr>
                      <a:r>
                        <a:rPr lang="en-US" sz="1200" dirty="0">
                          <a:solidFill>
                            <a:srgbClr val="1A2B3C"/>
                          </a:solidFill>
                          <a:latin typeface="Calibri" pitchFamily="34" charset="0"/>
                          <a:ea typeface="Calibri" pitchFamily="34" charset="-122"/>
                          <a:cs typeface="Calibri" pitchFamily="34" charset="-120"/>
                        </a:rPr>
                        <a:t>RoBERTa-base</a:t>
                      </a:r>
                      <a:endParaRPr lang="en-US" sz="1200" dirty="0">
                        <a:latin typeface="Calibri" charset="0"/>
                        <a:ea typeface="Calibri" charset="0"/>
                        <a:cs typeface="Calibri" charset="0"/>
                      </a:endParaRPr>
                    </a:p>
                  </a:txBody>
                  <a:tcPr>
                    <a:lnL w="6350" cap="flat" cmpd="sng" algn="ctr">
                      <a:solidFill>
                        <a:srgbClr val="C8DCE8"/>
                      </a:solidFill>
                      <a:prstDash val="solid"/>
                      <a:round/>
                      <a:headEnd type="none" w="med" len="med"/>
                      <a:tailEnd type="none" w="med" len="med"/>
                    </a:lnL>
                    <a:lnR w="6350" cap="flat" cmpd="sng" algn="ctr">
                      <a:solidFill>
                        <a:srgbClr val="C8DCE8"/>
                      </a:solidFill>
                      <a:prstDash val="solid"/>
                      <a:round/>
                      <a:headEnd type="none" w="med" len="med"/>
                      <a:tailEnd type="none" w="med" len="med"/>
                    </a:lnR>
                    <a:lnT w="6350" cap="flat" cmpd="sng" algn="ctr">
                      <a:solidFill>
                        <a:srgbClr val="C8DCE8"/>
                      </a:solidFill>
                      <a:prstDash val="solid"/>
                      <a:round/>
                      <a:headEnd type="none" w="med" len="med"/>
                      <a:tailEnd type="none" w="med" len="med"/>
                    </a:lnT>
                    <a:lnB w="6350" cap="flat" cmpd="sng" algn="ctr">
                      <a:solidFill>
                        <a:srgbClr val="C8DCE8"/>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lgn="ctr">
                        <a:buNone/>
                      </a:pPr>
                      <a:r>
                        <a:rPr lang="en-US" sz="1200" dirty="0">
                          <a:solidFill>
                            <a:srgbClr val="1A2B3C"/>
                          </a:solidFill>
                          <a:latin typeface="Calibri" pitchFamily="34" charset="0"/>
                          <a:ea typeface="Calibri" pitchFamily="34" charset="-122"/>
                          <a:cs typeface="Calibri" pitchFamily="34" charset="-120"/>
                        </a:rPr>
                        <a:t>Batch size</a:t>
                      </a:r>
                      <a:endParaRPr lang="en-US" sz="1200" dirty="0">
                        <a:latin typeface="Calibri" charset="0"/>
                        <a:ea typeface="Calibri" charset="0"/>
                        <a:cs typeface="Calibri" charset="0"/>
                      </a:endParaRPr>
                    </a:p>
                  </a:txBody>
                  <a:tcPr>
                    <a:lnL w="6350" cap="flat" cmpd="sng" algn="ctr">
                      <a:solidFill>
                        <a:srgbClr val="C8DCE8"/>
                      </a:solidFill>
                      <a:prstDash val="solid"/>
                      <a:round/>
                      <a:headEnd type="none" w="med" len="med"/>
                      <a:tailEnd type="none" w="med" len="med"/>
                    </a:lnL>
                    <a:lnR w="6350" cap="flat" cmpd="sng" algn="ctr">
                      <a:solidFill>
                        <a:srgbClr val="C8DCE8"/>
                      </a:solidFill>
                      <a:prstDash val="solid"/>
                      <a:round/>
                      <a:headEnd type="none" w="med" len="med"/>
                      <a:tailEnd type="none" w="med" len="med"/>
                    </a:lnR>
                    <a:lnT w="6350" cap="flat" cmpd="sng" algn="ctr">
                      <a:solidFill>
                        <a:srgbClr val="C8DCE8"/>
                      </a:solidFill>
                      <a:prstDash val="solid"/>
                      <a:round/>
                      <a:headEnd type="none" w="med" len="med"/>
                      <a:tailEnd type="none" w="med" len="med"/>
                    </a:lnT>
                    <a:lnB w="6350" cap="flat" cmpd="sng" algn="ctr">
                      <a:solidFill>
                        <a:srgbClr val="C8DCE8"/>
                      </a:solidFill>
                      <a:prstDash val="solid"/>
                      <a:round/>
                      <a:headEnd type="none" w="med" len="med"/>
                      <a:tailEnd type="none" w="med" len="med"/>
                    </a:lnB>
                  </a:tcPr>
                </a:tc>
                <a:tc>
                  <a:txBody>
                    <a:bodyPr/>
                    <a:lstStyle/>
                    <a:p>
                      <a:pPr marL="0" indent="0" algn="ctr">
                        <a:buNone/>
                      </a:pPr>
                      <a:r>
                        <a:rPr lang="en-US" sz="1200" dirty="0">
                          <a:solidFill>
                            <a:srgbClr val="1A2B3C"/>
                          </a:solidFill>
                          <a:latin typeface="Calibri" pitchFamily="34" charset="0"/>
                          <a:ea typeface="Calibri" pitchFamily="34" charset="-122"/>
                          <a:cs typeface="Calibri" pitchFamily="34" charset="-120"/>
                        </a:rPr>
                        <a:t>16</a:t>
                      </a:r>
                      <a:endParaRPr lang="en-US" sz="1200" dirty="0">
                        <a:latin typeface="Calibri" charset="0"/>
                        <a:ea typeface="Calibri" charset="0"/>
                        <a:cs typeface="Calibri" charset="0"/>
                      </a:endParaRPr>
                    </a:p>
                  </a:txBody>
                  <a:tcPr>
                    <a:lnL w="6350" cap="flat" cmpd="sng" algn="ctr">
                      <a:solidFill>
                        <a:srgbClr val="C8DCE8"/>
                      </a:solidFill>
                      <a:prstDash val="solid"/>
                      <a:round/>
                      <a:headEnd type="none" w="med" len="med"/>
                      <a:tailEnd type="none" w="med" len="med"/>
                    </a:lnL>
                    <a:lnR w="6350" cap="flat" cmpd="sng" algn="ctr">
                      <a:solidFill>
                        <a:srgbClr val="C8DCE8"/>
                      </a:solidFill>
                      <a:prstDash val="solid"/>
                      <a:round/>
                      <a:headEnd type="none" w="med" len="med"/>
                      <a:tailEnd type="none" w="med" len="med"/>
                    </a:lnR>
                    <a:lnT w="6350" cap="flat" cmpd="sng" algn="ctr">
                      <a:solidFill>
                        <a:srgbClr val="C8DCE8"/>
                      </a:solidFill>
                      <a:prstDash val="solid"/>
                      <a:round/>
                      <a:headEnd type="none" w="med" len="med"/>
                      <a:tailEnd type="none" w="med" len="med"/>
                    </a:lnT>
                    <a:lnB w="6350" cap="flat" cmpd="sng" algn="ctr">
                      <a:solidFill>
                        <a:srgbClr val="C8DCE8"/>
                      </a:solidFill>
                      <a:prstDash val="solid"/>
                      <a:round/>
                      <a:headEnd type="none" w="med" len="med"/>
                      <a:tailEnd type="none" w="med" len="med"/>
                    </a:lnB>
                  </a:tcPr>
                </a:tc>
                <a:tc>
                  <a:txBody>
                    <a:bodyPr/>
                    <a:lstStyle/>
                    <a:p>
                      <a:pPr marL="0" indent="0" algn="ctr">
                        <a:buNone/>
                      </a:pPr>
                      <a:r>
                        <a:rPr lang="en-US" sz="1200" dirty="0">
                          <a:solidFill>
                            <a:srgbClr val="1A2B3C"/>
                          </a:solidFill>
                          <a:latin typeface="Calibri" pitchFamily="34" charset="0"/>
                          <a:ea typeface="Calibri" pitchFamily="34" charset="-122"/>
                          <a:cs typeface="Calibri" pitchFamily="34" charset="-120"/>
                        </a:rPr>
                        <a:t>16</a:t>
                      </a:r>
                      <a:endParaRPr lang="en-US" sz="1200" dirty="0">
                        <a:latin typeface="Calibri" charset="0"/>
                        <a:ea typeface="Calibri" charset="0"/>
                        <a:cs typeface="Calibri" charset="0"/>
                      </a:endParaRPr>
                    </a:p>
                  </a:txBody>
                  <a:tcPr>
                    <a:lnL w="6350" cap="flat" cmpd="sng" algn="ctr">
                      <a:solidFill>
                        <a:srgbClr val="C8DCE8"/>
                      </a:solidFill>
                      <a:prstDash val="solid"/>
                      <a:round/>
                      <a:headEnd type="none" w="med" len="med"/>
                      <a:tailEnd type="none" w="med" len="med"/>
                    </a:lnL>
                    <a:lnR w="6350" cap="flat" cmpd="sng" algn="ctr">
                      <a:solidFill>
                        <a:srgbClr val="C8DCE8"/>
                      </a:solidFill>
                      <a:prstDash val="solid"/>
                      <a:round/>
                      <a:headEnd type="none" w="med" len="med"/>
                      <a:tailEnd type="none" w="med" len="med"/>
                    </a:lnR>
                    <a:lnT w="6350" cap="flat" cmpd="sng" algn="ctr">
                      <a:solidFill>
                        <a:srgbClr val="C8DCE8"/>
                      </a:solidFill>
                      <a:prstDash val="solid"/>
                      <a:round/>
                      <a:headEnd type="none" w="med" len="med"/>
                      <a:tailEnd type="none" w="med" len="med"/>
                    </a:lnT>
                    <a:lnB w="6350" cap="flat" cmpd="sng" algn="ctr">
                      <a:solidFill>
                        <a:srgbClr val="C8DCE8"/>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lgn="ctr">
                        <a:buNone/>
                      </a:pPr>
                      <a:r>
                        <a:rPr lang="en-US" sz="1200" dirty="0">
                          <a:solidFill>
                            <a:srgbClr val="1A2B3C"/>
                          </a:solidFill>
                          <a:latin typeface="Calibri" pitchFamily="34" charset="0"/>
                          <a:ea typeface="Calibri" pitchFamily="34" charset="-122"/>
                          <a:cs typeface="Calibri" pitchFamily="34" charset="-120"/>
                        </a:rPr>
                        <a:t>Learning rate</a:t>
                      </a:r>
                      <a:endParaRPr lang="en-US" sz="1200" dirty="0">
                        <a:latin typeface="Calibri" charset="0"/>
                        <a:ea typeface="Calibri" charset="0"/>
                        <a:cs typeface="Calibri" charset="0"/>
                      </a:endParaRPr>
                    </a:p>
                  </a:txBody>
                  <a:tcPr>
                    <a:lnL w="6350" cap="flat" cmpd="sng" algn="ctr">
                      <a:solidFill>
                        <a:srgbClr val="C8DCE8"/>
                      </a:solidFill>
                      <a:prstDash val="solid"/>
                      <a:round/>
                      <a:headEnd type="none" w="med" len="med"/>
                      <a:tailEnd type="none" w="med" len="med"/>
                    </a:lnL>
                    <a:lnR w="6350" cap="flat" cmpd="sng" algn="ctr">
                      <a:solidFill>
                        <a:srgbClr val="C8DCE8"/>
                      </a:solidFill>
                      <a:prstDash val="solid"/>
                      <a:round/>
                      <a:headEnd type="none" w="med" len="med"/>
                      <a:tailEnd type="none" w="med" len="med"/>
                    </a:lnR>
                    <a:lnT w="6350" cap="flat" cmpd="sng" algn="ctr">
                      <a:solidFill>
                        <a:srgbClr val="C8DCE8"/>
                      </a:solidFill>
                      <a:prstDash val="solid"/>
                      <a:round/>
                      <a:headEnd type="none" w="med" len="med"/>
                      <a:tailEnd type="none" w="med" len="med"/>
                    </a:lnT>
                    <a:lnB w="6350" cap="flat" cmpd="sng" algn="ctr">
                      <a:solidFill>
                        <a:srgbClr val="C8DCE8"/>
                      </a:solidFill>
                      <a:prstDash val="solid"/>
                      <a:round/>
                      <a:headEnd type="none" w="med" len="med"/>
                      <a:tailEnd type="none" w="med" len="med"/>
                    </a:lnB>
                  </a:tcPr>
                </a:tc>
                <a:tc>
                  <a:txBody>
                    <a:bodyPr/>
                    <a:lstStyle/>
                    <a:p>
                      <a:pPr marL="0" indent="0" algn="ctr">
                        <a:buNone/>
                      </a:pPr>
                      <a:r>
                        <a:rPr lang="en-US" sz="1200" dirty="0">
                          <a:solidFill>
                            <a:srgbClr val="1A2B3C"/>
                          </a:solidFill>
                          <a:latin typeface="Calibri" pitchFamily="34" charset="0"/>
                          <a:ea typeface="Calibri" pitchFamily="34" charset="-122"/>
                          <a:cs typeface="Calibri" pitchFamily="34" charset="-120"/>
                        </a:rPr>
                        <a:t>2e-5</a:t>
                      </a:r>
                      <a:endParaRPr lang="en-US" sz="1200" dirty="0">
                        <a:latin typeface="Calibri" charset="0"/>
                        <a:ea typeface="Calibri" charset="0"/>
                        <a:cs typeface="Calibri" charset="0"/>
                      </a:endParaRPr>
                    </a:p>
                  </a:txBody>
                  <a:tcPr>
                    <a:lnL w="6350" cap="flat" cmpd="sng" algn="ctr">
                      <a:solidFill>
                        <a:srgbClr val="C8DCE8"/>
                      </a:solidFill>
                      <a:prstDash val="solid"/>
                      <a:round/>
                      <a:headEnd type="none" w="med" len="med"/>
                      <a:tailEnd type="none" w="med" len="med"/>
                    </a:lnL>
                    <a:lnR w="6350" cap="flat" cmpd="sng" algn="ctr">
                      <a:solidFill>
                        <a:srgbClr val="C8DCE8"/>
                      </a:solidFill>
                      <a:prstDash val="solid"/>
                      <a:round/>
                      <a:headEnd type="none" w="med" len="med"/>
                      <a:tailEnd type="none" w="med" len="med"/>
                    </a:lnR>
                    <a:lnT w="6350" cap="flat" cmpd="sng" algn="ctr">
                      <a:solidFill>
                        <a:srgbClr val="C8DCE8"/>
                      </a:solidFill>
                      <a:prstDash val="solid"/>
                      <a:round/>
                      <a:headEnd type="none" w="med" len="med"/>
                      <a:tailEnd type="none" w="med" len="med"/>
                    </a:lnT>
                    <a:lnB w="6350" cap="flat" cmpd="sng" algn="ctr">
                      <a:solidFill>
                        <a:srgbClr val="C8DCE8"/>
                      </a:solidFill>
                      <a:prstDash val="solid"/>
                      <a:round/>
                      <a:headEnd type="none" w="med" len="med"/>
                      <a:tailEnd type="none" w="med" len="med"/>
                    </a:lnB>
                  </a:tcPr>
                </a:tc>
                <a:tc>
                  <a:txBody>
                    <a:bodyPr/>
                    <a:lstStyle/>
                    <a:p>
                      <a:pPr marL="0" indent="0" algn="ctr">
                        <a:buNone/>
                      </a:pPr>
                      <a:r>
                        <a:rPr lang="en-US" sz="1200" dirty="0">
                          <a:solidFill>
                            <a:srgbClr val="1A2B3C"/>
                          </a:solidFill>
                          <a:latin typeface="Calibri" pitchFamily="34" charset="0"/>
                          <a:ea typeface="Calibri" pitchFamily="34" charset="-122"/>
                          <a:cs typeface="Calibri" pitchFamily="34" charset="-120"/>
                        </a:rPr>
                        <a:t>3e-5</a:t>
                      </a:r>
                      <a:endParaRPr lang="en-US" sz="1200" dirty="0">
                        <a:latin typeface="Calibri" charset="0"/>
                        <a:ea typeface="Calibri" charset="0"/>
                        <a:cs typeface="Calibri" charset="0"/>
                      </a:endParaRPr>
                    </a:p>
                  </a:txBody>
                  <a:tcPr>
                    <a:lnL w="6350" cap="flat" cmpd="sng" algn="ctr">
                      <a:solidFill>
                        <a:srgbClr val="C8DCE8"/>
                      </a:solidFill>
                      <a:prstDash val="solid"/>
                      <a:round/>
                      <a:headEnd type="none" w="med" len="med"/>
                      <a:tailEnd type="none" w="med" len="med"/>
                    </a:lnL>
                    <a:lnR w="6350" cap="flat" cmpd="sng" algn="ctr">
                      <a:solidFill>
                        <a:srgbClr val="C8DCE8"/>
                      </a:solidFill>
                      <a:prstDash val="solid"/>
                      <a:round/>
                      <a:headEnd type="none" w="med" len="med"/>
                      <a:tailEnd type="none" w="med" len="med"/>
                    </a:lnR>
                    <a:lnT w="6350" cap="flat" cmpd="sng" algn="ctr">
                      <a:solidFill>
                        <a:srgbClr val="C8DCE8"/>
                      </a:solidFill>
                      <a:prstDash val="solid"/>
                      <a:round/>
                      <a:headEnd type="none" w="med" len="med"/>
                      <a:tailEnd type="none" w="med" len="med"/>
                    </a:lnT>
                    <a:lnB w="6350" cap="flat" cmpd="sng" algn="ctr">
                      <a:solidFill>
                        <a:srgbClr val="C8DCE8"/>
                      </a:solidFill>
                      <a:prstDash val="solid"/>
                      <a:round/>
                      <a:headEnd type="none" w="med" len="med"/>
                      <a:tailEnd type="none" w="med" len="med"/>
                    </a:lnB>
                  </a:tcPr>
                </a:tc>
                <a:extLst>
                  <a:ext uri="{0D108BD9-81ED-4DB2-BD59-A6C34878D82A}">
                    <a16:rowId xmlns:a16="http://schemas.microsoft.com/office/drawing/2014/main" val="10003"/>
                  </a:ext>
                </a:extLst>
              </a:tr>
              <a:tr h="384048">
                <a:tc>
                  <a:txBody>
                    <a:bodyPr/>
                    <a:lstStyle/>
                    <a:p>
                      <a:pPr marL="0" indent="0" algn="ctr">
                        <a:buNone/>
                      </a:pPr>
                      <a:r>
                        <a:rPr lang="en-US" sz="1200" dirty="0">
                          <a:solidFill>
                            <a:srgbClr val="1A2B3C"/>
                          </a:solidFill>
                          <a:latin typeface="Calibri" pitchFamily="34" charset="0"/>
                          <a:ea typeface="Calibri" pitchFamily="34" charset="-122"/>
                          <a:cs typeface="Calibri" pitchFamily="34" charset="-120"/>
                        </a:rPr>
                        <a:t>Max seq length</a:t>
                      </a:r>
                      <a:endParaRPr lang="en-US" sz="1200" dirty="0">
                        <a:latin typeface="Calibri" charset="0"/>
                        <a:ea typeface="Calibri" charset="0"/>
                        <a:cs typeface="Calibri" charset="0"/>
                      </a:endParaRPr>
                    </a:p>
                  </a:txBody>
                  <a:tcPr>
                    <a:lnL w="6350" cap="flat" cmpd="sng" algn="ctr">
                      <a:solidFill>
                        <a:srgbClr val="C8DCE8"/>
                      </a:solidFill>
                      <a:prstDash val="solid"/>
                      <a:round/>
                      <a:headEnd type="none" w="med" len="med"/>
                      <a:tailEnd type="none" w="med" len="med"/>
                    </a:lnL>
                    <a:lnR w="6350" cap="flat" cmpd="sng" algn="ctr">
                      <a:solidFill>
                        <a:srgbClr val="C8DCE8"/>
                      </a:solidFill>
                      <a:prstDash val="solid"/>
                      <a:round/>
                      <a:headEnd type="none" w="med" len="med"/>
                      <a:tailEnd type="none" w="med" len="med"/>
                    </a:lnR>
                    <a:lnT w="6350" cap="flat" cmpd="sng" algn="ctr">
                      <a:solidFill>
                        <a:srgbClr val="C8DCE8"/>
                      </a:solidFill>
                      <a:prstDash val="solid"/>
                      <a:round/>
                      <a:headEnd type="none" w="med" len="med"/>
                      <a:tailEnd type="none" w="med" len="med"/>
                    </a:lnT>
                    <a:lnB w="6350" cap="flat" cmpd="sng" algn="ctr">
                      <a:solidFill>
                        <a:srgbClr val="C8DCE8"/>
                      </a:solidFill>
                      <a:prstDash val="solid"/>
                      <a:round/>
                      <a:headEnd type="none" w="med" len="med"/>
                      <a:tailEnd type="none" w="med" len="med"/>
                    </a:lnB>
                  </a:tcPr>
                </a:tc>
                <a:tc>
                  <a:txBody>
                    <a:bodyPr/>
                    <a:lstStyle/>
                    <a:p>
                      <a:pPr marL="0" indent="0" algn="ctr">
                        <a:buNone/>
                      </a:pPr>
                      <a:r>
                        <a:rPr lang="en-US" sz="1200" dirty="0">
                          <a:solidFill>
                            <a:srgbClr val="1A2B3C"/>
                          </a:solidFill>
                          <a:latin typeface="Calibri" pitchFamily="34" charset="0"/>
                          <a:ea typeface="Calibri" pitchFamily="34" charset="-122"/>
                          <a:cs typeface="Calibri" pitchFamily="34" charset="-120"/>
                        </a:rPr>
                        <a:t>128 tokens</a:t>
                      </a:r>
                      <a:endParaRPr lang="en-US" sz="1200" dirty="0">
                        <a:latin typeface="Calibri" charset="0"/>
                        <a:ea typeface="Calibri" charset="0"/>
                        <a:cs typeface="Calibri" charset="0"/>
                      </a:endParaRPr>
                    </a:p>
                  </a:txBody>
                  <a:tcPr>
                    <a:lnL w="6350" cap="flat" cmpd="sng" algn="ctr">
                      <a:solidFill>
                        <a:srgbClr val="C8DCE8"/>
                      </a:solidFill>
                      <a:prstDash val="solid"/>
                      <a:round/>
                      <a:headEnd type="none" w="med" len="med"/>
                      <a:tailEnd type="none" w="med" len="med"/>
                    </a:lnL>
                    <a:lnR w="6350" cap="flat" cmpd="sng" algn="ctr">
                      <a:solidFill>
                        <a:srgbClr val="C8DCE8"/>
                      </a:solidFill>
                      <a:prstDash val="solid"/>
                      <a:round/>
                      <a:headEnd type="none" w="med" len="med"/>
                      <a:tailEnd type="none" w="med" len="med"/>
                    </a:lnR>
                    <a:lnT w="6350" cap="flat" cmpd="sng" algn="ctr">
                      <a:solidFill>
                        <a:srgbClr val="C8DCE8"/>
                      </a:solidFill>
                      <a:prstDash val="solid"/>
                      <a:round/>
                      <a:headEnd type="none" w="med" len="med"/>
                      <a:tailEnd type="none" w="med" len="med"/>
                    </a:lnT>
                    <a:lnB w="6350" cap="flat" cmpd="sng" algn="ctr">
                      <a:solidFill>
                        <a:srgbClr val="C8DCE8"/>
                      </a:solidFill>
                      <a:prstDash val="solid"/>
                      <a:round/>
                      <a:headEnd type="none" w="med" len="med"/>
                      <a:tailEnd type="none" w="med" len="med"/>
                    </a:lnB>
                  </a:tcPr>
                </a:tc>
                <a:tc>
                  <a:txBody>
                    <a:bodyPr/>
                    <a:lstStyle/>
                    <a:p>
                      <a:pPr marL="0" indent="0" algn="ctr">
                        <a:buNone/>
                      </a:pPr>
                      <a:r>
                        <a:rPr lang="en-US" sz="1200" dirty="0">
                          <a:solidFill>
                            <a:srgbClr val="1A2B3C"/>
                          </a:solidFill>
                          <a:latin typeface="Calibri" pitchFamily="34" charset="0"/>
                          <a:ea typeface="Calibri" pitchFamily="34" charset="-122"/>
                          <a:cs typeface="Calibri" pitchFamily="34" charset="-120"/>
                        </a:rPr>
                        <a:t>512 tokens</a:t>
                      </a:r>
                      <a:endParaRPr lang="en-US" sz="1200" dirty="0">
                        <a:latin typeface="Calibri" charset="0"/>
                        <a:ea typeface="Calibri" charset="0"/>
                        <a:cs typeface="Calibri" charset="0"/>
                      </a:endParaRPr>
                    </a:p>
                  </a:txBody>
                  <a:tcPr>
                    <a:lnL w="6350" cap="flat" cmpd="sng" algn="ctr">
                      <a:solidFill>
                        <a:srgbClr val="C8DCE8"/>
                      </a:solidFill>
                      <a:prstDash val="solid"/>
                      <a:round/>
                      <a:headEnd type="none" w="med" len="med"/>
                      <a:tailEnd type="none" w="med" len="med"/>
                    </a:lnL>
                    <a:lnR w="6350" cap="flat" cmpd="sng" algn="ctr">
                      <a:solidFill>
                        <a:srgbClr val="C8DCE8"/>
                      </a:solidFill>
                      <a:prstDash val="solid"/>
                      <a:round/>
                      <a:headEnd type="none" w="med" len="med"/>
                      <a:tailEnd type="none" w="med" len="med"/>
                    </a:lnR>
                    <a:lnT w="6350" cap="flat" cmpd="sng" algn="ctr">
                      <a:solidFill>
                        <a:srgbClr val="C8DCE8"/>
                      </a:solidFill>
                      <a:prstDash val="solid"/>
                      <a:round/>
                      <a:headEnd type="none" w="med" len="med"/>
                      <a:tailEnd type="none" w="med" len="med"/>
                    </a:lnT>
                    <a:lnB w="6350" cap="flat" cmpd="sng" algn="ctr">
                      <a:solidFill>
                        <a:srgbClr val="C8DCE8"/>
                      </a:solidFill>
                      <a:prstDash val="solid"/>
                      <a:round/>
                      <a:headEnd type="none" w="med" len="med"/>
                      <a:tailEnd type="none" w="med" len="med"/>
                    </a:lnB>
                  </a:tcPr>
                </a:tc>
                <a:extLst>
                  <a:ext uri="{0D108BD9-81ED-4DB2-BD59-A6C34878D82A}">
                    <a16:rowId xmlns:a16="http://schemas.microsoft.com/office/drawing/2014/main" val="10004"/>
                  </a:ext>
                </a:extLst>
              </a:tr>
              <a:tr h="384048">
                <a:tc>
                  <a:txBody>
                    <a:bodyPr/>
                    <a:lstStyle/>
                    <a:p>
                      <a:pPr marL="0" indent="0" algn="ctr">
                        <a:buNone/>
                      </a:pPr>
                      <a:r>
                        <a:rPr lang="en-US" sz="1200" dirty="0">
                          <a:solidFill>
                            <a:srgbClr val="1A2B3C"/>
                          </a:solidFill>
                          <a:latin typeface="Calibri" pitchFamily="34" charset="0"/>
                          <a:ea typeface="Calibri" pitchFamily="34" charset="-122"/>
                          <a:cs typeface="Calibri" pitchFamily="34" charset="-120"/>
                        </a:rPr>
                        <a:t>Weight decay</a:t>
                      </a:r>
                      <a:endParaRPr lang="en-US" sz="1200" dirty="0">
                        <a:latin typeface="Calibri" charset="0"/>
                        <a:ea typeface="Calibri" charset="0"/>
                        <a:cs typeface="Calibri" charset="0"/>
                      </a:endParaRPr>
                    </a:p>
                  </a:txBody>
                  <a:tcPr>
                    <a:lnL w="6350" cap="flat" cmpd="sng" algn="ctr">
                      <a:solidFill>
                        <a:srgbClr val="C8DCE8"/>
                      </a:solidFill>
                      <a:prstDash val="solid"/>
                      <a:round/>
                      <a:headEnd type="none" w="med" len="med"/>
                      <a:tailEnd type="none" w="med" len="med"/>
                    </a:lnL>
                    <a:lnR w="6350" cap="flat" cmpd="sng" algn="ctr">
                      <a:solidFill>
                        <a:srgbClr val="C8DCE8"/>
                      </a:solidFill>
                      <a:prstDash val="solid"/>
                      <a:round/>
                      <a:headEnd type="none" w="med" len="med"/>
                      <a:tailEnd type="none" w="med" len="med"/>
                    </a:lnR>
                    <a:lnT w="6350" cap="flat" cmpd="sng" algn="ctr">
                      <a:solidFill>
                        <a:srgbClr val="C8DCE8"/>
                      </a:solidFill>
                      <a:prstDash val="solid"/>
                      <a:round/>
                      <a:headEnd type="none" w="med" len="med"/>
                      <a:tailEnd type="none" w="med" len="med"/>
                    </a:lnT>
                    <a:lnB w="6350" cap="flat" cmpd="sng" algn="ctr">
                      <a:solidFill>
                        <a:srgbClr val="C8DCE8"/>
                      </a:solidFill>
                      <a:prstDash val="solid"/>
                      <a:round/>
                      <a:headEnd type="none" w="med" len="med"/>
                      <a:tailEnd type="none" w="med" len="med"/>
                    </a:lnB>
                  </a:tcPr>
                </a:tc>
                <a:tc>
                  <a:txBody>
                    <a:bodyPr/>
                    <a:lstStyle/>
                    <a:p>
                      <a:pPr marL="0" indent="0" algn="ctr">
                        <a:buNone/>
                      </a:pPr>
                      <a:r>
                        <a:rPr lang="en-US" sz="1200" dirty="0">
                          <a:solidFill>
                            <a:srgbClr val="1A2B3C"/>
                          </a:solidFill>
                          <a:latin typeface="Calibri" pitchFamily="34" charset="0"/>
                          <a:ea typeface="Calibri" pitchFamily="34" charset="-122"/>
                          <a:cs typeface="Calibri" pitchFamily="34" charset="-120"/>
                        </a:rPr>
                        <a:t>0.01</a:t>
                      </a:r>
                      <a:endParaRPr lang="en-US" sz="1200" dirty="0">
                        <a:latin typeface="Calibri" charset="0"/>
                        <a:ea typeface="Calibri" charset="0"/>
                        <a:cs typeface="Calibri" charset="0"/>
                      </a:endParaRPr>
                    </a:p>
                  </a:txBody>
                  <a:tcPr>
                    <a:lnL w="6350" cap="flat" cmpd="sng" algn="ctr">
                      <a:solidFill>
                        <a:srgbClr val="C8DCE8"/>
                      </a:solidFill>
                      <a:prstDash val="solid"/>
                      <a:round/>
                      <a:headEnd type="none" w="med" len="med"/>
                      <a:tailEnd type="none" w="med" len="med"/>
                    </a:lnL>
                    <a:lnR w="6350" cap="flat" cmpd="sng" algn="ctr">
                      <a:solidFill>
                        <a:srgbClr val="C8DCE8"/>
                      </a:solidFill>
                      <a:prstDash val="solid"/>
                      <a:round/>
                      <a:headEnd type="none" w="med" len="med"/>
                      <a:tailEnd type="none" w="med" len="med"/>
                    </a:lnR>
                    <a:lnT w="6350" cap="flat" cmpd="sng" algn="ctr">
                      <a:solidFill>
                        <a:srgbClr val="C8DCE8"/>
                      </a:solidFill>
                      <a:prstDash val="solid"/>
                      <a:round/>
                      <a:headEnd type="none" w="med" len="med"/>
                      <a:tailEnd type="none" w="med" len="med"/>
                    </a:lnT>
                    <a:lnB w="6350" cap="flat" cmpd="sng" algn="ctr">
                      <a:solidFill>
                        <a:srgbClr val="C8DCE8"/>
                      </a:solidFill>
                      <a:prstDash val="solid"/>
                      <a:round/>
                      <a:headEnd type="none" w="med" len="med"/>
                      <a:tailEnd type="none" w="med" len="med"/>
                    </a:lnB>
                  </a:tcPr>
                </a:tc>
                <a:tc>
                  <a:txBody>
                    <a:bodyPr/>
                    <a:lstStyle/>
                    <a:p>
                      <a:pPr marL="0" indent="0" algn="ctr">
                        <a:buNone/>
                      </a:pPr>
                      <a:r>
                        <a:rPr lang="en-US" sz="1200" dirty="0">
                          <a:solidFill>
                            <a:srgbClr val="1A2B3C"/>
                          </a:solidFill>
                          <a:latin typeface="Calibri" pitchFamily="34" charset="0"/>
                          <a:ea typeface="Calibri" pitchFamily="34" charset="-122"/>
                          <a:cs typeface="Calibri" pitchFamily="34" charset="-120"/>
                        </a:rPr>
                        <a:t>0.02</a:t>
                      </a:r>
                      <a:endParaRPr lang="en-US" sz="1200" dirty="0">
                        <a:latin typeface="Calibri" charset="0"/>
                        <a:ea typeface="Calibri" charset="0"/>
                        <a:cs typeface="Calibri" charset="0"/>
                      </a:endParaRPr>
                    </a:p>
                  </a:txBody>
                  <a:tcPr>
                    <a:lnL w="6350" cap="flat" cmpd="sng" algn="ctr">
                      <a:solidFill>
                        <a:srgbClr val="C8DCE8"/>
                      </a:solidFill>
                      <a:prstDash val="solid"/>
                      <a:round/>
                      <a:headEnd type="none" w="med" len="med"/>
                      <a:tailEnd type="none" w="med" len="med"/>
                    </a:lnL>
                    <a:lnR w="6350" cap="flat" cmpd="sng" algn="ctr">
                      <a:solidFill>
                        <a:srgbClr val="C8DCE8"/>
                      </a:solidFill>
                      <a:prstDash val="solid"/>
                      <a:round/>
                      <a:headEnd type="none" w="med" len="med"/>
                      <a:tailEnd type="none" w="med" len="med"/>
                    </a:lnR>
                    <a:lnT w="6350" cap="flat" cmpd="sng" algn="ctr">
                      <a:solidFill>
                        <a:srgbClr val="C8DCE8"/>
                      </a:solidFill>
                      <a:prstDash val="solid"/>
                      <a:round/>
                      <a:headEnd type="none" w="med" len="med"/>
                      <a:tailEnd type="none" w="med" len="med"/>
                    </a:lnT>
                    <a:lnB w="6350" cap="flat" cmpd="sng" algn="ctr">
                      <a:solidFill>
                        <a:srgbClr val="C8DCE8"/>
                      </a:solidFill>
                      <a:prstDash val="solid"/>
                      <a:round/>
                      <a:headEnd type="none" w="med" len="med"/>
                      <a:tailEnd type="none" w="med" len="med"/>
                    </a:lnB>
                  </a:tcPr>
                </a:tc>
                <a:extLst>
                  <a:ext uri="{0D108BD9-81ED-4DB2-BD59-A6C34878D82A}">
                    <a16:rowId xmlns:a16="http://schemas.microsoft.com/office/drawing/2014/main" val="10005"/>
                  </a:ext>
                </a:extLst>
              </a:tr>
              <a:tr h="384048">
                <a:tc>
                  <a:txBody>
                    <a:bodyPr/>
                    <a:lstStyle/>
                    <a:p>
                      <a:pPr marL="0" indent="0" algn="ctr">
                        <a:buNone/>
                      </a:pPr>
                      <a:r>
                        <a:rPr lang="en-US" sz="1200" dirty="0">
                          <a:solidFill>
                            <a:srgbClr val="1A2B3C"/>
                          </a:solidFill>
                          <a:latin typeface="Calibri" pitchFamily="34" charset="0"/>
                          <a:ea typeface="Calibri" pitchFamily="34" charset="-122"/>
                          <a:cs typeface="Calibri" pitchFamily="34" charset="-120"/>
                        </a:rPr>
                        <a:t>Warmup steps</a:t>
                      </a:r>
                      <a:endParaRPr lang="en-US" sz="1200" dirty="0">
                        <a:latin typeface="Calibri" charset="0"/>
                        <a:ea typeface="Calibri" charset="0"/>
                        <a:cs typeface="Calibri" charset="0"/>
                      </a:endParaRPr>
                    </a:p>
                  </a:txBody>
                  <a:tcPr>
                    <a:lnL w="6350" cap="flat" cmpd="sng" algn="ctr">
                      <a:solidFill>
                        <a:srgbClr val="C8DCE8"/>
                      </a:solidFill>
                      <a:prstDash val="solid"/>
                      <a:round/>
                      <a:headEnd type="none" w="med" len="med"/>
                      <a:tailEnd type="none" w="med" len="med"/>
                    </a:lnL>
                    <a:lnR w="6350" cap="flat" cmpd="sng" algn="ctr">
                      <a:solidFill>
                        <a:srgbClr val="C8DCE8"/>
                      </a:solidFill>
                      <a:prstDash val="solid"/>
                      <a:round/>
                      <a:headEnd type="none" w="med" len="med"/>
                      <a:tailEnd type="none" w="med" len="med"/>
                    </a:lnR>
                    <a:lnT w="6350" cap="flat" cmpd="sng" algn="ctr">
                      <a:solidFill>
                        <a:srgbClr val="C8DCE8"/>
                      </a:solidFill>
                      <a:prstDash val="solid"/>
                      <a:round/>
                      <a:headEnd type="none" w="med" len="med"/>
                      <a:tailEnd type="none" w="med" len="med"/>
                    </a:lnT>
                    <a:lnB w="6350" cap="flat" cmpd="sng" algn="ctr">
                      <a:solidFill>
                        <a:srgbClr val="C8DCE8"/>
                      </a:solidFill>
                      <a:prstDash val="solid"/>
                      <a:round/>
                      <a:headEnd type="none" w="med" len="med"/>
                      <a:tailEnd type="none" w="med" len="med"/>
                    </a:lnB>
                  </a:tcPr>
                </a:tc>
                <a:tc>
                  <a:txBody>
                    <a:bodyPr/>
                    <a:lstStyle/>
                    <a:p>
                      <a:pPr marL="0" indent="0" algn="ctr">
                        <a:buNone/>
                      </a:pPr>
                      <a:r>
                        <a:rPr lang="en-US" sz="1200" dirty="0">
                          <a:solidFill>
                            <a:srgbClr val="1A2B3C"/>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a:lnL w="6350" cap="flat" cmpd="sng" algn="ctr">
                      <a:solidFill>
                        <a:srgbClr val="C8DCE8"/>
                      </a:solidFill>
                      <a:prstDash val="solid"/>
                      <a:round/>
                      <a:headEnd type="none" w="med" len="med"/>
                      <a:tailEnd type="none" w="med" len="med"/>
                    </a:lnL>
                    <a:lnR w="6350" cap="flat" cmpd="sng" algn="ctr">
                      <a:solidFill>
                        <a:srgbClr val="C8DCE8"/>
                      </a:solidFill>
                      <a:prstDash val="solid"/>
                      <a:round/>
                      <a:headEnd type="none" w="med" len="med"/>
                      <a:tailEnd type="none" w="med" len="med"/>
                    </a:lnR>
                    <a:lnT w="6350" cap="flat" cmpd="sng" algn="ctr">
                      <a:solidFill>
                        <a:srgbClr val="C8DCE8"/>
                      </a:solidFill>
                      <a:prstDash val="solid"/>
                      <a:round/>
                      <a:headEnd type="none" w="med" len="med"/>
                      <a:tailEnd type="none" w="med" len="med"/>
                    </a:lnT>
                    <a:lnB w="6350" cap="flat" cmpd="sng" algn="ctr">
                      <a:solidFill>
                        <a:srgbClr val="C8DCE8"/>
                      </a:solidFill>
                      <a:prstDash val="solid"/>
                      <a:round/>
                      <a:headEnd type="none" w="med" len="med"/>
                      <a:tailEnd type="none" w="med" len="med"/>
                    </a:lnB>
                  </a:tcPr>
                </a:tc>
                <a:tc>
                  <a:txBody>
                    <a:bodyPr/>
                    <a:lstStyle/>
                    <a:p>
                      <a:pPr marL="0" indent="0" algn="ctr">
                        <a:buNone/>
                      </a:pPr>
                      <a:r>
                        <a:rPr lang="en-US" sz="1200" dirty="0">
                          <a:solidFill>
                            <a:srgbClr val="1A2B3C"/>
                          </a:solidFill>
                          <a:latin typeface="Calibri" pitchFamily="34" charset="0"/>
                          <a:ea typeface="Calibri" pitchFamily="34" charset="-122"/>
                          <a:cs typeface="Calibri" pitchFamily="34" charset="-120"/>
                        </a:rPr>
                        <a:t>500</a:t>
                      </a:r>
                      <a:endParaRPr lang="en-US" sz="1200" dirty="0">
                        <a:latin typeface="Calibri" charset="0"/>
                        <a:ea typeface="Calibri" charset="0"/>
                        <a:cs typeface="Calibri" charset="0"/>
                      </a:endParaRPr>
                    </a:p>
                  </a:txBody>
                  <a:tcPr>
                    <a:lnL w="6350" cap="flat" cmpd="sng" algn="ctr">
                      <a:solidFill>
                        <a:srgbClr val="C8DCE8"/>
                      </a:solidFill>
                      <a:prstDash val="solid"/>
                      <a:round/>
                      <a:headEnd type="none" w="med" len="med"/>
                      <a:tailEnd type="none" w="med" len="med"/>
                    </a:lnL>
                    <a:lnR w="6350" cap="flat" cmpd="sng" algn="ctr">
                      <a:solidFill>
                        <a:srgbClr val="C8DCE8"/>
                      </a:solidFill>
                      <a:prstDash val="solid"/>
                      <a:round/>
                      <a:headEnd type="none" w="med" len="med"/>
                      <a:tailEnd type="none" w="med" len="med"/>
                    </a:lnR>
                    <a:lnT w="6350" cap="flat" cmpd="sng" algn="ctr">
                      <a:solidFill>
                        <a:srgbClr val="C8DCE8"/>
                      </a:solidFill>
                      <a:prstDash val="solid"/>
                      <a:round/>
                      <a:headEnd type="none" w="med" len="med"/>
                      <a:tailEnd type="none" w="med" len="med"/>
                    </a:lnT>
                    <a:lnB w="6350" cap="flat" cmpd="sng" algn="ctr">
                      <a:solidFill>
                        <a:srgbClr val="C8DCE8"/>
                      </a:solidFill>
                      <a:prstDash val="solid"/>
                      <a:round/>
                      <a:headEnd type="none" w="med" len="med"/>
                      <a:tailEnd type="none" w="med" len="med"/>
                    </a:lnB>
                  </a:tcPr>
                </a:tc>
                <a:extLst>
                  <a:ext uri="{0D108BD9-81ED-4DB2-BD59-A6C34878D82A}">
                    <a16:rowId xmlns:a16="http://schemas.microsoft.com/office/drawing/2014/main" val="10006"/>
                  </a:ext>
                </a:extLst>
              </a:tr>
              <a:tr h="384048">
                <a:tc>
                  <a:txBody>
                    <a:bodyPr/>
                    <a:lstStyle/>
                    <a:p>
                      <a:pPr marL="0" indent="0" algn="ctr">
                        <a:buNone/>
                      </a:pPr>
                      <a:r>
                        <a:rPr lang="en-US" sz="1200" dirty="0">
                          <a:solidFill>
                            <a:srgbClr val="1A2B3C"/>
                          </a:solidFill>
                          <a:latin typeface="Calibri" pitchFamily="34" charset="0"/>
                          <a:ea typeface="Calibri" pitchFamily="34" charset="-122"/>
                          <a:cs typeface="Calibri" pitchFamily="34" charset="-120"/>
                        </a:rPr>
                        <a:t>Early stopping</a:t>
                      </a:r>
                      <a:endParaRPr lang="en-US" sz="1200" dirty="0">
                        <a:latin typeface="Calibri" charset="0"/>
                        <a:ea typeface="Calibri" charset="0"/>
                        <a:cs typeface="Calibri" charset="0"/>
                      </a:endParaRPr>
                    </a:p>
                  </a:txBody>
                  <a:tcPr>
                    <a:lnL w="6350" cap="flat" cmpd="sng" algn="ctr">
                      <a:solidFill>
                        <a:srgbClr val="C8DCE8"/>
                      </a:solidFill>
                      <a:prstDash val="solid"/>
                      <a:round/>
                      <a:headEnd type="none" w="med" len="med"/>
                      <a:tailEnd type="none" w="med" len="med"/>
                    </a:lnL>
                    <a:lnR w="6350" cap="flat" cmpd="sng" algn="ctr">
                      <a:solidFill>
                        <a:srgbClr val="C8DCE8"/>
                      </a:solidFill>
                      <a:prstDash val="solid"/>
                      <a:round/>
                      <a:headEnd type="none" w="med" len="med"/>
                      <a:tailEnd type="none" w="med" len="med"/>
                    </a:lnR>
                    <a:lnT w="6350" cap="flat" cmpd="sng" algn="ctr">
                      <a:solidFill>
                        <a:srgbClr val="C8DCE8"/>
                      </a:solidFill>
                      <a:prstDash val="solid"/>
                      <a:round/>
                      <a:headEnd type="none" w="med" len="med"/>
                      <a:tailEnd type="none" w="med" len="med"/>
                    </a:lnT>
                    <a:lnB w="6350" cap="flat" cmpd="sng" algn="ctr">
                      <a:solidFill>
                        <a:srgbClr val="C8DCE8"/>
                      </a:solidFill>
                      <a:prstDash val="solid"/>
                      <a:round/>
                      <a:headEnd type="none" w="med" len="med"/>
                      <a:tailEnd type="none" w="med" len="med"/>
                    </a:lnB>
                  </a:tcPr>
                </a:tc>
                <a:tc>
                  <a:txBody>
                    <a:bodyPr/>
                    <a:lstStyle/>
                    <a:p>
                      <a:pPr marL="0" indent="0" algn="ctr">
                        <a:buNone/>
                      </a:pPr>
                      <a:r>
                        <a:rPr lang="en-US" sz="1200" dirty="0">
                          <a:solidFill>
                            <a:srgbClr val="1A2B3C"/>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a:lnL w="6350" cap="flat" cmpd="sng" algn="ctr">
                      <a:solidFill>
                        <a:srgbClr val="C8DCE8"/>
                      </a:solidFill>
                      <a:prstDash val="solid"/>
                      <a:round/>
                      <a:headEnd type="none" w="med" len="med"/>
                      <a:tailEnd type="none" w="med" len="med"/>
                    </a:lnL>
                    <a:lnR w="6350" cap="flat" cmpd="sng" algn="ctr">
                      <a:solidFill>
                        <a:srgbClr val="C8DCE8"/>
                      </a:solidFill>
                      <a:prstDash val="solid"/>
                      <a:round/>
                      <a:headEnd type="none" w="med" len="med"/>
                      <a:tailEnd type="none" w="med" len="med"/>
                    </a:lnR>
                    <a:lnT w="6350" cap="flat" cmpd="sng" algn="ctr">
                      <a:solidFill>
                        <a:srgbClr val="C8DCE8"/>
                      </a:solidFill>
                      <a:prstDash val="solid"/>
                      <a:round/>
                      <a:headEnd type="none" w="med" len="med"/>
                      <a:tailEnd type="none" w="med" len="med"/>
                    </a:lnT>
                    <a:lnB w="6350" cap="flat" cmpd="sng" algn="ctr">
                      <a:solidFill>
                        <a:srgbClr val="C8DCE8"/>
                      </a:solidFill>
                      <a:prstDash val="solid"/>
                      <a:round/>
                      <a:headEnd type="none" w="med" len="med"/>
                      <a:tailEnd type="none" w="med" len="med"/>
                    </a:lnB>
                  </a:tcPr>
                </a:tc>
                <a:tc>
                  <a:txBody>
                    <a:bodyPr/>
                    <a:lstStyle/>
                    <a:p>
                      <a:pPr marL="0" indent="0" algn="ctr">
                        <a:buNone/>
                      </a:pPr>
                      <a:r>
                        <a:rPr lang="en-US" sz="1200" dirty="0">
                          <a:solidFill>
                            <a:srgbClr val="1A2B3C"/>
                          </a:solidFill>
                          <a:latin typeface="Calibri" pitchFamily="34" charset="0"/>
                          <a:ea typeface="Calibri" pitchFamily="34" charset="-122"/>
                          <a:cs typeface="Calibri" pitchFamily="34" charset="-120"/>
                        </a:rPr>
                        <a:t>Patience = 3</a:t>
                      </a:r>
                      <a:endParaRPr lang="en-US" sz="1200" dirty="0">
                        <a:latin typeface="Calibri" charset="0"/>
                        <a:ea typeface="Calibri" charset="0"/>
                        <a:cs typeface="Calibri" charset="0"/>
                      </a:endParaRPr>
                    </a:p>
                  </a:txBody>
                  <a:tcPr>
                    <a:lnL w="6350" cap="flat" cmpd="sng" algn="ctr">
                      <a:solidFill>
                        <a:srgbClr val="C8DCE8"/>
                      </a:solidFill>
                      <a:prstDash val="solid"/>
                      <a:round/>
                      <a:headEnd type="none" w="med" len="med"/>
                      <a:tailEnd type="none" w="med" len="med"/>
                    </a:lnL>
                    <a:lnR w="6350" cap="flat" cmpd="sng" algn="ctr">
                      <a:solidFill>
                        <a:srgbClr val="C8DCE8"/>
                      </a:solidFill>
                      <a:prstDash val="solid"/>
                      <a:round/>
                      <a:headEnd type="none" w="med" len="med"/>
                      <a:tailEnd type="none" w="med" len="med"/>
                    </a:lnR>
                    <a:lnT w="6350" cap="flat" cmpd="sng" algn="ctr">
                      <a:solidFill>
                        <a:srgbClr val="C8DCE8"/>
                      </a:solidFill>
                      <a:prstDash val="solid"/>
                      <a:round/>
                      <a:headEnd type="none" w="med" len="med"/>
                      <a:tailEnd type="none" w="med" len="med"/>
                    </a:lnT>
                    <a:lnB w="6350" cap="flat" cmpd="sng" algn="ctr">
                      <a:solidFill>
                        <a:srgbClr val="C8DCE8"/>
                      </a:solidFill>
                      <a:prstDash val="solid"/>
                      <a:round/>
                      <a:headEnd type="none" w="med" len="med"/>
                      <a:tailEnd type="none" w="med" len="med"/>
                    </a:lnB>
                  </a:tcPr>
                </a:tc>
                <a:extLst>
                  <a:ext uri="{0D108BD9-81ED-4DB2-BD59-A6C34878D82A}">
                    <a16:rowId xmlns:a16="http://schemas.microsoft.com/office/drawing/2014/main" val="10007"/>
                  </a:ext>
                </a:extLst>
              </a:tr>
              <a:tr h="384048">
                <a:tc>
                  <a:txBody>
                    <a:bodyPr/>
                    <a:lstStyle/>
                    <a:p>
                      <a:pPr marL="0" indent="0" algn="ctr">
                        <a:buNone/>
                      </a:pPr>
                      <a:r>
                        <a:rPr lang="en-US" sz="1200" dirty="0">
                          <a:solidFill>
                            <a:srgbClr val="1A2B3C"/>
                          </a:solidFill>
                          <a:latin typeface="Calibri" pitchFamily="34" charset="0"/>
                          <a:ea typeface="Calibri" pitchFamily="34" charset="-122"/>
                          <a:cs typeface="Calibri" pitchFamily="34" charset="-120"/>
                        </a:rPr>
                        <a:t>Loss function</a:t>
                      </a:r>
                      <a:endParaRPr lang="en-US" sz="1200" dirty="0">
                        <a:latin typeface="Calibri" charset="0"/>
                        <a:ea typeface="Calibri" charset="0"/>
                        <a:cs typeface="Calibri" charset="0"/>
                      </a:endParaRPr>
                    </a:p>
                  </a:txBody>
                  <a:tcPr>
                    <a:lnL w="6350" cap="flat" cmpd="sng" algn="ctr">
                      <a:solidFill>
                        <a:srgbClr val="C8DCE8"/>
                      </a:solidFill>
                      <a:prstDash val="solid"/>
                      <a:round/>
                      <a:headEnd type="none" w="med" len="med"/>
                      <a:tailEnd type="none" w="med" len="med"/>
                    </a:lnL>
                    <a:lnR w="6350" cap="flat" cmpd="sng" algn="ctr">
                      <a:solidFill>
                        <a:srgbClr val="C8DCE8"/>
                      </a:solidFill>
                      <a:prstDash val="solid"/>
                      <a:round/>
                      <a:headEnd type="none" w="med" len="med"/>
                      <a:tailEnd type="none" w="med" len="med"/>
                    </a:lnR>
                    <a:lnT w="6350" cap="flat" cmpd="sng" algn="ctr">
                      <a:solidFill>
                        <a:srgbClr val="C8DCE8"/>
                      </a:solidFill>
                      <a:prstDash val="solid"/>
                      <a:round/>
                      <a:headEnd type="none" w="med" len="med"/>
                      <a:tailEnd type="none" w="med" len="med"/>
                    </a:lnT>
                    <a:lnB w="6350" cap="flat" cmpd="sng" algn="ctr">
                      <a:solidFill>
                        <a:srgbClr val="C8DCE8"/>
                      </a:solidFill>
                      <a:prstDash val="solid"/>
                      <a:round/>
                      <a:headEnd type="none" w="med" len="med"/>
                      <a:tailEnd type="none" w="med" len="med"/>
                    </a:lnB>
                  </a:tcPr>
                </a:tc>
                <a:tc>
                  <a:txBody>
                    <a:bodyPr/>
                    <a:lstStyle/>
                    <a:p>
                      <a:pPr marL="0" indent="0" algn="ctr">
                        <a:buNone/>
                      </a:pPr>
                      <a:r>
                        <a:rPr lang="en-US" sz="1200" dirty="0">
                          <a:solidFill>
                            <a:srgbClr val="1A2B3C"/>
                          </a:solidFill>
                          <a:latin typeface="Calibri" pitchFamily="34" charset="0"/>
                          <a:ea typeface="Calibri" pitchFamily="34" charset="-122"/>
                          <a:cs typeface="Calibri" pitchFamily="34" charset="-120"/>
                        </a:rPr>
                        <a:t>Cross-entropy</a:t>
                      </a:r>
                      <a:endParaRPr lang="en-US" sz="1200" dirty="0">
                        <a:latin typeface="Calibri" charset="0"/>
                        <a:ea typeface="Calibri" charset="0"/>
                        <a:cs typeface="Calibri" charset="0"/>
                      </a:endParaRPr>
                    </a:p>
                  </a:txBody>
                  <a:tcPr>
                    <a:lnL w="6350" cap="flat" cmpd="sng" algn="ctr">
                      <a:solidFill>
                        <a:srgbClr val="C8DCE8"/>
                      </a:solidFill>
                      <a:prstDash val="solid"/>
                      <a:round/>
                      <a:headEnd type="none" w="med" len="med"/>
                      <a:tailEnd type="none" w="med" len="med"/>
                    </a:lnL>
                    <a:lnR w="6350" cap="flat" cmpd="sng" algn="ctr">
                      <a:solidFill>
                        <a:srgbClr val="C8DCE8"/>
                      </a:solidFill>
                      <a:prstDash val="solid"/>
                      <a:round/>
                      <a:headEnd type="none" w="med" len="med"/>
                      <a:tailEnd type="none" w="med" len="med"/>
                    </a:lnR>
                    <a:lnT w="6350" cap="flat" cmpd="sng" algn="ctr">
                      <a:solidFill>
                        <a:srgbClr val="C8DCE8"/>
                      </a:solidFill>
                      <a:prstDash val="solid"/>
                      <a:round/>
                      <a:headEnd type="none" w="med" len="med"/>
                      <a:tailEnd type="none" w="med" len="med"/>
                    </a:lnT>
                    <a:lnB w="6350" cap="flat" cmpd="sng" algn="ctr">
                      <a:solidFill>
                        <a:srgbClr val="C8DCE8"/>
                      </a:solidFill>
                      <a:prstDash val="solid"/>
                      <a:round/>
                      <a:headEnd type="none" w="med" len="med"/>
                      <a:tailEnd type="none" w="med" len="med"/>
                    </a:lnB>
                  </a:tcPr>
                </a:tc>
                <a:tc>
                  <a:txBody>
                    <a:bodyPr/>
                    <a:lstStyle/>
                    <a:p>
                      <a:pPr marL="0" indent="0" algn="ctr">
                        <a:buNone/>
                      </a:pPr>
                      <a:r>
                        <a:rPr lang="en-US" sz="1200" dirty="0">
                          <a:solidFill>
                            <a:srgbClr val="1A2B3C"/>
                          </a:solidFill>
                          <a:latin typeface="Calibri" pitchFamily="34" charset="0"/>
                          <a:ea typeface="Calibri" pitchFamily="34" charset="-122"/>
                          <a:cs typeface="Calibri" pitchFamily="34" charset="-120"/>
                        </a:rPr>
                        <a:t>Weighted CE</a:t>
                      </a:r>
                      <a:endParaRPr lang="en-US" sz="1200" dirty="0">
                        <a:latin typeface="Calibri" charset="0"/>
                        <a:ea typeface="Calibri" charset="0"/>
                        <a:cs typeface="Calibri" charset="0"/>
                      </a:endParaRPr>
                    </a:p>
                  </a:txBody>
                  <a:tcPr>
                    <a:lnL w="6350" cap="flat" cmpd="sng" algn="ctr">
                      <a:solidFill>
                        <a:srgbClr val="C8DCE8"/>
                      </a:solidFill>
                      <a:prstDash val="solid"/>
                      <a:round/>
                      <a:headEnd type="none" w="med" len="med"/>
                      <a:tailEnd type="none" w="med" len="med"/>
                    </a:lnL>
                    <a:lnR w="6350" cap="flat" cmpd="sng" algn="ctr">
                      <a:solidFill>
                        <a:srgbClr val="C8DCE8"/>
                      </a:solidFill>
                      <a:prstDash val="solid"/>
                      <a:round/>
                      <a:headEnd type="none" w="med" len="med"/>
                      <a:tailEnd type="none" w="med" len="med"/>
                    </a:lnR>
                    <a:lnT w="6350" cap="flat" cmpd="sng" algn="ctr">
                      <a:solidFill>
                        <a:srgbClr val="C8DCE8"/>
                      </a:solidFill>
                      <a:prstDash val="solid"/>
                      <a:round/>
                      <a:headEnd type="none" w="med" len="med"/>
                      <a:tailEnd type="none" w="med" len="med"/>
                    </a:lnT>
                    <a:lnB w="6350" cap="flat" cmpd="sng" algn="ctr">
                      <a:solidFill>
                        <a:srgbClr val="C8DCE8"/>
                      </a:solidFill>
                      <a:prstDash val="solid"/>
                      <a:round/>
                      <a:headEnd type="none" w="med" len="med"/>
                      <a:tailEnd type="none" w="med" len="med"/>
                    </a:lnB>
                  </a:tcPr>
                </a:tc>
                <a:extLst>
                  <a:ext uri="{0D108BD9-81ED-4DB2-BD59-A6C34878D82A}">
                    <a16:rowId xmlns:a16="http://schemas.microsoft.com/office/drawing/2014/main" val="10008"/>
                  </a:ext>
                </a:extLst>
              </a:tr>
              <a:tr h="384048">
                <a:tc>
                  <a:txBody>
                    <a:bodyPr/>
                    <a:lstStyle/>
                    <a:p>
                      <a:pPr marL="0" indent="0" algn="ctr">
                        <a:buNone/>
                      </a:pPr>
                      <a:r>
                        <a:rPr lang="en-US" sz="1200" dirty="0">
                          <a:solidFill>
                            <a:srgbClr val="1A2B3C"/>
                          </a:solidFill>
                          <a:latin typeface="Calibri" pitchFamily="34" charset="0"/>
                          <a:ea typeface="Calibri" pitchFamily="34" charset="-122"/>
                          <a:cs typeface="Calibri" pitchFamily="34" charset="-120"/>
                        </a:rPr>
                        <a:t>Layer freezing</a:t>
                      </a:r>
                      <a:endParaRPr lang="en-US" sz="1200" dirty="0">
                        <a:latin typeface="Calibri" charset="0"/>
                        <a:ea typeface="Calibri" charset="0"/>
                        <a:cs typeface="Calibri" charset="0"/>
                      </a:endParaRPr>
                    </a:p>
                  </a:txBody>
                  <a:tcPr>
                    <a:lnL w="6350" cap="flat" cmpd="sng" algn="ctr">
                      <a:solidFill>
                        <a:srgbClr val="C8DCE8"/>
                      </a:solidFill>
                      <a:prstDash val="solid"/>
                      <a:round/>
                      <a:headEnd type="none" w="med" len="med"/>
                      <a:tailEnd type="none" w="med" len="med"/>
                    </a:lnL>
                    <a:lnR w="6350" cap="flat" cmpd="sng" algn="ctr">
                      <a:solidFill>
                        <a:srgbClr val="C8DCE8"/>
                      </a:solidFill>
                      <a:prstDash val="solid"/>
                      <a:round/>
                      <a:headEnd type="none" w="med" len="med"/>
                      <a:tailEnd type="none" w="med" len="med"/>
                    </a:lnR>
                    <a:lnT w="6350" cap="flat" cmpd="sng" algn="ctr">
                      <a:solidFill>
                        <a:srgbClr val="C8DCE8"/>
                      </a:solidFill>
                      <a:prstDash val="solid"/>
                      <a:round/>
                      <a:headEnd type="none" w="med" len="med"/>
                      <a:tailEnd type="none" w="med" len="med"/>
                    </a:lnT>
                    <a:lnB w="6350" cap="flat" cmpd="sng" algn="ctr">
                      <a:solidFill>
                        <a:srgbClr val="C8DCE8"/>
                      </a:solidFill>
                      <a:prstDash val="solid"/>
                      <a:round/>
                      <a:headEnd type="none" w="med" len="med"/>
                      <a:tailEnd type="none" w="med" len="med"/>
                    </a:lnB>
                  </a:tcPr>
                </a:tc>
                <a:tc>
                  <a:txBody>
                    <a:bodyPr/>
                    <a:lstStyle/>
                    <a:p>
                      <a:pPr marL="0" indent="0" algn="ctr">
                        <a:buNone/>
                      </a:pPr>
                      <a:r>
                        <a:rPr lang="en-US" sz="1200" dirty="0">
                          <a:solidFill>
                            <a:srgbClr val="1A2B3C"/>
                          </a:solidFill>
                          <a:latin typeface="Calibri" pitchFamily="34" charset="0"/>
                          <a:ea typeface="Calibri" pitchFamily="34" charset="-122"/>
                          <a:cs typeface="Calibri" pitchFamily="34" charset="-120"/>
                        </a:rPr>
                        <a:t>None</a:t>
                      </a:r>
                      <a:endParaRPr lang="en-US" sz="1200" dirty="0">
                        <a:latin typeface="Calibri" charset="0"/>
                        <a:ea typeface="Calibri" charset="0"/>
                        <a:cs typeface="Calibri" charset="0"/>
                      </a:endParaRPr>
                    </a:p>
                  </a:txBody>
                  <a:tcPr>
                    <a:lnL w="6350" cap="flat" cmpd="sng" algn="ctr">
                      <a:solidFill>
                        <a:srgbClr val="C8DCE8"/>
                      </a:solidFill>
                      <a:prstDash val="solid"/>
                      <a:round/>
                      <a:headEnd type="none" w="med" len="med"/>
                      <a:tailEnd type="none" w="med" len="med"/>
                    </a:lnL>
                    <a:lnR w="6350" cap="flat" cmpd="sng" algn="ctr">
                      <a:solidFill>
                        <a:srgbClr val="C8DCE8"/>
                      </a:solidFill>
                      <a:prstDash val="solid"/>
                      <a:round/>
                      <a:headEnd type="none" w="med" len="med"/>
                      <a:tailEnd type="none" w="med" len="med"/>
                    </a:lnR>
                    <a:lnT w="6350" cap="flat" cmpd="sng" algn="ctr">
                      <a:solidFill>
                        <a:srgbClr val="C8DCE8"/>
                      </a:solidFill>
                      <a:prstDash val="solid"/>
                      <a:round/>
                      <a:headEnd type="none" w="med" len="med"/>
                      <a:tailEnd type="none" w="med" len="med"/>
                    </a:lnT>
                    <a:lnB w="6350" cap="flat" cmpd="sng" algn="ctr">
                      <a:solidFill>
                        <a:srgbClr val="C8DCE8"/>
                      </a:solidFill>
                      <a:prstDash val="solid"/>
                      <a:round/>
                      <a:headEnd type="none" w="med" len="med"/>
                      <a:tailEnd type="none" w="med" len="med"/>
                    </a:lnB>
                  </a:tcPr>
                </a:tc>
                <a:tc>
                  <a:txBody>
                    <a:bodyPr/>
                    <a:lstStyle/>
                    <a:p>
                      <a:pPr marL="0" indent="0" algn="ctr">
                        <a:buNone/>
                      </a:pPr>
                      <a:r>
                        <a:rPr lang="en-US" sz="1200" dirty="0">
                          <a:solidFill>
                            <a:srgbClr val="1A2B3C"/>
                          </a:solidFill>
                          <a:latin typeface="Calibri" pitchFamily="34" charset="0"/>
                          <a:ea typeface="Calibri" pitchFamily="34" charset="-122"/>
                          <a:cs typeface="Calibri" pitchFamily="34" charset="-120"/>
                        </a:rPr>
                        <a:t>Embed + layers 1–8</a:t>
                      </a:r>
                      <a:endParaRPr lang="en-US" sz="1200" dirty="0">
                        <a:latin typeface="Calibri" charset="0"/>
                        <a:ea typeface="Calibri" charset="0"/>
                        <a:cs typeface="Calibri" charset="0"/>
                      </a:endParaRPr>
                    </a:p>
                  </a:txBody>
                  <a:tcPr>
                    <a:lnL w="6350" cap="flat" cmpd="sng" algn="ctr">
                      <a:solidFill>
                        <a:srgbClr val="C8DCE8"/>
                      </a:solidFill>
                      <a:prstDash val="solid"/>
                      <a:round/>
                      <a:headEnd type="none" w="med" len="med"/>
                      <a:tailEnd type="none" w="med" len="med"/>
                    </a:lnL>
                    <a:lnR w="6350" cap="flat" cmpd="sng" algn="ctr">
                      <a:solidFill>
                        <a:srgbClr val="C8DCE8"/>
                      </a:solidFill>
                      <a:prstDash val="solid"/>
                      <a:round/>
                      <a:headEnd type="none" w="med" len="med"/>
                      <a:tailEnd type="none" w="med" len="med"/>
                    </a:lnR>
                    <a:lnT w="6350" cap="flat" cmpd="sng" algn="ctr">
                      <a:solidFill>
                        <a:srgbClr val="C8DCE8"/>
                      </a:solidFill>
                      <a:prstDash val="solid"/>
                      <a:round/>
                      <a:headEnd type="none" w="med" len="med"/>
                      <a:tailEnd type="none" w="med" len="med"/>
                    </a:lnT>
                    <a:lnB w="6350" cap="flat" cmpd="sng" algn="ctr">
                      <a:solidFill>
                        <a:srgbClr val="C8DCE8"/>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grpSp>
        <p:nvGrpSpPr>
          <p:cNvPr id="24" name="Group 23">
            <a:extLst>
              <a:ext uri="{FF2B5EF4-FFF2-40B4-BE49-F238E27FC236}">
                <a16:creationId xmlns:a16="http://schemas.microsoft.com/office/drawing/2014/main" id="{C4C07578-7A3A-4023-8C62-B57F8A27FD2B}"/>
              </a:ext>
            </a:extLst>
          </p:cNvPr>
          <p:cNvGrpSpPr/>
          <p:nvPr/>
        </p:nvGrpSpPr>
        <p:grpSpPr>
          <a:xfrm>
            <a:off x="4480560" y="995511"/>
            <a:ext cx="4462473" cy="2615465"/>
            <a:chOff x="528140" y="2542032"/>
            <a:chExt cx="4125050" cy="2423160"/>
          </a:xfrm>
        </p:grpSpPr>
        <p:sp>
          <p:nvSpPr>
            <p:cNvPr id="25" name="Shape 18">
              <a:extLst>
                <a:ext uri="{FF2B5EF4-FFF2-40B4-BE49-F238E27FC236}">
                  <a16:creationId xmlns:a16="http://schemas.microsoft.com/office/drawing/2014/main" id="{56824D49-5E6D-F8F6-0A26-FD19D3D064E9}"/>
                </a:ext>
              </a:extLst>
            </p:cNvPr>
            <p:cNvSpPr/>
            <p:nvPr/>
          </p:nvSpPr>
          <p:spPr>
            <a:xfrm>
              <a:off x="538390" y="2542032"/>
              <a:ext cx="4114800" cy="2423160"/>
            </a:xfrm>
            <a:prstGeom prst="rect">
              <a:avLst/>
            </a:prstGeom>
            <a:solidFill>
              <a:srgbClr val="F0F6FA"/>
            </a:solidFill>
            <a:ln w="12700">
              <a:solidFill>
                <a:srgbClr val="D0E4EC"/>
              </a:solidFill>
              <a:prstDash val="solid"/>
            </a:ln>
            <a:effectLst>
              <a:outerShdw blurRad="76200" dist="25400" dir="8100000" algn="bl" rotWithShape="0">
                <a:srgbClr val="000000">
                  <a:alpha val="12000"/>
                </a:srgbClr>
              </a:outerShdw>
            </a:effectLst>
          </p:spPr>
          <p:txBody>
            <a:bodyPr/>
            <a:lstStyle/>
            <a:p>
              <a:endParaRPr lang="en-CN" sz="2000"/>
            </a:p>
          </p:txBody>
        </p:sp>
        <p:sp>
          <p:nvSpPr>
            <p:cNvPr id="26" name="Shape 19">
              <a:extLst>
                <a:ext uri="{FF2B5EF4-FFF2-40B4-BE49-F238E27FC236}">
                  <a16:creationId xmlns:a16="http://schemas.microsoft.com/office/drawing/2014/main" id="{BA9D4490-37D9-260D-37A7-0F65F3AE5B61}"/>
                </a:ext>
              </a:extLst>
            </p:cNvPr>
            <p:cNvSpPr/>
            <p:nvPr/>
          </p:nvSpPr>
          <p:spPr>
            <a:xfrm>
              <a:off x="528140" y="2542032"/>
              <a:ext cx="4114800" cy="347472"/>
            </a:xfrm>
            <a:prstGeom prst="rect">
              <a:avLst/>
            </a:prstGeom>
            <a:solidFill>
              <a:srgbClr val="0D2137"/>
            </a:solidFill>
            <a:ln w="12700">
              <a:solidFill>
                <a:srgbClr val="0D2137"/>
              </a:solidFill>
              <a:prstDash val="solid"/>
            </a:ln>
          </p:spPr>
          <p:txBody>
            <a:bodyPr/>
            <a:lstStyle/>
            <a:p>
              <a:endParaRPr lang="en-CN"/>
            </a:p>
          </p:txBody>
        </p:sp>
        <p:sp>
          <p:nvSpPr>
            <p:cNvPr id="27" name="Text 20">
              <a:extLst>
                <a:ext uri="{FF2B5EF4-FFF2-40B4-BE49-F238E27FC236}">
                  <a16:creationId xmlns:a16="http://schemas.microsoft.com/office/drawing/2014/main" id="{DB0A8415-532D-88FD-E1E0-28F451601B2A}"/>
                </a:ext>
              </a:extLst>
            </p:cNvPr>
            <p:cNvSpPr/>
            <p:nvPr/>
          </p:nvSpPr>
          <p:spPr>
            <a:xfrm>
              <a:off x="538390" y="2560320"/>
              <a:ext cx="4114800" cy="310896"/>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Two-Stage Filtering</a:t>
              </a:r>
              <a:endParaRPr lang="en-US" sz="1600" dirty="0"/>
            </a:p>
          </p:txBody>
        </p:sp>
        <p:sp>
          <p:nvSpPr>
            <p:cNvPr id="28" name="Text 21">
              <a:extLst>
                <a:ext uri="{FF2B5EF4-FFF2-40B4-BE49-F238E27FC236}">
                  <a16:creationId xmlns:a16="http://schemas.microsoft.com/office/drawing/2014/main" id="{D7E10754-67F4-5B87-111E-20E96F9BD2BE}"/>
                </a:ext>
              </a:extLst>
            </p:cNvPr>
            <p:cNvSpPr/>
            <p:nvPr/>
          </p:nvSpPr>
          <p:spPr>
            <a:xfrm>
              <a:off x="648118" y="2971800"/>
              <a:ext cx="1371600" cy="457200"/>
            </a:xfrm>
            <a:prstGeom prst="rect">
              <a:avLst/>
            </a:prstGeom>
            <a:noFill/>
            <a:ln/>
          </p:spPr>
          <p:txBody>
            <a:bodyPr wrap="square" rtlCol="0" anchor="ctr"/>
            <a:lstStyle/>
            <a:p>
              <a:pPr marL="0" indent="0" algn="r">
                <a:buNone/>
              </a:pPr>
              <a:r>
                <a:rPr lang="en-US" sz="1600" b="1" dirty="0">
                  <a:solidFill>
                    <a:srgbClr val="028090"/>
                  </a:solidFill>
                  <a:latin typeface="Calibri" pitchFamily="34" charset="0"/>
                  <a:ea typeface="Calibri" pitchFamily="34" charset="-122"/>
                  <a:cs typeface="Calibri" pitchFamily="34" charset="-120"/>
                </a:rPr>
                <a:t>800,000</a:t>
              </a:r>
              <a:endParaRPr lang="en-US" sz="1600" dirty="0"/>
            </a:p>
          </p:txBody>
        </p:sp>
        <p:sp>
          <p:nvSpPr>
            <p:cNvPr id="29" name="Text 22">
              <a:extLst>
                <a:ext uri="{FF2B5EF4-FFF2-40B4-BE49-F238E27FC236}">
                  <a16:creationId xmlns:a16="http://schemas.microsoft.com/office/drawing/2014/main" id="{7BC91E52-AA87-5F14-476A-09FAAEEF86F4}"/>
                </a:ext>
              </a:extLst>
            </p:cNvPr>
            <p:cNvSpPr/>
            <p:nvPr/>
          </p:nvSpPr>
          <p:spPr>
            <a:xfrm>
              <a:off x="2111158" y="2990088"/>
              <a:ext cx="2377440" cy="411480"/>
            </a:xfrm>
            <a:prstGeom prst="rect">
              <a:avLst/>
            </a:prstGeom>
            <a:noFill/>
            <a:ln/>
          </p:spPr>
          <p:txBody>
            <a:bodyPr wrap="square" rtlCol="0" anchor="ctr"/>
            <a:lstStyle/>
            <a:p>
              <a:pPr marL="0" indent="0">
                <a:buNone/>
              </a:pPr>
              <a:r>
                <a:rPr lang="en-US" sz="1600" dirty="0">
                  <a:solidFill>
                    <a:srgbClr val="1A2B3C"/>
                  </a:solidFill>
                  <a:latin typeface="Calibri" pitchFamily="34" charset="0"/>
                  <a:ea typeface="Calibri" pitchFamily="34" charset="-122"/>
                  <a:cs typeface="Calibri" pitchFamily="34" charset="-120"/>
                </a:rPr>
                <a:t>Full Reddit corpus</a:t>
              </a:r>
              <a:endParaRPr lang="en-US" sz="1600" dirty="0"/>
            </a:p>
          </p:txBody>
        </p:sp>
        <p:sp>
          <p:nvSpPr>
            <p:cNvPr id="30" name="Text 23">
              <a:extLst>
                <a:ext uri="{FF2B5EF4-FFF2-40B4-BE49-F238E27FC236}">
                  <a16:creationId xmlns:a16="http://schemas.microsoft.com/office/drawing/2014/main" id="{0536630D-DC8F-27A4-3AA3-A1B420EACD6C}"/>
                </a:ext>
              </a:extLst>
            </p:cNvPr>
            <p:cNvSpPr/>
            <p:nvPr/>
          </p:nvSpPr>
          <p:spPr>
            <a:xfrm>
              <a:off x="648118" y="3566160"/>
              <a:ext cx="1371600" cy="457200"/>
            </a:xfrm>
            <a:prstGeom prst="rect">
              <a:avLst/>
            </a:prstGeom>
            <a:noFill/>
            <a:ln/>
          </p:spPr>
          <p:txBody>
            <a:bodyPr wrap="square" rtlCol="0" anchor="ctr"/>
            <a:lstStyle/>
            <a:p>
              <a:pPr marL="0" indent="0" algn="r">
                <a:buNone/>
              </a:pPr>
              <a:r>
                <a:rPr lang="en-US" sz="1600" b="1" dirty="0">
                  <a:solidFill>
                    <a:srgbClr val="028090"/>
                  </a:solidFill>
                  <a:latin typeface="Calibri" pitchFamily="34" charset="0"/>
                  <a:ea typeface="Calibri" pitchFamily="34" charset="-122"/>
                  <a:cs typeface="Calibri" pitchFamily="34" charset="-120"/>
                </a:rPr>
                <a:t>→  88,554</a:t>
              </a:r>
              <a:endParaRPr lang="en-US" sz="1600" dirty="0"/>
            </a:p>
          </p:txBody>
        </p:sp>
        <p:sp>
          <p:nvSpPr>
            <p:cNvPr id="31" name="Text 24">
              <a:extLst>
                <a:ext uri="{FF2B5EF4-FFF2-40B4-BE49-F238E27FC236}">
                  <a16:creationId xmlns:a16="http://schemas.microsoft.com/office/drawing/2014/main" id="{01585176-208F-7155-3103-1DC5405C0681}"/>
                </a:ext>
              </a:extLst>
            </p:cNvPr>
            <p:cNvSpPr/>
            <p:nvPr/>
          </p:nvSpPr>
          <p:spPr>
            <a:xfrm>
              <a:off x="2111158" y="3584448"/>
              <a:ext cx="2377440" cy="411480"/>
            </a:xfrm>
            <a:prstGeom prst="rect">
              <a:avLst/>
            </a:prstGeom>
            <a:noFill/>
            <a:ln/>
          </p:spPr>
          <p:txBody>
            <a:bodyPr wrap="square" rtlCol="0" anchor="ctr"/>
            <a:lstStyle/>
            <a:p>
              <a:pPr marL="0" indent="0">
                <a:buNone/>
              </a:pPr>
              <a:r>
                <a:rPr lang="en-US" sz="1600" dirty="0">
                  <a:solidFill>
                    <a:srgbClr val="1A2B3C"/>
                  </a:solidFill>
                  <a:latin typeface="Calibri" pitchFamily="34" charset="0"/>
                  <a:ea typeface="Calibri" pitchFamily="34" charset="-122"/>
                  <a:cs typeface="Calibri" pitchFamily="34" charset="-120"/>
                </a:rPr>
                <a:t>RoBERTa predictions (shortage=1)</a:t>
              </a:r>
              <a:endParaRPr lang="en-US" sz="1600" dirty="0"/>
            </a:p>
          </p:txBody>
        </p:sp>
        <p:sp>
          <p:nvSpPr>
            <p:cNvPr id="32" name="Text 25">
              <a:extLst>
                <a:ext uri="{FF2B5EF4-FFF2-40B4-BE49-F238E27FC236}">
                  <a16:creationId xmlns:a16="http://schemas.microsoft.com/office/drawing/2014/main" id="{47A11230-F2B7-DAA8-98ED-648321601C72}"/>
                </a:ext>
              </a:extLst>
            </p:cNvPr>
            <p:cNvSpPr/>
            <p:nvPr/>
          </p:nvSpPr>
          <p:spPr>
            <a:xfrm>
              <a:off x="648118" y="4160520"/>
              <a:ext cx="1371600" cy="457200"/>
            </a:xfrm>
            <a:prstGeom prst="rect">
              <a:avLst/>
            </a:prstGeom>
            <a:noFill/>
            <a:ln/>
          </p:spPr>
          <p:txBody>
            <a:bodyPr wrap="square" rtlCol="0" anchor="ctr"/>
            <a:lstStyle/>
            <a:p>
              <a:pPr marL="0" indent="0" algn="r">
                <a:buNone/>
              </a:pPr>
              <a:r>
                <a:rPr lang="en-US" sz="1600" b="1" dirty="0">
                  <a:solidFill>
                    <a:srgbClr val="02C39A"/>
                  </a:solidFill>
                  <a:latin typeface="Calibri" pitchFamily="34" charset="0"/>
                  <a:ea typeface="Calibri" pitchFamily="34" charset="-122"/>
                  <a:cs typeface="Calibri" pitchFamily="34" charset="-120"/>
                </a:rPr>
                <a:t>→  52,866</a:t>
              </a:r>
              <a:endParaRPr lang="en-US" sz="1600" dirty="0"/>
            </a:p>
          </p:txBody>
        </p:sp>
        <p:sp>
          <p:nvSpPr>
            <p:cNvPr id="33" name="Text 26">
              <a:extLst>
                <a:ext uri="{FF2B5EF4-FFF2-40B4-BE49-F238E27FC236}">
                  <a16:creationId xmlns:a16="http://schemas.microsoft.com/office/drawing/2014/main" id="{CDAC264B-2A68-7FD7-72FC-BE867AAC2B7A}"/>
                </a:ext>
              </a:extLst>
            </p:cNvPr>
            <p:cNvSpPr/>
            <p:nvPr/>
          </p:nvSpPr>
          <p:spPr>
            <a:xfrm>
              <a:off x="2111158" y="4178808"/>
              <a:ext cx="2377440" cy="411480"/>
            </a:xfrm>
            <a:prstGeom prst="rect">
              <a:avLst/>
            </a:prstGeom>
            <a:noFill/>
            <a:ln/>
          </p:spPr>
          <p:txBody>
            <a:bodyPr wrap="square" rtlCol="0" anchor="ctr"/>
            <a:lstStyle/>
            <a:p>
              <a:pPr marL="0" indent="0">
                <a:buNone/>
              </a:pPr>
              <a:r>
                <a:rPr lang="en-US" sz="1600" dirty="0">
                  <a:solidFill>
                    <a:srgbClr val="1A2B3C"/>
                  </a:solidFill>
                  <a:latin typeface="Calibri" pitchFamily="34" charset="0"/>
                  <a:ea typeface="Calibri" pitchFamily="34" charset="-122"/>
                  <a:cs typeface="Calibri" pitchFamily="34" charset="-120"/>
                </a:rPr>
                <a:t>After o3-mini LLM filtering</a:t>
              </a:r>
              <a:endParaRPr lang="en-US" sz="1600" dirty="0"/>
            </a:p>
          </p:txBody>
        </p:sp>
      </p:grpSp>
      <p:grpSp>
        <p:nvGrpSpPr>
          <p:cNvPr id="34" name="Group 33">
            <a:extLst>
              <a:ext uri="{FF2B5EF4-FFF2-40B4-BE49-F238E27FC236}">
                <a16:creationId xmlns:a16="http://schemas.microsoft.com/office/drawing/2014/main" id="{E5AEA5C5-BC22-612B-136D-5286BACDE169}"/>
              </a:ext>
            </a:extLst>
          </p:cNvPr>
          <p:cNvGrpSpPr/>
          <p:nvPr/>
        </p:nvGrpSpPr>
        <p:grpSpPr>
          <a:xfrm>
            <a:off x="5059758" y="3416674"/>
            <a:ext cx="1541618" cy="1124702"/>
            <a:chOff x="347472" y="932688"/>
            <a:chExt cx="1956816" cy="1417320"/>
          </a:xfrm>
        </p:grpSpPr>
        <p:sp>
          <p:nvSpPr>
            <p:cNvPr id="35" name="Shape 2">
              <a:extLst>
                <a:ext uri="{FF2B5EF4-FFF2-40B4-BE49-F238E27FC236}">
                  <a16:creationId xmlns:a16="http://schemas.microsoft.com/office/drawing/2014/main" id="{932B05CE-FF94-090D-0512-94573583D02A}"/>
                </a:ext>
              </a:extLst>
            </p:cNvPr>
            <p:cNvSpPr/>
            <p:nvPr/>
          </p:nvSpPr>
          <p:spPr>
            <a:xfrm>
              <a:off x="347472" y="932688"/>
              <a:ext cx="1956816" cy="1417320"/>
            </a:xfrm>
            <a:prstGeom prst="rect">
              <a:avLst/>
            </a:prstGeom>
            <a:solidFill>
              <a:srgbClr val="F0F6FA"/>
            </a:solidFill>
            <a:ln w="12700">
              <a:solidFill>
                <a:srgbClr val="D0E4EC"/>
              </a:solidFill>
              <a:prstDash val="solid"/>
            </a:ln>
            <a:effectLst>
              <a:outerShdw blurRad="76200" dist="25400" dir="8100000" algn="bl" rotWithShape="0">
                <a:srgbClr val="000000">
                  <a:alpha val="12000"/>
                </a:srgbClr>
              </a:outerShdw>
            </a:effectLst>
          </p:spPr>
          <p:txBody>
            <a:bodyPr/>
            <a:lstStyle/>
            <a:p>
              <a:endParaRPr lang="en-CN"/>
            </a:p>
          </p:txBody>
        </p:sp>
        <p:sp>
          <p:nvSpPr>
            <p:cNvPr id="36" name="Shape 3">
              <a:extLst>
                <a:ext uri="{FF2B5EF4-FFF2-40B4-BE49-F238E27FC236}">
                  <a16:creationId xmlns:a16="http://schemas.microsoft.com/office/drawing/2014/main" id="{79231BBD-5C64-8FD2-0C3A-218C8C0D8E88}"/>
                </a:ext>
              </a:extLst>
            </p:cNvPr>
            <p:cNvSpPr/>
            <p:nvPr/>
          </p:nvSpPr>
          <p:spPr>
            <a:xfrm>
              <a:off x="347472" y="932688"/>
              <a:ext cx="1956816" cy="320040"/>
            </a:xfrm>
            <a:prstGeom prst="rect">
              <a:avLst/>
            </a:prstGeom>
            <a:solidFill>
              <a:srgbClr val="028090"/>
            </a:solidFill>
            <a:ln w="12700">
              <a:solidFill>
                <a:srgbClr val="028090"/>
              </a:solidFill>
              <a:prstDash val="solid"/>
            </a:ln>
          </p:spPr>
          <p:txBody>
            <a:bodyPr/>
            <a:lstStyle/>
            <a:p>
              <a:endParaRPr lang="en-CN"/>
            </a:p>
          </p:txBody>
        </p:sp>
        <p:sp>
          <p:nvSpPr>
            <p:cNvPr id="37" name="Text 4">
              <a:extLst>
                <a:ext uri="{FF2B5EF4-FFF2-40B4-BE49-F238E27FC236}">
                  <a16:creationId xmlns:a16="http://schemas.microsoft.com/office/drawing/2014/main" id="{2EB78B13-4CCF-50CC-0712-9FFAA263CABD}"/>
                </a:ext>
              </a:extLst>
            </p:cNvPr>
            <p:cNvSpPr/>
            <p:nvPr/>
          </p:nvSpPr>
          <p:spPr>
            <a:xfrm>
              <a:off x="347472" y="1298448"/>
              <a:ext cx="1956816" cy="640080"/>
            </a:xfrm>
            <a:prstGeom prst="rect">
              <a:avLst/>
            </a:prstGeom>
            <a:noFill/>
            <a:ln/>
          </p:spPr>
          <p:txBody>
            <a:bodyPr wrap="square" rtlCol="0" anchor="ctr"/>
            <a:lstStyle/>
            <a:p>
              <a:pPr marL="0" indent="0" algn="ctr">
                <a:buNone/>
              </a:pPr>
              <a:r>
                <a:rPr lang="en-US" sz="3000" b="1" dirty="0">
                  <a:solidFill>
                    <a:srgbClr val="028090"/>
                  </a:solidFill>
                  <a:latin typeface="Calibri" pitchFamily="34" charset="0"/>
                  <a:ea typeface="Calibri" pitchFamily="34" charset="-122"/>
                  <a:cs typeface="Calibri" pitchFamily="34" charset="-120"/>
                </a:rPr>
                <a:t>0.87</a:t>
              </a:r>
              <a:endParaRPr lang="en-US" sz="3000" dirty="0"/>
            </a:p>
          </p:txBody>
        </p:sp>
        <p:sp>
          <p:nvSpPr>
            <p:cNvPr id="38" name="Text 5">
              <a:extLst>
                <a:ext uri="{FF2B5EF4-FFF2-40B4-BE49-F238E27FC236}">
                  <a16:creationId xmlns:a16="http://schemas.microsoft.com/office/drawing/2014/main" id="{01434417-54D1-53AA-EA88-CACECBCC28FD}"/>
                </a:ext>
              </a:extLst>
            </p:cNvPr>
            <p:cNvSpPr/>
            <p:nvPr/>
          </p:nvSpPr>
          <p:spPr>
            <a:xfrm>
              <a:off x="347472" y="1920240"/>
              <a:ext cx="1956816" cy="384048"/>
            </a:xfrm>
            <a:prstGeom prst="rect">
              <a:avLst/>
            </a:prstGeom>
            <a:noFill/>
            <a:ln/>
          </p:spPr>
          <p:txBody>
            <a:bodyPr wrap="square" rtlCol="0" anchor="ctr"/>
            <a:lstStyle/>
            <a:p>
              <a:pPr marL="0" indent="0" algn="ctr">
                <a:buNone/>
              </a:pPr>
              <a:r>
                <a:rPr lang="en-US" sz="1000" dirty="0">
                  <a:solidFill>
                    <a:srgbClr val="5A7080"/>
                  </a:solidFill>
                  <a:latin typeface="Calibri" pitchFamily="34" charset="0"/>
                  <a:ea typeface="Calibri" pitchFamily="34" charset="-122"/>
                  <a:cs typeface="Calibri" pitchFamily="34" charset="-120"/>
                </a:rPr>
                <a:t>F1 Score</a:t>
              </a:r>
              <a:endParaRPr lang="en-US" sz="1000" dirty="0"/>
            </a:p>
            <a:p>
              <a:pPr marL="0" indent="0" algn="ctr">
                <a:buNone/>
              </a:pPr>
              <a:r>
                <a:rPr lang="en-US" sz="1000" dirty="0">
                  <a:solidFill>
                    <a:srgbClr val="5A7080"/>
                  </a:solidFill>
                  <a:latin typeface="Calibri" pitchFamily="34" charset="0"/>
                  <a:ea typeface="Calibri" pitchFamily="34" charset="-122"/>
                  <a:cs typeface="Calibri" pitchFamily="34" charset="-120"/>
                </a:rPr>
                <a:t>(Shortage Class)</a:t>
              </a:r>
              <a:endParaRPr lang="en-US" sz="1000" dirty="0"/>
            </a:p>
          </p:txBody>
        </p:sp>
      </p:grpSp>
      <p:grpSp>
        <p:nvGrpSpPr>
          <p:cNvPr id="39" name="Group 38">
            <a:extLst>
              <a:ext uri="{FF2B5EF4-FFF2-40B4-BE49-F238E27FC236}">
                <a16:creationId xmlns:a16="http://schemas.microsoft.com/office/drawing/2014/main" id="{63B83C97-E88A-4BA3-775D-A62079347A57}"/>
              </a:ext>
            </a:extLst>
          </p:cNvPr>
          <p:cNvGrpSpPr/>
          <p:nvPr/>
        </p:nvGrpSpPr>
        <p:grpSpPr>
          <a:xfrm>
            <a:off x="6820832" y="3416673"/>
            <a:ext cx="1541618" cy="1124674"/>
            <a:chOff x="2523744" y="932688"/>
            <a:chExt cx="1956816" cy="1417320"/>
          </a:xfrm>
        </p:grpSpPr>
        <p:sp>
          <p:nvSpPr>
            <p:cNvPr id="40" name="Shape 6">
              <a:extLst>
                <a:ext uri="{FF2B5EF4-FFF2-40B4-BE49-F238E27FC236}">
                  <a16:creationId xmlns:a16="http://schemas.microsoft.com/office/drawing/2014/main" id="{FCB37481-1E4E-55AB-F89B-15E7242467FB}"/>
                </a:ext>
              </a:extLst>
            </p:cNvPr>
            <p:cNvSpPr/>
            <p:nvPr/>
          </p:nvSpPr>
          <p:spPr>
            <a:xfrm>
              <a:off x="2523744" y="932688"/>
              <a:ext cx="1956816" cy="1417320"/>
            </a:xfrm>
            <a:prstGeom prst="rect">
              <a:avLst/>
            </a:prstGeom>
            <a:solidFill>
              <a:srgbClr val="F0F6FA"/>
            </a:solidFill>
            <a:ln w="12700">
              <a:solidFill>
                <a:srgbClr val="D0E4EC"/>
              </a:solidFill>
              <a:prstDash val="solid"/>
            </a:ln>
            <a:effectLst>
              <a:outerShdw blurRad="76200" dist="25400" dir="8100000" algn="bl" rotWithShape="0">
                <a:srgbClr val="000000">
                  <a:alpha val="12000"/>
                </a:srgbClr>
              </a:outerShdw>
            </a:effectLst>
          </p:spPr>
          <p:txBody>
            <a:bodyPr/>
            <a:lstStyle/>
            <a:p>
              <a:endParaRPr lang="en-CN"/>
            </a:p>
          </p:txBody>
        </p:sp>
        <p:sp>
          <p:nvSpPr>
            <p:cNvPr id="41" name="Shape 7">
              <a:extLst>
                <a:ext uri="{FF2B5EF4-FFF2-40B4-BE49-F238E27FC236}">
                  <a16:creationId xmlns:a16="http://schemas.microsoft.com/office/drawing/2014/main" id="{67CBEADD-E572-1201-8F9A-F7B6CBBE52B2}"/>
                </a:ext>
              </a:extLst>
            </p:cNvPr>
            <p:cNvSpPr/>
            <p:nvPr/>
          </p:nvSpPr>
          <p:spPr>
            <a:xfrm>
              <a:off x="2523744" y="932688"/>
              <a:ext cx="1956816" cy="320040"/>
            </a:xfrm>
            <a:prstGeom prst="rect">
              <a:avLst/>
            </a:prstGeom>
            <a:solidFill>
              <a:srgbClr val="0D2137"/>
            </a:solidFill>
            <a:ln w="12700">
              <a:solidFill>
                <a:srgbClr val="0D2137"/>
              </a:solidFill>
              <a:prstDash val="solid"/>
            </a:ln>
          </p:spPr>
          <p:txBody>
            <a:bodyPr/>
            <a:lstStyle/>
            <a:p>
              <a:endParaRPr lang="en-CN"/>
            </a:p>
          </p:txBody>
        </p:sp>
        <p:sp>
          <p:nvSpPr>
            <p:cNvPr id="42" name="Text 8">
              <a:extLst>
                <a:ext uri="{FF2B5EF4-FFF2-40B4-BE49-F238E27FC236}">
                  <a16:creationId xmlns:a16="http://schemas.microsoft.com/office/drawing/2014/main" id="{888BA16B-B6DF-EC3E-3DA4-731BA1412C04}"/>
                </a:ext>
              </a:extLst>
            </p:cNvPr>
            <p:cNvSpPr/>
            <p:nvPr/>
          </p:nvSpPr>
          <p:spPr>
            <a:xfrm>
              <a:off x="2523744" y="1298448"/>
              <a:ext cx="1956816" cy="640080"/>
            </a:xfrm>
            <a:prstGeom prst="rect">
              <a:avLst/>
            </a:prstGeom>
            <a:noFill/>
            <a:ln/>
          </p:spPr>
          <p:txBody>
            <a:bodyPr wrap="square" rtlCol="0" anchor="ctr"/>
            <a:lstStyle/>
            <a:p>
              <a:pPr marL="0" indent="0" algn="ctr">
                <a:buNone/>
              </a:pPr>
              <a:r>
                <a:rPr lang="en-US" sz="3000" b="1" dirty="0">
                  <a:solidFill>
                    <a:srgbClr val="0D2137"/>
                  </a:solidFill>
                  <a:latin typeface="Calibri" pitchFamily="34" charset="0"/>
                  <a:ea typeface="Calibri" pitchFamily="34" charset="-122"/>
                  <a:cs typeface="Calibri" pitchFamily="34" charset="-120"/>
                </a:rPr>
                <a:t>0.94</a:t>
              </a:r>
              <a:endParaRPr lang="en-US" sz="3000" dirty="0"/>
            </a:p>
          </p:txBody>
        </p:sp>
        <p:sp>
          <p:nvSpPr>
            <p:cNvPr id="43" name="Text 9">
              <a:extLst>
                <a:ext uri="{FF2B5EF4-FFF2-40B4-BE49-F238E27FC236}">
                  <a16:creationId xmlns:a16="http://schemas.microsoft.com/office/drawing/2014/main" id="{CC015E72-D64B-A43C-2909-0FC2ECDE3DF1}"/>
                </a:ext>
              </a:extLst>
            </p:cNvPr>
            <p:cNvSpPr/>
            <p:nvPr/>
          </p:nvSpPr>
          <p:spPr>
            <a:xfrm>
              <a:off x="2523744" y="1920240"/>
              <a:ext cx="1956816" cy="384048"/>
            </a:xfrm>
            <a:prstGeom prst="rect">
              <a:avLst/>
            </a:prstGeom>
            <a:noFill/>
            <a:ln/>
          </p:spPr>
          <p:txBody>
            <a:bodyPr wrap="square" rtlCol="0" anchor="ctr"/>
            <a:lstStyle/>
            <a:p>
              <a:pPr marL="0" indent="0" algn="ctr">
                <a:buNone/>
              </a:pPr>
              <a:r>
                <a:rPr lang="en-US" sz="1000" dirty="0">
                  <a:solidFill>
                    <a:srgbClr val="5A7080"/>
                  </a:solidFill>
                  <a:latin typeface="Calibri" pitchFamily="34" charset="0"/>
                  <a:ea typeface="Calibri" pitchFamily="34" charset="-122"/>
                  <a:cs typeface="Calibri" pitchFamily="34" charset="-120"/>
                </a:rPr>
                <a:t>F1 Score</a:t>
              </a:r>
              <a:endParaRPr lang="en-US" sz="1000" dirty="0"/>
            </a:p>
            <a:p>
              <a:pPr marL="0" indent="0" algn="ctr">
                <a:buNone/>
              </a:pPr>
              <a:r>
                <a:rPr lang="en-US" sz="1000" dirty="0">
                  <a:solidFill>
                    <a:srgbClr val="5A7080"/>
                  </a:solidFill>
                  <a:latin typeface="Calibri" pitchFamily="34" charset="0"/>
                  <a:ea typeface="Calibri" pitchFamily="34" charset="-122"/>
                  <a:cs typeface="Calibri" pitchFamily="34" charset="-120"/>
                </a:rPr>
                <a:t>(Non-Shortage Class)</a:t>
              </a:r>
              <a:endParaRPr lang="en-US" sz="1000"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xit" presetSubtype="10" fill="hold" nodeType="clickEffect">
                                  <p:stCondLst>
                                    <p:cond delay="0"/>
                                  </p:stCondLst>
                                  <p:childTnLst>
                                    <p:animEffect transition="out" filter="blinds(horizontal)">
                                      <p:cBhvr>
                                        <p:cTn id="6" dur="500"/>
                                        <p:tgtEl>
                                          <p:spTgt spid="23"/>
                                        </p:tgtEl>
                                      </p:cBhvr>
                                    </p:animEffect>
                                    <p:set>
                                      <p:cBhvr>
                                        <p:cTn id="7" dur="1" fill="hold">
                                          <p:stCondLst>
                                            <p:cond delay="499"/>
                                          </p:stCondLst>
                                        </p:cTn>
                                        <p:tgtEl>
                                          <p:spTgt spid="23"/>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24"/>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34"/>
                                        </p:tgtEl>
                                        <p:attrNameLst>
                                          <p:attrName>style.visibility</p:attrName>
                                        </p:attrNameLst>
                                      </p:cBhvr>
                                      <p:to>
                                        <p:strVal val="visible"/>
                                      </p:to>
                                    </p:set>
                                  </p:childTnLst>
                                </p:cTn>
                              </p:par>
                              <p:par>
                                <p:cTn id="14" presetID="1" presetClass="entr" presetSubtype="0" fill="hold" nodeType="withEffect">
                                  <p:stCondLst>
                                    <p:cond delay="0"/>
                                  </p:stCondLst>
                                  <p:childTnLst>
                                    <p:set>
                                      <p:cBhvr>
                                        <p:cTn id="15"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201168"/>
            <a:ext cx="8229600" cy="566928"/>
          </a:xfrm>
          <a:prstGeom prst="rect">
            <a:avLst/>
          </a:prstGeom>
          <a:noFill/>
          <a:ln/>
        </p:spPr>
        <p:txBody>
          <a:bodyPr wrap="square" lIns="0" tIns="0" rIns="0" bIns="0" rtlCol="0" anchor="ctr"/>
          <a:lstStyle/>
          <a:p>
            <a:r>
              <a:rPr lang="en-US" sz="2000" b="1" dirty="0">
                <a:solidFill>
                  <a:srgbClr val="0D2137"/>
                </a:solidFill>
                <a:latin typeface="Calibri" pitchFamily="34" charset="0"/>
                <a:ea typeface="Calibri" pitchFamily="34" charset="-122"/>
                <a:cs typeface="Calibri" pitchFamily="34" charset="-120"/>
              </a:rPr>
              <a:t>Next: Enhanced Causality and Prediction Power (Downstream Business Value)</a:t>
            </a:r>
            <a:endParaRPr lang="en-US" sz="2000" dirty="0"/>
          </a:p>
        </p:txBody>
      </p:sp>
      <p:sp>
        <p:nvSpPr>
          <p:cNvPr id="3" name="Shape 1"/>
          <p:cNvSpPr/>
          <p:nvPr/>
        </p:nvSpPr>
        <p:spPr>
          <a:xfrm>
            <a:off x="457200" y="795528"/>
            <a:ext cx="8229600" cy="0"/>
          </a:xfrm>
          <a:prstGeom prst="line">
            <a:avLst/>
          </a:prstGeom>
          <a:noFill/>
          <a:ln w="25400">
            <a:solidFill>
              <a:srgbClr val="028090"/>
            </a:solidFill>
            <a:prstDash val="solid"/>
          </a:ln>
        </p:spPr>
        <p:txBody>
          <a:bodyPr/>
          <a:lstStyle/>
          <a:p>
            <a:endParaRPr lang="en-CN"/>
          </a:p>
        </p:txBody>
      </p:sp>
      <p:sp>
        <p:nvSpPr>
          <p:cNvPr id="4" name="Shape 2"/>
          <p:cNvSpPr/>
          <p:nvPr/>
        </p:nvSpPr>
        <p:spPr>
          <a:xfrm>
            <a:off x="274320" y="914400"/>
            <a:ext cx="4389120" cy="4041648"/>
          </a:xfrm>
          <a:prstGeom prst="rect">
            <a:avLst/>
          </a:prstGeom>
          <a:solidFill>
            <a:srgbClr val="F5FAFD"/>
          </a:solidFill>
          <a:ln w="12700">
            <a:solidFill>
              <a:srgbClr val="C8DCE8"/>
            </a:solidFill>
            <a:prstDash val="solid"/>
          </a:ln>
          <a:effectLst>
            <a:outerShdw blurRad="76200" dist="25400" dir="8100000" algn="bl" rotWithShape="0">
              <a:srgbClr val="000000">
                <a:alpha val="12000"/>
              </a:srgbClr>
            </a:outerShdw>
          </a:effectLst>
        </p:spPr>
        <p:txBody>
          <a:bodyPr/>
          <a:lstStyle/>
          <a:p>
            <a:endParaRPr lang="en-CN"/>
          </a:p>
        </p:txBody>
      </p:sp>
      <p:sp>
        <p:nvSpPr>
          <p:cNvPr id="5" name="Text 3"/>
          <p:cNvSpPr/>
          <p:nvPr/>
        </p:nvSpPr>
        <p:spPr>
          <a:xfrm>
            <a:off x="274320" y="914400"/>
            <a:ext cx="4389120" cy="347472"/>
          </a:xfrm>
          <a:prstGeom prst="rect">
            <a:avLst/>
          </a:prstGeom>
          <a:solidFill>
            <a:srgbClr val="D0EAF0"/>
          </a:solidFill>
          <a:ln/>
        </p:spPr>
        <p:txBody>
          <a:bodyPr wrap="square" rtlCol="0" anchor="ctr"/>
          <a:lstStyle/>
          <a:p>
            <a:pPr marL="0" indent="0" algn="ctr">
              <a:buNone/>
            </a:pPr>
            <a:r>
              <a:rPr lang="en-US" sz="1600" b="1" dirty="0">
                <a:solidFill>
                  <a:srgbClr val="0D2137"/>
                </a:solidFill>
                <a:latin typeface="Calibri" pitchFamily="34" charset="0"/>
                <a:ea typeface="Calibri" pitchFamily="34" charset="-122"/>
                <a:cs typeface="Calibri" pitchFamily="34" charset="-120"/>
              </a:rPr>
              <a:t>Model Architecture</a:t>
            </a:r>
            <a:endParaRPr lang="en-US" sz="1600" dirty="0"/>
          </a:p>
        </p:txBody>
      </p:sp>
      <p:sp>
        <p:nvSpPr>
          <p:cNvPr id="7" name="Shape 4"/>
          <p:cNvSpPr/>
          <p:nvPr/>
        </p:nvSpPr>
        <p:spPr>
          <a:xfrm>
            <a:off x="457200" y="4041648"/>
            <a:ext cx="201168" cy="201168"/>
          </a:xfrm>
          <a:prstGeom prst="rect">
            <a:avLst/>
          </a:prstGeom>
          <a:solidFill>
            <a:srgbClr val="E8855A"/>
          </a:solidFill>
          <a:ln w="12700">
            <a:solidFill>
              <a:srgbClr val="E8855A"/>
            </a:solidFill>
            <a:prstDash val="solid"/>
          </a:ln>
        </p:spPr>
        <p:txBody>
          <a:bodyPr/>
          <a:lstStyle/>
          <a:p>
            <a:endParaRPr lang="en-CN"/>
          </a:p>
        </p:txBody>
      </p:sp>
      <p:sp>
        <p:nvSpPr>
          <p:cNvPr id="8" name="Text 5"/>
          <p:cNvSpPr/>
          <p:nvPr/>
        </p:nvSpPr>
        <p:spPr>
          <a:xfrm>
            <a:off x="731520" y="4041648"/>
            <a:ext cx="4389120" cy="228600"/>
          </a:xfrm>
          <a:prstGeom prst="rect">
            <a:avLst/>
          </a:prstGeom>
          <a:noFill/>
          <a:ln/>
        </p:spPr>
        <p:txBody>
          <a:bodyPr wrap="square" rtlCol="0" anchor="ctr"/>
          <a:lstStyle/>
          <a:p>
            <a:pPr marL="0" indent="0">
              <a:buNone/>
            </a:pPr>
            <a:r>
              <a:rPr lang="en-US" sz="1200" dirty="0">
                <a:solidFill>
                  <a:srgbClr val="5A7080"/>
                </a:solidFill>
                <a:latin typeface="Calibri" pitchFamily="34" charset="0"/>
                <a:ea typeface="Calibri" pitchFamily="34" charset="-122"/>
                <a:cs typeface="Calibri" pitchFamily="34" charset="-120"/>
              </a:rPr>
              <a:t>Temporal Encoder (LSTM) → h_i^Temp</a:t>
            </a:r>
            <a:endParaRPr lang="en-US" sz="1200" dirty="0"/>
          </a:p>
        </p:txBody>
      </p:sp>
      <p:sp>
        <p:nvSpPr>
          <p:cNvPr id="9" name="Shape 6"/>
          <p:cNvSpPr/>
          <p:nvPr/>
        </p:nvSpPr>
        <p:spPr>
          <a:xfrm>
            <a:off x="457200" y="4334256"/>
            <a:ext cx="201168" cy="201168"/>
          </a:xfrm>
          <a:prstGeom prst="rect">
            <a:avLst/>
          </a:prstGeom>
          <a:solidFill>
            <a:srgbClr val="3B82F6"/>
          </a:solidFill>
          <a:ln w="12700">
            <a:solidFill>
              <a:srgbClr val="3B82F6"/>
            </a:solidFill>
            <a:prstDash val="solid"/>
          </a:ln>
        </p:spPr>
        <p:txBody>
          <a:bodyPr/>
          <a:lstStyle/>
          <a:p>
            <a:endParaRPr lang="en-CN"/>
          </a:p>
        </p:txBody>
      </p:sp>
      <p:sp>
        <p:nvSpPr>
          <p:cNvPr id="10" name="Text 7"/>
          <p:cNvSpPr/>
          <p:nvPr/>
        </p:nvSpPr>
        <p:spPr>
          <a:xfrm>
            <a:off x="731520" y="4334256"/>
            <a:ext cx="4389120" cy="228600"/>
          </a:xfrm>
          <a:prstGeom prst="rect">
            <a:avLst/>
          </a:prstGeom>
          <a:noFill/>
          <a:ln/>
        </p:spPr>
        <p:txBody>
          <a:bodyPr wrap="square" rtlCol="0" anchor="ctr"/>
          <a:lstStyle/>
          <a:p>
            <a:pPr marL="0" indent="0">
              <a:buNone/>
            </a:pPr>
            <a:r>
              <a:rPr lang="en-US" sz="1200" dirty="0">
                <a:solidFill>
                  <a:srgbClr val="5A7080"/>
                </a:solidFill>
                <a:latin typeface="Calibri" pitchFamily="34" charset="0"/>
                <a:ea typeface="Calibri" pitchFamily="34" charset="-122"/>
                <a:cs typeface="Calibri" pitchFamily="34" charset="-120"/>
              </a:rPr>
              <a:t>GNN → h_i^Spa</a:t>
            </a:r>
            <a:endParaRPr lang="en-US" sz="1200" dirty="0"/>
          </a:p>
        </p:txBody>
      </p:sp>
      <p:sp>
        <p:nvSpPr>
          <p:cNvPr id="11" name="Shape 8"/>
          <p:cNvSpPr/>
          <p:nvPr/>
        </p:nvSpPr>
        <p:spPr>
          <a:xfrm>
            <a:off x="457200" y="4626864"/>
            <a:ext cx="201168" cy="201168"/>
          </a:xfrm>
          <a:prstGeom prst="rect">
            <a:avLst/>
          </a:prstGeom>
          <a:solidFill>
            <a:srgbClr val="27AE60"/>
          </a:solidFill>
          <a:ln w="12700">
            <a:solidFill>
              <a:srgbClr val="27AE60"/>
            </a:solidFill>
            <a:prstDash val="solid"/>
          </a:ln>
        </p:spPr>
        <p:txBody>
          <a:bodyPr/>
          <a:lstStyle/>
          <a:p>
            <a:endParaRPr lang="en-CN"/>
          </a:p>
        </p:txBody>
      </p:sp>
      <p:sp>
        <p:nvSpPr>
          <p:cNvPr id="12" name="Text 9"/>
          <p:cNvSpPr/>
          <p:nvPr/>
        </p:nvSpPr>
        <p:spPr>
          <a:xfrm>
            <a:off x="731520" y="4626864"/>
            <a:ext cx="4389120" cy="228600"/>
          </a:xfrm>
          <a:prstGeom prst="rect">
            <a:avLst/>
          </a:prstGeom>
          <a:noFill/>
          <a:ln/>
        </p:spPr>
        <p:txBody>
          <a:bodyPr wrap="square" rtlCol="0" anchor="ctr"/>
          <a:lstStyle/>
          <a:p>
            <a:pPr marL="0" indent="0">
              <a:buNone/>
            </a:pPr>
            <a:r>
              <a:rPr lang="en-US" sz="1200" dirty="0">
                <a:solidFill>
                  <a:srgbClr val="5A7080"/>
                </a:solidFill>
                <a:latin typeface="Calibri" pitchFamily="34" charset="0"/>
                <a:ea typeface="Calibri" pitchFamily="34" charset="-122"/>
                <a:cs typeface="Calibri" pitchFamily="34" charset="-120"/>
              </a:rPr>
              <a:t>Burstiness Encoder (LSTM) — Burst indicator</a:t>
            </a:r>
            <a:endParaRPr lang="en-US" sz="1200" dirty="0"/>
          </a:p>
        </p:txBody>
      </p:sp>
      <p:pic>
        <p:nvPicPr>
          <p:cNvPr id="38" name="Picture 37" descr="A diagram of a software system&#10;&#10;AI-generated content may be incorrect.">
            <a:extLst>
              <a:ext uri="{FF2B5EF4-FFF2-40B4-BE49-F238E27FC236}">
                <a16:creationId xmlns:a16="http://schemas.microsoft.com/office/drawing/2014/main" id="{D92E9215-9578-7112-2742-DC68574F9F8A}"/>
              </a:ext>
            </a:extLst>
          </p:cNvPr>
          <p:cNvPicPr>
            <a:picLocks noChangeAspect="1"/>
          </p:cNvPicPr>
          <p:nvPr/>
        </p:nvPicPr>
        <p:blipFill>
          <a:blip r:embed="rId3"/>
          <a:stretch>
            <a:fillRect/>
          </a:stretch>
        </p:blipFill>
        <p:spPr>
          <a:xfrm>
            <a:off x="331821" y="1426369"/>
            <a:ext cx="4274117" cy="2432496"/>
          </a:xfrm>
          <a:prstGeom prst="rect">
            <a:avLst/>
          </a:prstGeom>
        </p:spPr>
      </p:pic>
      <p:grpSp>
        <p:nvGrpSpPr>
          <p:cNvPr id="45" name="Group 44">
            <a:extLst>
              <a:ext uri="{FF2B5EF4-FFF2-40B4-BE49-F238E27FC236}">
                <a16:creationId xmlns:a16="http://schemas.microsoft.com/office/drawing/2014/main" id="{8BBC7A3F-42ED-7A17-538A-9AC31E4D135C}"/>
              </a:ext>
            </a:extLst>
          </p:cNvPr>
          <p:cNvGrpSpPr/>
          <p:nvPr/>
        </p:nvGrpSpPr>
        <p:grpSpPr>
          <a:xfrm>
            <a:off x="4572000" y="886967"/>
            <a:ext cx="4308490" cy="4041648"/>
            <a:chOff x="263510" y="914400"/>
            <a:chExt cx="4308490" cy="4041648"/>
          </a:xfrm>
        </p:grpSpPr>
        <p:sp>
          <p:nvSpPr>
            <p:cNvPr id="46" name="Shape 12">
              <a:extLst>
                <a:ext uri="{FF2B5EF4-FFF2-40B4-BE49-F238E27FC236}">
                  <a16:creationId xmlns:a16="http://schemas.microsoft.com/office/drawing/2014/main" id="{E1C8F815-0978-5E45-2B99-F10DAEA1BF04}"/>
                </a:ext>
              </a:extLst>
            </p:cNvPr>
            <p:cNvSpPr/>
            <p:nvPr/>
          </p:nvSpPr>
          <p:spPr>
            <a:xfrm>
              <a:off x="460938" y="914400"/>
              <a:ext cx="4111061" cy="4041648"/>
            </a:xfrm>
            <a:prstGeom prst="rect">
              <a:avLst/>
            </a:prstGeom>
            <a:solidFill>
              <a:srgbClr val="F5FAFD"/>
            </a:solidFill>
            <a:ln w="25400">
              <a:solidFill>
                <a:srgbClr val="028090"/>
              </a:solidFill>
              <a:prstDash val="solid"/>
            </a:ln>
            <a:effectLst>
              <a:outerShdw blurRad="76200" dist="25400" dir="8100000" algn="bl" rotWithShape="0">
                <a:srgbClr val="000000">
                  <a:alpha val="12000"/>
                </a:srgbClr>
              </a:outerShdw>
            </a:effectLst>
          </p:spPr>
          <p:txBody>
            <a:bodyPr/>
            <a:lstStyle/>
            <a:p>
              <a:endParaRPr lang="en-CN"/>
            </a:p>
          </p:txBody>
        </p:sp>
        <p:sp>
          <p:nvSpPr>
            <p:cNvPr id="47" name="Shape 13">
              <a:extLst>
                <a:ext uri="{FF2B5EF4-FFF2-40B4-BE49-F238E27FC236}">
                  <a16:creationId xmlns:a16="http://schemas.microsoft.com/office/drawing/2014/main" id="{68C52336-A4C1-2869-6583-0D478324B4A4}"/>
                </a:ext>
              </a:extLst>
            </p:cNvPr>
            <p:cNvSpPr/>
            <p:nvPr/>
          </p:nvSpPr>
          <p:spPr>
            <a:xfrm>
              <a:off x="460939" y="914400"/>
              <a:ext cx="4111061" cy="347472"/>
            </a:xfrm>
            <a:prstGeom prst="rect">
              <a:avLst/>
            </a:prstGeom>
            <a:solidFill>
              <a:srgbClr val="028090"/>
            </a:solidFill>
            <a:ln w="12700">
              <a:solidFill>
                <a:srgbClr val="028090"/>
              </a:solidFill>
              <a:prstDash val="solid"/>
            </a:ln>
          </p:spPr>
          <p:txBody>
            <a:bodyPr/>
            <a:lstStyle/>
            <a:p>
              <a:endParaRPr lang="en-CN"/>
            </a:p>
          </p:txBody>
        </p:sp>
        <p:sp>
          <p:nvSpPr>
            <p:cNvPr id="48" name="Text 14">
              <a:extLst>
                <a:ext uri="{FF2B5EF4-FFF2-40B4-BE49-F238E27FC236}">
                  <a16:creationId xmlns:a16="http://schemas.microsoft.com/office/drawing/2014/main" id="{5032B31B-CC43-10F5-4D19-22591F2B97BB}"/>
                </a:ext>
              </a:extLst>
            </p:cNvPr>
            <p:cNvSpPr/>
            <p:nvPr/>
          </p:nvSpPr>
          <p:spPr>
            <a:xfrm>
              <a:off x="457199" y="914400"/>
              <a:ext cx="3917373" cy="347472"/>
            </a:xfrm>
            <a:prstGeom prst="rect">
              <a:avLst/>
            </a:prstGeom>
            <a:noFill/>
            <a:ln/>
          </p:spPr>
          <p:txBody>
            <a:bodyPr wrap="square" rtlCol="0" anchor="ctr"/>
            <a:lstStyle/>
            <a:p>
              <a:r>
                <a:rPr lang="en-US" sz="1600" b="1" dirty="0">
                  <a:solidFill>
                    <a:srgbClr val="FFFFFF"/>
                  </a:solidFill>
                  <a:latin typeface="Calibri" pitchFamily="34" charset="0"/>
                  <a:ea typeface="Calibri" pitchFamily="34" charset="-122"/>
                  <a:cs typeface="Calibri" pitchFamily="34" charset="-120"/>
                </a:rPr>
                <a:t>Causality with Social Media (VAR MODEL)</a:t>
              </a:r>
              <a:endParaRPr lang="en-US" sz="1600" dirty="0"/>
            </a:p>
          </p:txBody>
        </p:sp>
        <p:pic>
          <p:nvPicPr>
            <p:cNvPr id="49" name="Picture 48" descr="A table with numbers and symbols&#10;&#10;AI-generated content may be incorrect.">
              <a:extLst>
                <a:ext uri="{FF2B5EF4-FFF2-40B4-BE49-F238E27FC236}">
                  <a16:creationId xmlns:a16="http://schemas.microsoft.com/office/drawing/2014/main" id="{8502E102-2914-64F5-3D85-157DCFDCB64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46140" y="2586175"/>
              <a:ext cx="3933180" cy="2264776"/>
            </a:xfrm>
            <a:prstGeom prst="rect">
              <a:avLst/>
            </a:prstGeom>
          </p:spPr>
        </p:pic>
        <mc:AlternateContent xmlns:mc="http://schemas.openxmlformats.org/markup-compatibility/2006">
          <mc:Choice xmlns:a14="http://schemas.microsoft.com/office/drawing/2010/main" Requires="a14">
            <p:sp>
              <p:nvSpPr>
                <p:cNvPr id="50" name="TextBox 49">
                  <a:extLst>
                    <a:ext uri="{FF2B5EF4-FFF2-40B4-BE49-F238E27FC236}">
                      <a16:creationId xmlns:a16="http://schemas.microsoft.com/office/drawing/2014/main" id="{B5591CEB-E512-27BD-7F17-A69166238D01}"/>
                    </a:ext>
                  </a:extLst>
                </p:cNvPr>
                <p:cNvSpPr txBox="1"/>
                <p:nvPr/>
              </p:nvSpPr>
              <p:spPr>
                <a:xfrm>
                  <a:off x="263510" y="1380743"/>
                  <a:ext cx="4111062" cy="112550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CN" i="1" smtClean="0">
                                <a:latin typeface="Cambria Math" panose="02040503050406030204" pitchFamily="18" charset="0"/>
                              </a:rPr>
                            </m:ctrlPr>
                          </m:sSubPr>
                          <m:e>
                            <m:r>
                              <a:rPr lang="en-CN" i="1">
                                <a:latin typeface="Cambria Math" panose="02040503050406030204" pitchFamily="18" charset="0"/>
                              </a:rPr>
                              <m:t>𝑌</m:t>
                            </m:r>
                          </m:e>
                          <m:sub>
                            <m:r>
                              <a:rPr lang="en-CN" i="1">
                                <a:latin typeface="Cambria Math" panose="02040503050406030204" pitchFamily="18" charset="0"/>
                              </a:rPr>
                              <m:t>𝑡</m:t>
                            </m:r>
                          </m:sub>
                        </m:sSub>
                        <m:r>
                          <a:rPr lang="en-CN" i="0">
                            <a:latin typeface="Cambria Math" panose="02040503050406030204" pitchFamily="18" charset="0"/>
                          </a:rPr>
                          <m:t>=</m:t>
                        </m:r>
                        <m:r>
                          <a:rPr lang="en-CN" i="1">
                            <a:latin typeface="Cambria Math" panose="02040503050406030204" pitchFamily="18" charset="0"/>
                          </a:rPr>
                          <m:t>𝑐</m:t>
                        </m:r>
                        <m:r>
                          <a:rPr lang="en-CN" i="0">
                            <a:latin typeface="Cambria Math" panose="02040503050406030204" pitchFamily="18" charset="0"/>
                          </a:rPr>
                          <m:t>+</m:t>
                        </m:r>
                        <m:r>
                          <m:rPr>
                            <m:nor/>
                          </m:rPr>
                          <a:rPr lang="en-CN" b="0" i="1">
                            <a:latin typeface="Cambria Math" panose="02040503050406030204" pitchFamily="18" charset="0"/>
                          </a:rPr>
                          <m:t> </m:t>
                        </m:r>
                        <m:nary>
                          <m:naryPr>
                            <m:chr m:val="∑"/>
                            <m:limLoc m:val="undOvr"/>
                            <m:ctrlPr>
                              <a:rPr lang="en-CN" b="0" i="1">
                                <a:latin typeface="Cambria Math" panose="02040503050406030204" pitchFamily="18" charset="0"/>
                              </a:rPr>
                            </m:ctrlPr>
                          </m:naryPr>
                          <m:sub>
                            <m:r>
                              <a:rPr lang="en-CN" b="0" i="1">
                                <a:latin typeface="Cambria Math" panose="02040503050406030204" pitchFamily="18" charset="0"/>
                              </a:rPr>
                              <m:t>𝑘</m:t>
                            </m:r>
                            <m:r>
                              <a:rPr lang="en-CN" b="0" i="0">
                                <a:latin typeface="Cambria Math" panose="02040503050406030204" pitchFamily="18" charset="0"/>
                              </a:rPr>
                              <m:t>=1</m:t>
                            </m:r>
                          </m:sub>
                          <m:sup>
                            <m:r>
                              <a:rPr lang="en-CN" b="0" i="1">
                                <a:latin typeface="Cambria Math" panose="02040503050406030204" pitchFamily="18" charset="0"/>
                              </a:rPr>
                              <m:t>𝑝</m:t>
                            </m:r>
                          </m:sup>
                          <m:e>
                            <m:sSub>
                              <m:sSubPr>
                                <m:ctrlPr>
                                  <a:rPr lang="en-CN" b="0" i="1">
                                    <a:latin typeface="Cambria Math" panose="02040503050406030204" pitchFamily="18" charset="0"/>
                                  </a:rPr>
                                </m:ctrlPr>
                              </m:sSubPr>
                              <m:e>
                                <m:r>
                                  <a:rPr lang="en-CN" b="0" i="1">
                                    <a:latin typeface="Cambria Math" panose="02040503050406030204" pitchFamily="18" charset="0"/>
                                  </a:rPr>
                                  <m:t>𝐴</m:t>
                                </m:r>
                              </m:e>
                              <m:sub>
                                <m:r>
                                  <a:rPr lang="en-CN" b="0" i="1">
                                    <a:latin typeface="Cambria Math" panose="02040503050406030204" pitchFamily="18" charset="0"/>
                                  </a:rPr>
                                  <m:t>𝐾</m:t>
                                </m:r>
                              </m:sub>
                            </m:sSub>
                          </m:e>
                        </m:nary>
                        <m:sSub>
                          <m:sSubPr>
                            <m:ctrlPr>
                              <a:rPr lang="en-CN" b="0" i="1">
                                <a:latin typeface="Cambria Math" panose="02040503050406030204" pitchFamily="18" charset="0"/>
                              </a:rPr>
                            </m:ctrlPr>
                          </m:sSubPr>
                          <m:e>
                            <m:r>
                              <a:rPr lang="en-CN" b="0" i="1">
                                <a:latin typeface="Cambria Math" panose="02040503050406030204" pitchFamily="18" charset="0"/>
                              </a:rPr>
                              <m:t>𝑌</m:t>
                            </m:r>
                          </m:e>
                          <m:sub>
                            <m:r>
                              <a:rPr lang="en-CN" b="0" i="1">
                                <a:latin typeface="Cambria Math" panose="02040503050406030204" pitchFamily="18" charset="0"/>
                              </a:rPr>
                              <m:t>𝑡</m:t>
                            </m:r>
                            <m:r>
                              <a:rPr lang="en-CN" b="0" i="0">
                                <a:latin typeface="Cambria Math" panose="02040503050406030204" pitchFamily="18" charset="0"/>
                              </a:rPr>
                              <m:t>−</m:t>
                            </m:r>
                            <m:r>
                              <a:rPr lang="en-CN" b="0" i="1">
                                <a:latin typeface="Cambria Math" panose="02040503050406030204" pitchFamily="18" charset="0"/>
                              </a:rPr>
                              <m:t>𝑘</m:t>
                            </m:r>
                          </m:sub>
                        </m:sSub>
                        <m:r>
                          <a:rPr lang="en-CN" b="0" i="0">
                            <a:latin typeface="Cambria Math" panose="02040503050406030204" pitchFamily="18" charset="0"/>
                          </a:rPr>
                          <m:t>+</m:t>
                        </m:r>
                        <m:r>
                          <m:rPr>
                            <m:sty m:val="p"/>
                          </m:rPr>
                          <a:rPr lang="en-CN" b="0" i="0">
                            <a:latin typeface="Cambria Math" panose="02040503050406030204" pitchFamily="18" charset="0"/>
                          </a:rPr>
                          <m:t>Γ</m:t>
                        </m:r>
                        <m:r>
                          <m:rPr>
                            <m:nor/>
                          </m:rPr>
                          <a:rPr lang="en-CN" b="0" i="1">
                            <a:latin typeface="Cambria Math" panose="02040503050406030204" pitchFamily="18" charset="0"/>
                          </a:rPr>
                          <m:t> </m:t>
                        </m:r>
                        <m:sSub>
                          <m:sSubPr>
                            <m:ctrlPr>
                              <a:rPr lang="en-CN" b="0" i="1">
                                <a:latin typeface="Cambria Math" panose="02040503050406030204" pitchFamily="18" charset="0"/>
                              </a:rPr>
                            </m:ctrlPr>
                          </m:sSubPr>
                          <m:e>
                            <m:r>
                              <a:rPr lang="en-CN" b="0" i="1">
                                <a:latin typeface="Cambria Math" panose="02040503050406030204" pitchFamily="18" charset="0"/>
                              </a:rPr>
                              <m:t>𝑋</m:t>
                            </m:r>
                          </m:e>
                          <m:sub>
                            <m:r>
                              <a:rPr lang="en-CN" b="0" i="1">
                                <a:latin typeface="Cambria Math" panose="02040503050406030204" pitchFamily="18" charset="0"/>
                              </a:rPr>
                              <m:t>𝑡</m:t>
                            </m:r>
                          </m:sub>
                        </m:sSub>
                        <m:r>
                          <m:rPr>
                            <m:nor/>
                          </m:rPr>
                          <a:rPr lang="en-CN" b="0" i="1">
                            <a:latin typeface="Cambria Math" panose="02040503050406030204" pitchFamily="18" charset="0"/>
                          </a:rPr>
                          <m:t> </m:t>
                        </m:r>
                        <m:r>
                          <a:rPr lang="en-CN" b="0" i="0">
                            <a:latin typeface="Cambria Math" panose="02040503050406030204" pitchFamily="18" charset="0"/>
                          </a:rPr>
                          <m:t>+</m:t>
                        </m:r>
                        <m:sSub>
                          <m:sSubPr>
                            <m:ctrlPr>
                              <a:rPr lang="en-CN" b="0" i="1">
                                <a:latin typeface="Cambria Math" panose="02040503050406030204" pitchFamily="18" charset="0"/>
                              </a:rPr>
                            </m:ctrlPr>
                          </m:sSubPr>
                          <m:e>
                            <m:r>
                              <a:rPr lang="en-CN" b="0" i="1">
                                <a:latin typeface="Cambria Math" panose="02040503050406030204" pitchFamily="18" charset="0"/>
                              </a:rPr>
                              <m:t>𝜀</m:t>
                            </m:r>
                          </m:e>
                          <m:sub>
                            <m:r>
                              <a:rPr lang="en-CN" b="0" i="1">
                                <a:latin typeface="Cambria Math" panose="02040503050406030204" pitchFamily="18" charset="0"/>
                              </a:rPr>
                              <m:t>𝑡</m:t>
                            </m:r>
                          </m:sub>
                        </m:sSub>
                        <m:r>
                          <a:rPr lang="en-CN" b="0" i="0">
                            <a:latin typeface="Cambria Math" panose="02040503050406030204" pitchFamily="18" charset="0"/>
                          </a:rPr>
                          <m:t>,    </m:t>
                        </m:r>
                        <m:sSub>
                          <m:sSubPr>
                            <m:ctrlPr>
                              <a:rPr lang="en-CN" b="0" i="1">
                                <a:latin typeface="Cambria Math" panose="02040503050406030204" pitchFamily="18" charset="0"/>
                              </a:rPr>
                            </m:ctrlPr>
                          </m:sSubPr>
                          <m:e>
                            <m:r>
                              <a:rPr lang="en-CN" b="0" i="1">
                                <a:latin typeface="Cambria Math" panose="02040503050406030204" pitchFamily="18" charset="0"/>
                              </a:rPr>
                              <m:t>𝜀</m:t>
                            </m:r>
                          </m:e>
                          <m:sub>
                            <m:r>
                              <a:rPr lang="en-CN" b="0" i="1">
                                <a:latin typeface="Cambria Math" panose="02040503050406030204" pitchFamily="18" charset="0"/>
                              </a:rPr>
                              <m:t>𝑡</m:t>
                            </m:r>
                          </m:sub>
                        </m:sSub>
                        <m:r>
                          <a:rPr lang="en-CN" b="0" i="0">
                            <a:latin typeface="Cambria Math" panose="02040503050406030204" pitchFamily="18" charset="0"/>
                          </a:rPr>
                          <m:t>∼</m:t>
                        </m:r>
                        <m:r>
                          <a:rPr lang="en-CN" b="0" i="0">
                            <a:latin typeface="Cambria Math" panose="02040503050406030204" pitchFamily="18" charset="0"/>
                          </a:rPr>
                          <m:t>𝒩</m:t>
                        </m:r>
                        <m:d>
                          <m:dPr>
                            <m:sepChr m:val=","/>
                            <m:ctrlPr>
                              <a:rPr lang="en-CN" b="0" i="1">
                                <a:latin typeface="Cambria Math" panose="02040503050406030204" pitchFamily="18" charset="0"/>
                              </a:rPr>
                            </m:ctrlPr>
                          </m:dPr>
                          <m:e>
                            <m:r>
                              <a:rPr lang="en-CN" b="0" i="0">
                                <a:latin typeface="Cambria Math" panose="02040503050406030204" pitchFamily="18" charset="0"/>
                              </a:rPr>
                              <m:t>0</m:t>
                            </m:r>
                          </m:e>
                          <m:e>
                            <m:r>
                              <m:rPr>
                                <m:sty m:val="p"/>
                              </m:rPr>
                              <a:rPr lang="en-CN" b="0" i="0">
                                <a:latin typeface="Cambria Math" panose="02040503050406030204" pitchFamily="18" charset="0"/>
                              </a:rPr>
                              <m:t>Σ</m:t>
                            </m:r>
                          </m:e>
                        </m:d>
                        <m:r>
                          <a:rPr lang="en-CN" b="0" i="0">
                            <a:latin typeface="Cambria Math" panose="02040503050406030204" pitchFamily="18" charset="0"/>
                          </a:rPr>
                          <m:t>,</m:t>
                        </m:r>
                      </m:oMath>
                    </m:oMathPara>
                  </a14:m>
                  <a:endParaRPr lang="en-CN" dirty="0"/>
                </a:p>
              </p:txBody>
            </p:sp>
          </mc:Choice>
          <mc:Fallback>
            <p:sp>
              <p:nvSpPr>
                <p:cNvPr id="50" name="TextBox 49">
                  <a:extLst>
                    <a:ext uri="{FF2B5EF4-FFF2-40B4-BE49-F238E27FC236}">
                      <a16:creationId xmlns:a16="http://schemas.microsoft.com/office/drawing/2014/main" id="{B5591CEB-E512-27BD-7F17-A69166238D01}"/>
                    </a:ext>
                  </a:extLst>
                </p:cNvPr>
                <p:cNvSpPr txBox="1">
                  <a:spLocks noRot="1" noChangeAspect="1" noMove="1" noResize="1" noEditPoints="1" noAdjustHandles="1" noChangeArrowheads="1" noChangeShapeType="1" noTextEdit="1"/>
                </p:cNvSpPr>
                <p:nvPr/>
              </p:nvSpPr>
              <p:spPr>
                <a:xfrm>
                  <a:off x="263510" y="1380743"/>
                  <a:ext cx="4111062" cy="1125501"/>
                </a:xfrm>
                <a:prstGeom prst="rect">
                  <a:avLst/>
                </a:prstGeom>
                <a:blipFill>
                  <a:blip r:embed="rId5"/>
                  <a:stretch>
                    <a:fillRect t="-75556" b="-91111"/>
                  </a:stretch>
                </a:blipFill>
              </p:spPr>
              <p:txBody>
                <a:bodyPr/>
                <a:lstStyle/>
                <a:p>
                  <a:r>
                    <a:rPr lang="en-CN">
                      <a:noFill/>
                    </a:rPr>
                    <a:t> </a:t>
                  </a:r>
                </a:p>
              </p:txBody>
            </p:sp>
          </mc:Fallback>
        </mc:AlternateContent>
        <p:sp>
          <p:nvSpPr>
            <p:cNvPr id="51" name="Rectangle 50">
              <a:extLst>
                <a:ext uri="{FF2B5EF4-FFF2-40B4-BE49-F238E27FC236}">
                  <a16:creationId xmlns:a16="http://schemas.microsoft.com/office/drawing/2014/main" id="{65E1D697-8C30-B943-676C-EF988BE26C82}"/>
                </a:ext>
              </a:extLst>
            </p:cNvPr>
            <p:cNvSpPr/>
            <p:nvPr/>
          </p:nvSpPr>
          <p:spPr>
            <a:xfrm>
              <a:off x="1485900" y="3023755"/>
              <a:ext cx="929985" cy="694808"/>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201168"/>
            <a:ext cx="8229600" cy="566928"/>
          </a:xfrm>
          <a:prstGeom prst="rect">
            <a:avLst/>
          </a:prstGeom>
          <a:noFill/>
          <a:ln/>
        </p:spPr>
        <p:txBody>
          <a:bodyPr wrap="square" lIns="0" tIns="0" rIns="0" bIns="0" rtlCol="0" anchor="ctr"/>
          <a:lstStyle/>
          <a:p>
            <a:r>
              <a:rPr lang="en-US" sz="2400" b="1" dirty="0">
                <a:solidFill>
                  <a:srgbClr val="0D2137"/>
                </a:solidFill>
                <a:latin typeface="Calibri" pitchFamily="34" charset="0"/>
                <a:ea typeface="Calibri" pitchFamily="34" charset="-122"/>
                <a:cs typeface="Calibri" pitchFamily="34" charset="-120"/>
              </a:rPr>
              <a:t>Next: GNN Forecasting Results: Impact of Social Media Features</a:t>
            </a:r>
            <a:endParaRPr lang="en-US" sz="2400" dirty="0"/>
          </a:p>
        </p:txBody>
      </p:sp>
      <p:sp>
        <p:nvSpPr>
          <p:cNvPr id="3" name="Shape 1"/>
          <p:cNvSpPr/>
          <p:nvPr/>
        </p:nvSpPr>
        <p:spPr>
          <a:xfrm>
            <a:off x="457200" y="795528"/>
            <a:ext cx="8229600" cy="0"/>
          </a:xfrm>
          <a:prstGeom prst="line">
            <a:avLst/>
          </a:prstGeom>
          <a:noFill/>
          <a:ln w="25400">
            <a:solidFill>
              <a:srgbClr val="028090"/>
            </a:solidFill>
            <a:prstDash val="solid"/>
          </a:ln>
        </p:spPr>
        <p:txBody>
          <a:bodyPr/>
          <a:lstStyle/>
          <a:p>
            <a:endParaRPr lang="en-CN"/>
          </a:p>
        </p:txBody>
      </p:sp>
      <p:graphicFrame>
        <p:nvGraphicFramePr>
          <p:cNvPr id="4" name="Table 0"/>
          <p:cNvGraphicFramePr>
            <a:graphicFrameLocks noGrp="1"/>
          </p:cNvGraphicFramePr>
          <p:nvPr>
            <p:extLst>
              <p:ext uri="{D42A27DB-BD31-4B8C-83A1-F6EECF244321}">
                <p14:modId xmlns:p14="http://schemas.microsoft.com/office/powerpoint/2010/main" val="1475447358"/>
              </p:ext>
            </p:extLst>
          </p:nvPr>
        </p:nvGraphicFramePr>
        <p:xfrm>
          <a:off x="365760" y="1170939"/>
          <a:ext cx="5120640" cy="2504441"/>
        </p:xfrm>
        <a:graphic>
          <a:graphicData uri="http://schemas.openxmlformats.org/drawingml/2006/table">
            <a:tbl>
              <a:tblPr/>
              <a:tblGrid>
                <a:gridCol w="2021840">
                  <a:extLst>
                    <a:ext uri="{9D8B030D-6E8A-4147-A177-3AD203B41FA5}">
                      <a16:colId xmlns:a16="http://schemas.microsoft.com/office/drawing/2014/main" val="20000"/>
                    </a:ext>
                  </a:extLst>
                </a:gridCol>
                <a:gridCol w="767080">
                  <a:extLst>
                    <a:ext uri="{9D8B030D-6E8A-4147-A177-3AD203B41FA5}">
                      <a16:colId xmlns:a16="http://schemas.microsoft.com/office/drawing/2014/main" val="20001"/>
                    </a:ext>
                  </a:extLst>
                </a:gridCol>
                <a:gridCol w="777240">
                  <a:extLst>
                    <a:ext uri="{9D8B030D-6E8A-4147-A177-3AD203B41FA5}">
                      <a16:colId xmlns:a16="http://schemas.microsoft.com/office/drawing/2014/main" val="20002"/>
                    </a:ext>
                  </a:extLst>
                </a:gridCol>
                <a:gridCol w="777240">
                  <a:extLst>
                    <a:ext uri="{9D8B030D-6E8A-4147-A177-3AD203B41FA5}">
                      <a16:colId xmlns:a16="http://schemas.microsoft.com/office/drawing/2014/main" val="20003"/>
                    </a:ext>
                  </a:extLst>
                </a:gridCol>
                <a:gridCol w="777240">
                  <a:extLst>
                    <a:ext uri="{9D8B030D-6E8A-4147-A177-3AD203B41FA5}">
                      <a16:colId xmlns:a16="http://schemas.microsoft.com/office/drawing/2014/main" val="20004"/>
                    </a:ext>
                  </a:extLst>
                </a:gridCol>
              </a:tblGrid>
              <a:tr h="394535">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Model</a:t>
                      </a:r>
                      <a:endParaRPr lang="en-US" sz="1400" dirty="0">
                        <a:latin typeface="Calibri" charset="0"/>
                        <a:ea typeface="Calibri" charset="0"/>
                        <a:cs typeface="Calibri" charset="0"/>
                      </a:endParaRPr>
                    </a:p>
                  </a:txBody>
                  <a:tcPr>
                    <a:lnL w="6350" cap="flat" cmpd="sng" algn="ctr">
                      <a:solidFill>
                        <a:srgbClr val="C8DCE8"/>
                      </a:solidFill>
                      <a:prstDash val="solid"/>
                      <a:round/>
                      <a:headEnd type="none" w="med" len="med"/>
                      <a:tailEnd type="none" w="med" len="med"/>
                    </a:lnL>
                    <a:lnR w="6350" cap="flat" cmpd="sng" algn="ctr">
                      <a:solidFill>
                        <a:srgbClr val="C8DCE8"/>
                      </a:solidFill>
                      <a:prstDash val="solid"/>
                      <a:round/>
                      <a:headEnd type="none" w="med" len="med"/>
                      <a:tailEnd type="none" w="med" len="med"/>
                    </a:lnR>
                    <a:lnT w="6350" cap="flat" cmpd="sng" algn="ctr">
                      <a:solidFill>
                        <a:srgbClr val="C8DCE8"/>
                      </a:solidFill>
                      <a:prstDash val="solid"/>
                      <a:round/>
                      <a:headEnd type="none" w="med" len="med"/>
                      <a:tailEnd type="none" w="med" len="med"/>
                    </a:lnT>
                    <a:lnB w="6350" cap="flat" cmpd="sng" algn="ctr">
                      <a:solidFill>
                        <a:srgbClr val="C8DCE8"/>
                      </a:solidFill>
                      <a:prstDash val="solid"/>
                      <a:round/>
                      <a:headEnd type="none" w="med" len="med"/>
                      <a:tailEnd type="none" w="med" len="med"/>
                    </a:lnB>
                    <a:solidFill>
                      <a:srgbClr val="0D2137"/>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MAE</a:t>
                      </a:r>
                      <a:endParaRPr lang="en-US" sz="1400" dirty="0">
                        <a:latin typeface="Calibri" charset="0"/>
                        <a:ea typeface="Calibri" charset="0"/>
                        <a:cs typeface="Calibri" charset="0"/>
                      </a:endParaRPr>
                    </a:p>
                  </a:txBody>
                  <a:tcPr>
                    <a:lnL w="6350" cap="flat" cmpd="sng" algn="ctr">
                      <a:solidFill>
                        <a:srgbClr val="C8DCE8"/>
                      </a:solidFill>
                      <a:prstDash val="solid"/>
                      <a:round/>
                      <a:headEnd type="none" w="med" len="med"/>
                      <a:tailEnd type="none" w="med" len="med"/>
                    </a:lnL>
                    <a:lnR w="6350" cap="flat" cmpd="sng" algn="ctr">
                      <a:solidFill>
                        <a:srgbClr val="C8DCE8"/>
                      </a:solidFill>
                      <a:prstDash val="solid"/>
                      <a:round/>
                      <a:headEnd type="none" w="med" len="med"/>
                      <a:tailEnd type="none" w="med" len="med"/>
                    </a:lnR>
                    <a:lnT w="6350" cap="flat" cmpd="sng" algn="ctr">
                      <a:solidFill>
                        <a:srgbClr val="C8DCE8"/>
                      </a:solidFill>
                      <a:prstDash val="solid"/>
                      <a:round/>
                      <a:headEnd type="none" w="med" len="med"/>
                      <a:tailEnd type="none" w="med" len="med"/>
                    </a:lnT>
                    <a:lnB w="6350" cap="flat" cmpd="sng" algn="ctr">
                      <a:solidFill>
                        <a:srgbClr val="C8DCE8"/>
                      </a:solidFill>
                      <a:prstDash val="solid"/>
                      <a:round/>
                      <a:headEnd type="none" w="med" len="med"/>
                      <a:tailEnd type="none" w="med" len="med"/>
                    </a:lnB>
                    <a:solidFill>
                      <a:srgbClr val="0D2137"/>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RMSE</a:t>
                      </a:r>
                      <a:endParaRPr lang="en-US" sz="1400" dirty="0">
                        <a:latin typeface="Calibri" charset="0"/>
                        <a:ea typeface="Calibri" charset="0"/>
                        <a:cs typeface="Calibri" charset="0"/>
                      </a:endParaRPr>
                    </a:p>
                  </a:txBody>
                  <a:tcPr>
                    <a:lnL w="6350" cap="flat" cmpd="sng" algn="ctr">
                      <a:solidFill>
                        <a:srgbClr val="C8DCE8"/>
                      </a:solidFill>
                      <a:prstDash val="solid"/>
                      <a:round/>
                      <a:headEnd type="none" w="med" len="med"/>
                      <a:tailEnd type="none" w="med" len="med"/>
                    </a:lnL>
                    <a:lnR w="6350" cap="flat" cmpd="sng" algn="ctr">
                      <a:solidFill>
                        <a:srgbClr val="C8DCE8"/>
                      </a:solidFill>
                      <a:prstDash val="solid"/>
                      <a:round/>
                      <a:headEnd type="none" w="med" len="med"/>
                      <a:tailEnd type="none" w="med" len="med"/>
                    </a:lnR>
                    <a:lnT w="6350" cap="flat" cmpd="sng" algn="ctr">
                      <a:solidFill>
                        <a:srgbClr val="C8DCE8"/>
                      </a:solidFill>
                      <a:prstDash val="solid"/>
                      <a:round/>
                      <a:headEnd type="none" w="med" len="med"/>
                      <a:tailEnd type="none" w="med" len="med"/>
                    </a:lnT>
                    <a:lnB w="6350" cap="flat" cmpd="sng" algn="ctr">
                      <a:solidFill>
                        <a:srgbClr val="C8DCE8"/>
                      </a:solidFill>
                      <a:prstDash val="solid"/>
                      <a:round/>
                      <a:headEnd type="none" w="med" len="med"/>
                      <a:tailEnd type="none" w="med" len="med"/>
                    </a:lnB>
                    <a:solidFill>
                      <a:srgbClr val="0D2137"/>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MAPE </a:t>
                      </a:r>
                      <a:endParaRPr lang="en-US" sz="1400" dirty="0">
                        <a:latin typeface="Calibri" charset="0"/>
                        <a:ea typeface="Calibri" charset="0"/>
                        <a:cs typeface="Calibri" charset="0"/>
                      </a:endParaRPr>
                    </a:p>
                  </a:txBody>
                  <a:tcPr>
                    <a:lnL w="6350" cap="flat" cmpd="sng" algn="ctr">
                      <a:solidFill>
                        <a:srgbClr val="C8DCE8"/>
                      </a:solidFill>
                      <a:prstDash val="solid"/>
                      <a:round/>
                      <a:headEnd type="none" w="med" len="med"/>
                      <a:tailEnd type="none" w="med" len="med"/>
                    </a:lnL>
                    <a:lnR w="6350" cap="flat" cmpd="sng" algn="ctr">
                      <a:solidFill>
                        <a:srgbClr val="C8DCE8"/>
                      </a:solidFill>
                      <a:prstDash val="solid"/>
                      <a:round/>
                      <a:headEnd type="none" w="med" len="med"/>
                      <a:tailEnd type="none" w="med" len="med"/>
                    </a:lnR>
                    <a:lnT w="6350" cap="flat" cmpd="sng" algn="ctr">
                      <a:solidFill>
                        <a:srgbClr val="C8DCE8"/>
                      </a:solidFill>
                      <a:prstDash val="solid"/>
                      <a:round/>
                      <a:headEnd type="none" w="med" len="med"/>
                      <a:tailEnd type="none" w="med" len="med"/>
                    </a:lnT>
                    <a:lnB w="6350" cap="flat" cmpd="sng" algn="ctr">
                      <a:solidFill>
                        <a:srgbClr val="C8DCE8"/>
                      </a:solidFill>
                      <a:prstDash val="solid"/>
                      <a:round/>
                      <a:headEnd type="none" w="med" len="med"/>
                      <a:tailEnd type="none" w="med" len="med"/>
                    </a:lnB>
                    <a:solidFill>
                      <a:srgbClr val="0D2137"/>
                    </a:solidFill>
                  </a:tcPr>
                </a:tc>
                <a:tc>
                  <a:txBody>
                    <a:bodyPr/>
                    <a:lstStyle/>
                    <a:p>
                      <a:pPr marL="0" indent="0" algn="ctr">
                        <a:buNone/>
                      </a:pPr>
                      <a:r>
                        <a:rPr lang="en-US" sz="1400" b="1" dirty="0" err="1">
                          <a:solidFill>
                            <a:srgbClr val="FFFFFF"/>
                          </a:solidFill>
                          <a:latin typeface="Calibri" pitchFamily="34" charset="0"/>
                          <a:ea typeface="Calibri" pitchFamily="34" charset="-122"/>
                          <a:cs typeface="Calibri" pitchFamily="34" charset="-120"/>
                        </a:rPr>
                        <a:t>sMAPE</a:t>
                      </a:r>
                      <a:endParaRPr lang="en-US" sz="1400" dirty="0">
                        <a:latin typeface="Calibri" charset="0"/>
                        <a:ea typeface="Calibri" charset="0"/>
                        <a:cs typeface="Calibri" charset="0"/>
                      </a:endParaRPr>
                    </a:p>
                  </a:txBody>
                  <a:tcPr>
                    <a:lnL w="6350" cap="flat" cmpd="sng" algn="ctr">
                      <a:solidFill>
                        <a:srgbClr val="C8DCE8"/>
                      </a:solidFill>
                      <a:prstDash val="solid"/>
                      <a:round/>
                      <a:headEnd type="none" w="med" len="med"/>
                      <a:tailEnd type="none" w="med" len="med"/>
                    </a:lnL>
                    <a:lnR w="6350" cap="flat" cmpd="sng" algn="ctr">
                      <a:solidFill>
                        <a:srgbClr val="C8DCE8"/>
                      </a:solidFill>
                      <a:prstDash val="solid"/>
                      <a:round/>
                      <a:headEnd type="none" w="med" len="med"/>
                      <a:tailEnd type="none" w="med" len="med"/>
                    </a:lnR>
                    <a:lnT w="6350" cap="flat" cmpd="sng" algn="ctr">
                      <a:solidFill>
                        <a:srgbClr val="C8DCE8"/>
                      </a:solidFill>
                      <a:prstDash val="solid"/>
                      <a:round/>
                      <a:headEnd type="none" w="med" len="med"/>
                      <a:tailEnd type="none" w="med" len="med"/>
                    </a:lnT>
                    <a:lnB w="6350" cap="flat" cmpd="sng" algn="ctr">
                      <a:solidFill>
                        <a:srgbClr val="C8DCE8"/>
                      </a:solidFill>
                      <a:prstDash val="solid"/>
                      <a:round/>
                      <a:headEnd type="none" w="med" len="med"/>
                      <a:tailEnd type="none" w="med" len="med"/>
                    </a:lnB>
                    <a:solidFill>
                      <a:srgbClr val="0D2137"/>
                    </a:solidFill>
                  </a:tcPr>
                </a:tc>
                <a:extLst>
                  <a:ext uri="{0D108BD9-81ED-4DB2-BD59-A6C34878D82A}">
                    <a16:rowId xmlns:a16="http://schemas.microsoft.com/office/drawing/2014/main" val="10000"/>
                  </a:ext>
                </a:extLst>
              </a:tr>
              <a:tr h="480304">
                <a:tc>
                  <a:txBody>
                    <a:bodyPr/>
                    <a:lstStyle/>
                    <a:p>
                      <a:pPr marL="0" indent="0" algn="l">
                        <a:buNone/>
                      </a:pPr>
                      <a:r>
                        <a:rPr lang="en-US" sz="1400" dirty="0">
                          <a:solidFill>
                            <a:srgbClr val="1A2B3C"/>
                          </a:solidFill>
                          <a:latin typeface="Calibri" pitchFamily="34" charset="0"/>
                          <a:ea typeface="Calibri" pitchFamily="34" charset="-122"/>
                          <a:cs typeface="Calibri" pitchFamily="34" charset="-120"/>
                        </a:rPr>
                        <a:t>LSTM</a:t>
                      </a:r>
                      <a:endParaRPr lang="en-US" sz="1400" dirty="0">
                        <a:latin typeface="Calibri" charset="0"/>
                        <a:ea typeface="Calibri" charset="0"/>
                        <a:cs typeface="Calibri" charset="0"/>
                      </a:endParaRPr>
                    </a:p>
                  </a:txBody>
                  <a:tcPr>
                    <a:lnL w="6350" cap="flat" cmpd="sng" algn="ctr">
                      <a:solidFill>
                        <a:srgbClr val="C8DCE8"/>
                      </a:solidFill>
                      <a:prstDash val="solid"/>
                      <a:round/>
                      <a:headEnd type="none" w="med" len="med"/>
                      <a:tailEnd type="none" w="med" len="med"/>
                    </a:lnL>
                    <a:lnR w="6350" cap="flat" cmpd="sng" algn="ctr">
                      <a:solidFill>
                        <a:srgbClr val="C8DCE8"/>
                      </a:solidFill>
                      <a:prstDash val="solid"/>
                      <a:round/>
                      <a:headEnd type="none" w="med" len="med"/>
                      <a:tailEnd type="none" w="med" len="med"/>
                    </a:lnR>
                    <a:lnT w="6350" cap="flat" cmpd="sng" algn="ctr">
                      <a:solidFill>
                        <a:srgbClr val="C8DCE8"/>
                      </a:solidFill>
                      <a:prstDash val="solid"/>
                      <a:round/>
                      <a:headEnd type="none" w="med" len="med"/>
                      <a:tailEnd type="none" w="med" len="med"/>
                    </a:lnT>
                    <a:lnB w="6350" cap="flat" cmpd="sng" algn="ctr">
                      <a:solidFill>
                        <a:srgbClr val="C8DCE8"/>
                      </a:solidFill>
                      <a:prstDash val="solid"/>
                      <a:round/>
                      <a:headEnd type="none" w="med" len="med"/>
                      <a:tailEnd type="none" w="med" len="med"/>
                    </a:lnB>
                  </a:tcPr>
                </a:tc>
                <a:tc>
                  <a:txBody>
                    <a:bodyPr/>
                    <a:lstStyle/>
                    <a:p>
                      <a:pPr marL="0" indent="0" algn="ctr">
                        <a:buNone/>
                      </a:pPr>
                      <a:r>
                        <a:rPr lang="en-US" sz="1400" dirty="0">
                          <a:solidFill>
                            <a:srgbClr val="5A7080"/>
                          </a:solidFill>
                          <a:latin typeface="Calibri" pitchFamily="34" charset="0"/>
                          <a:ea typeface="Calibri" pitchFamily="34" charset="-122"/>
                          <a:cs typeface="Calibri" pitchFamily="34" charset="-120"/>
                        </a:rPr>
                        <a:t>226.97</a:t>
                      </a:r>
                      <a:endParaRPr lang="en-US" sz="1400" dirty="0">
                        <a:latin typeface="Calibri" charset="0"/>
                        <a:ea typeface="Calibri" charset="0"/>
                        <a:cs typeface="Calibri" charset="0"/>
                      </a:endParaRPr>
                    </a:p>
                  </a:txBody>
                  <a:tcPr>
                    <a:lnL w="6350" cap="flat" cmpd="sng" algn="ctr">
                      <a:solidFill>
                        <a:srgbClr val="C8DCE8"/>
                      </a:solidFill>
                      <a:prstDash val="solid"/>
                      <a:round/>
                      <a:headEnd type="none" w="med" len="med"/>
                      <a:tailEnd type="none" w="med" len="med"/>
                    </a:lnL>
                    <a:lnR w="6350" cap="flat" cmpd="sng" algn="ctr">
                      <a:solidFill>
                        <a:srgbClr val="C8DCE8"/>
                      </a:solidFill>
                      <a:prstDash val="solid"/>
                      <a:round/>
                      <a:headEnd type="none" w="med" len="med"/>
                      <a:tailEnd type="none" w="med" len="med"/>
                    </a:lnR>
                    <a:lnT w="6350" cap="flat" cmpd="sng" algn="ctr">
                      <a:solidFill>
                        <a:srgbClr val="C8DCE8"/>
                      </a:solidFill>
                      <a:prstDash val="solid"/>
                      <a:round/>
                      <a:headEnd type="none" w="med" len="med"/>
                      <a:tailEnd type="none" w="med" len="med"/>
                    </a:lnT>
                    <a:lnB w="6350" cap="flat" cmpd="sng" algn="ctr">
                      <a:solidFill>
                        <a:srgbClr val="C8DCE8"/>
                      </a:solidFill>
                      <a:prstDash val="solid"/>
                      <a:round/>
                      <a:headEnd type="none" w="med" len="med"/>
                      <a:tailEnd type="none" w="med" len="med"/>
                    </a:lnB>
                  </a:tcPr>
                </a:tc>
                <a:tc>
                  <a:txBody>
                    <a:bodyPr/>
                    <a:lstStyle/>
                    <a:p>
                      <a:pPr marL="0" indent="0" algn="ctr">
                        <a:buNone/>
                      </a:pPr>
                      <a:r>
                        <a:rPr lang="en-US" sz="1400" dirty="0">
                          <a:solidFill>
                            <a:srgbClr val="5A7080"/>
                          </a:solidFill>
                          <a:latin typeface="Calibri" pitchFamily="34" charset="0"/>
                          <a:ea typeface="Calibri" pitchFamily="34" charset="-122"/>
                          <a:cs typeface="Calibri" pitchFamily="34" charset="-120"/>
                        </a:rPr>
                        <a:t>419.74</a:t>
                      </a:r>
                      <a:endParaRPr lang="en-US" sz="1400" dirty="0">
                        <a:latin typeface="Calibri" charset="0"/>
                        <a:ea typeface="Calibri" charset="0"/>
                        <a:cs typeface="Calibri" charset="0"/>
                      </a:endParaRPr>
                    </a:p>
                  </a:txBody>
                  <a:tcPr>
                    <a:lnL w="6350" cap="flat" cmpd="sng" algn="ctr">
                      <a:solidFill>
                        <a:srgbClr val="C8DCE8"/>
                      </a:solidFill>
                      <a:prstDash val="solid"/>
                      <a:round/>
                      <a:headEnd type="none" w="med" len="med"/>
                      <a:tailEnd type="none" w="med" len="med"/>
                    </a:lnL>
                    <a:lnR w="6350" cap="flat" cmpd="sng" algn="ctr">
                      <a:solidFill>
                        <a:srgbClr val="C8DCE8"/>
                      </a:solidFill>
                      <a:prstDash val="solid"/>
                      <a:round/>
                      <a:headEnd type="none" w="med" len="med"/>
                      <a:tailEnd type="none" w="med" len="med"/>
                    </a:lnR>
                    <a:lnT w="6350" cap="flat" cmpd="sng" algn="ctr">
                      <a:solidFill>
                        <a:srgbClr val="C8DCE8"/>
                      </a:solidFill>
                      <a:prstDash val="solid"/>
                      <a:round/>
                      <a:headEnd type="none" w="med" len="med"/>
                      <a:tailEnd type="none" w="med" len="med"/>
                    </a:lnT>
                    <a:lnB w="6350" cap="flat" cmpd="sng" algn="ctr">
                      <a:solidFill>
                        <a:srgbClr val="C8DCE8"/>
                      </a:solidFill>
                      <a:prstDash val="solid"/>
                      <a:round/>
                      <a:headEnd type="none" w="med" len="med"/>
                      <a:tailEnd type="none" w="med" len="med"/>
                    </a:lnB>
                  </a:tcPr>
                </a:tc>
                <a:tc>
                  <a:txBody>
                    <a:bodyPr/>
                    <a:lstStyle/>
                    <a:p>
                      <a:pPr marL="0" indent="0" algn="ctr">
                        <a:buNone/>
                      </a:pPr>
                      <a:r>
                        <a:rPr lang="en-US" sz="1400" dirty="0">
                          <a:solidFill>
                            <a:srgbClr val="5A7080"/>
                          </a:solidFill>
                          <a:latin typeface="Calibri" pitchFamily="34" charset="0"/>
                          <a:ea typeface="Calibri" pitchFamily="34" charset="-122"/>
                          <a:cs typeface="Calibri" pitchFamily="34" charset="-120"/>
                        </a:rPr>
                        <a:t>15.3%</a:t>
                      </a:r>
                      <a:endParaRPr lang="en-US" sz="1400" dirty="0">
                        <a:latin typeface="Calibri" charset="0"/>
                        <a:ea typeface="Calibri" charset="0"/>
                        <a:cs typeface="Calibri" charset="0"/>
                      </a:endParaRPr>
                    </a:p>
                  </a:txBody>
                  <a:tcPr>
                    <a:lnL w="6350" cap="flat" cmpd="sng" algn="ctr">
                      <a:solidFill>
                        <a:srgbClr val="C8DCE8"/>
                      </a:solidFill>
                      <a:prstDash val="solid"/>
                      <a:round/>
                      <a:headEnd type="none" w="med" len="med"/>
                      <a:tailEnd type="none" w="med" len="med"/>
                    </a:lnL>
                    <a:lnR w="6350" cap="flat" cmpd="sng" algn="ctr">
                      <a:solidFill>
                        <a:srgbClr val="C8DCE8"/>
                      </a:solidFill>
                      <a:prstDash val="solid"/>
                      <a:round/>
                      <a:headEnd type="none" w="med" len="med"/>
                      <a:tailEnd type="none" w="med" len="med"/>
                    </a:lnR>
                    <a:lnT w="6350" cap="flat" cmpd="sng" algn="ctr">
                      <a:solidFill>
                        <a:srgbClr val="C8DCE8"/>
                      </a:solidFill>
                      <a:prstDash val="solid"/>
                      <a:round/>
                      <a:headEnd type="none" w="med" len="med"/>
                      <a:tailEnd type="none" w="med" len="med"/>
                    </a:lnT>
                    <a:lnB w="6350" cap="flat" cmpd="sng" algn="ctr">
                      <a:solidFill>
                        <a:srgbClr val="C8DCE8"/>
                      </a:solidFill>
                      <a:prstDash val="solid"/>
                      <a:round/>
                      <a:headEnd type="none" w="med" len="med"/>
                      <a:tailEnd type="none" w="med" len="med"/>
                    </a:lnB>
                  </a:tcPr>
                </a:tc>
                <a:tc>
                  <a:txBody>
                    <a:bodyPr/>
                    <a:lstStyle/>
                    <a:p>
                      <a:pPr marL="0" indent="0" algn="ctr">
                        <a:buNone/>
                      </a:pPr>
                      <a:r>
                        <a:rPr lang="en-US" sz="1400" dirty="0">
                          <a:solidFill>
                            <a:srgbClr val="5A7080"/>
                          </a:solidFill>
                          <a:latin typeface="Calibri" pitchFamily="34" charset="0"/>
                          <a:ea typeface="Calibri" pitchFamily="34" charset="-122"/>
                          <a:cs typeface="Calibri" pitchFamily="34" charset="-120"/>
                        </a:rPr>
                        <a:t>15.5%</a:t>
                      </a:r>
                      <a:endParaRPr lang="en-US" sz="1400" dirty="0">
                        <a:latin typeface="Calibri" charset="0"/>
                        <a:ea typeface="Calibri" charset="0"/>
                        <a:cs typeface="Calibri" charset="0"/>
                      </a:endParaRPr>
                    </a:p>
                  </a:txBody>
                  <a:tcPr>
                    <a:lnL w="6350" cap="flat" cmpd="sng" algn="ctr">
                      <a:solidFill>
                        <a:srgbClr val="C8DCE8"/>
                      </a:solidFill>
                      <a:prstDash val="solid"/>
                      <a:round/>
                      <a:headEnd type="none" w="med" len="med"/>
                      <a:tailEnd type="none" w="med" len="med"/>
                    </a:lnL>
                    <a:lnR w="6350" cap="flat" cmpd="sng" algn="ctr">
                      <a:solidFill>
                        <a:srgbClr val="C8DCE8"/>
                      </a:solidFill>
                      <a:prstDash val="solid"/>
                      <a:round/>
                      <a:headEnd type="none" w="med" len="med"/>
                      <a:tailEnd type="none" w="med" len="med"/>
                    </a:lnR>
                    <a:lnT w="6350" cap="flat" cmpd="sng" algn="ctr">
                      <a:solidFill>
                        <a:srgbClr val="C8DCE8"/>
                      </a:solidFill>
                      <a:prstDash val="solid"/>
                      <a:round/>
                      <a:headEnd type="none" w="med" len="med"/>
                      <a:tailEnd type="none" w="med" len="med"/>
                    </a:lnT>
                    <a:lnB w="6350" cap="flat" cmpd="sng" algn="ctr">
                      <a:solidFill>
                        <a:srgbClr val="C8DCE8"/>
                      </a:solidFill>
                      <a:prstDash val="solid"/>
                      <a:round/>
                      <a:headEnd type="none" w="med" len="med"/>
                      <a:tailEnd type="none" w="med" len="med"/>
                    </a:lnB>
                  </a:tcPr>
                </a:tc>
                <a:extLst>
                  <a:ext uri="{0D108BD9-81ED-4DB2-BD59-A6C34878D82A}">
                    <a16:rowId xmlns:a16="http://schemas.microsoft.com/office/drawing/2014/main" val="10001"/>
                  </a:ext>
                </a:extLst>
              </a:tr>
              <a:tr h="480304">
                <a:tc>
                  <a:txBody>
                    <a:bodyPr/>
                    <a:lstStyle/>
                    <a:p>
                      <a:pPr marL="0" indent="0" algn="l">
                        <a:buNone/>
                      </a:pPr>
                      <a:r>
                        <a:rPr lang="en-US" sz="1400" dirty="0">
                          <a:solidFill>
                            <a:srgbClr val="1A2B3C"/>
                          </a:solidFill>
                          <a:latin typeface="Calibri" pitchFamily="34" charset="0"/>
                          <a:ea typeface="Calibri" pitchFamily="34" charset="-122"/>
                          <a:cs typeface="Calibri" pitchFamily="34" charset="-120"/>
                        </a:rPr>
                        <a:t>NHiTS</a:t>
                      </a:r>
                      <a:endParaRPr lang="en-US" sz="1400" dirty="0">
                        <a:latin typeface="Calibri" charset="0"/>
                        <a:ea typeface="Calibri" charset="0"/>
                        <a:cs typeface="Calibri" charset="0"/>
                      </a:endParaRPr>
                    </a:p>
                  </a:txBody>
                  <a:tcPr>
                    <a:lnL w="6350" cap="flat" cmpd="sng" algn="ctr">
                      <a:solidFill>
                        <a:srgbClr val="C8DCE8"/>
                      </a:solidFill>
                      <a:prstDash val="solid"/>
                      <a:round/>
                      <a:headEnd type="none" w="med" len="med"/>
                      <a:tailEnd type="none" w="med" len="med"/>
                    </a:lnL>
                    <a:lnR w="6350" cap="flat" cmpd="sng" algn="ctr">
                      <a:solidFill>
                        <a:srgbClr val="C8DCE8"/>
                      </a:solidFill>
                      <a:prstDash val="solid"/>
                      <a:round/>
                      <a:headEnd type="none" w="med" len="med"/>
                      <a:tailEnd type="none" w="med" len="med"/>
                    </a:lnR>
                    <a:lnT w="6350" cap="flat" cmpd="sng" algn="ctr">
                      <a:solidFill>
                        <a:srgbClr val="C8DCE8"/>
                      </a:solidFill>
                      <a:prstDash val="solid"/>
                      <a:round/>
                      <a:headEnd type="none" w="med" len="med"/>
                      <a:tailEnd type="none" w="med" len="med"/>
                    </a:lnT>
                    <a:lnB w="6350" cap="flat" cmpd="sng" algn="ctr">
                      <a:solidFill>
                        <a:srgbClr val="C8DCE8"/>
                      </a:solidFill>
                      <a:prstDash val="solid"/>
                      <a:round/>
                      <a:headEnd type="none" w="med" len="med"/>
                      <a:tailEnd type="none" w="med" len="med"/>
                    </a:lnB>
                  </a:tcPr>
                </a:tc>
                <a:tc>
                  <a:txBody>
                    <a:bodyPr/>
                    <a:lstStyle/>
                    <a:p>
                      <a:pPr marL="0" indent="0" algn="ctr">
                        <a:buNone/>
                      </a:pPr>
                      <a:r>
                        <a:rPr lang="en-US" sz="1400" dirty="0">
                          <a:solidFill>
                            <a:srgbClr val="5A7080"/>
                          </a:solidFill>
                          <a:latin typeface="Calibri" pitchFamily="34" charset="0"/>
                          <a:ea typeface="Calibri" pitchFamily="34" charset="-122"/>
                          <a:cs typeface="Calibri" pitchFamily="34" charset="-120"/>
                        </a:rPr>
                        <a:t>225.66</a:t>
                      </a:r>
                      <a:endParaRPr lang="en-US" sz="1400" dirty="0">
                        <a:latin typeface="Calibri" charset="0"/>
                        <a:ea typeface="Calibri" charset="0"/>
                        <a:cs typeface="Calibri" charset="0"/>
                      </a:endParaRPr>
                    </a:p>
                  </a:txBody>
                  <a:tcPr>
                    <a:lnL w="6350" cap="flat" cmpd="sng" algn="ctr">
                      <a:solidFill>
                        <a:srgbClr val="C8DCE8"/>
                      </a:solidFill>
                      <a:prstDash val="solid"/>
                      <a:round/>
                      <a:headEnd type="none" w="med" len="med"/>
                      <a:tailEnd type="none" w="med" len="med"/>
                    </a:lnL>
                    <a:lnR w="6350" cap="flat" cmpd="sng" algn="ctr">
                      <a:solidFill>
                        <a:srgbClr val="C8DCE8"/>
                      </a:solidFill>
                      <a:prstDash val="solid"/>
                      <a:round/>
                      <a:headEnd type="none" w="med" len="med"/>
                      <a:tailEnd type="none" w="med" len="med"/>
                    </a:lnR>
                    <a:lnT w="6350" cap="flat" cmpd="sng" algn="ctr">
                      <a:solidFill>
                        <a:srgbClr val="C8DCE8"/>
                      </a:solidFill>
                      <a:prstDash val="solid"/>
                      <a:round/>
                      <a:headEnd type="none" w="med" len="med"/>
                      <a:tailEnd type="none" w="med" len="med"/>
                    </a:lnT>
                    <a:lnB w="6350" cap="flat" cmpd="sng" algn="ctr">
                      <a:solidFill>
                        <a:srgbClr val="C8DCE8"/>
                      </a:solidFill>
                      <a:prstDash val="solid"/>
                      <a:round/>
                      <a:headEnd type="none" w="med" len="med"/>
                      <a:tailEnd type="none" w="med" len="med"/>
                    </a:lnB>
                  </a:tcPr>
                </a:tc>
                <a:tc>
                  <a:txBody>
                    <a:bodyPr/>
                    <a:lstStyle/>
                    <a:p>
                      <a:pPr marL="0" indent="0" algn="ctr">
                        <a:buNone/>
                      </a:pPr>
                      <a:r>
                        <a:rPr lang="en-US" sz="1400" dirty="0">
                          <a:solidFill>
                            <a:srgbClr val="5A7080"/>
                          </a:solidFill>
                          <a:latin typeface="Calibri" pitchFamily="34" charset="0"/>
                          <a:ea typeface="Calibri" pitchFamily="34" charset="-122"/>
                          <a:cs typeface="Calibri" pitchFamily="34" charset="-120"/>
                        </a:rPr>
                        <a:t>409.38</a:t>
                      </a:r>
                      <a:endParaRPr lang="en-US" sz="1400" dirty="0">
                        <a:latin typeface="Calibri" charset="0"/>
                        <a:ea typeface="Calibri" charset="0"/>
                        <a:cs typeface="Calibri" charset="0"/>
                      </a:endParaRPr>
                    </a:p>
                  </a:txBody>
                  <a:tcPr>
                    <a:lnL w="6350" cap="flat" cmpd="sng" algn="ctr">
                      <a:solidFill>
                        <a:srgbClr val="C8DCE8"/>
                      </a:solidFill>
                      <a:prstDash val="solid"/>
                      <a:round/>
                      <a:headEnd type="none" w="med" len="med"/>
                      <a:tailEnd type="none" w="med" len="med"/>
                    </a:lnL>
                    <a:lnR w="6350" cap="flat" cmpd="sng" algn="ctr">
                      <a:solidFill>
                        <a:srgbClr val="C8DCE8"/>
                      </a:solidFill>
                      <a:prstDash val="solid"/>
                      <a:round/>
                      <a:headEnd type="none" w="med" len="med"/>
                      <a:tailEnd type="none" w="med" len="med"/>
                    </a:lnR>
                    <a:lnT w="6350" cap="flat" cmpd="sng" algn="ctr">
                      <a:solidFill>
                        <a:srgbClr val="C8DCE8"/>
                      </a:solidFill>
                      <a:prstDash val="solid"/>
                      <a:round/>
                      <a:headEnd type="none" w="med" len="med"/>
                      <a:tailEnd type="none" w="med" len="med"/>
                    </a:lnT>
                    <a:lnB w="6350" cap="flat" cmpd="sng" algn="ctr">
                      <a:solidFill>
                        <a:srgbClr val="C8DCE8"/>
                      </a:solidFill>
                      <a:prstDash val="solid"/>
                      <a:round/>
                      <a:headEnd type="none" w="med" len="med"/>
                      <a:tailEnd type="none" w="med" len="med"/>
                    </a:lnB>
                  </a:tcPr>
                </a:tc>
                <a:tc>
                  <a:txBody>
                    <a:bodyPr/>
                    <a:lstStyle/>
                    <a:p>
                      <a:pPr marL="0" indent="0" algn="ctr">
                        <a:buNone/>
                      </a:pPr>
                      <a:r>
                        <a:rPr lang="en-US" sz="1400" dirty="0">
                          <a:solidFill>
                            <a:srgbClr val="5A7080"/>
                          </a:solidFill>
                          <a:latin typeface="Calibri" pitchFamily="34" charset="0"/>
                          <a:ea typeface="Calibri" pitchFamily="34" charset="-122"/>
                          <a:cs typeface="Calibri" pitchFamily="34" charset="-120"/>
                        </a:rPr>
                        <a:t>16.0%</a:t>
                      </a:r>
                      <a:endParaRPr lang="en-US" sz="1400" dirty="0">
                        <a:latin typeface="Calibri" charset="0"/>
                        <a:ea typeface="Calibri" charset="0"/>
                        <a:cs typeface="Calibri" charset="0"/>
                      </a:endParaRPr>
                    </a:p>
                  </a:txBody>
                  <a:tcPr>
                    <a:lnL w="6350" cap="flat" cmpd="sng" algn="ctr">
                      <a:solidFill>
                        <a:srgbClr val="C8DCE8"/>
                      </a:solidFill>
                      <a:prstDash val="solid"/>
                      <a:round/>
                      <a:headEnd type="none" w="med" len="med"/>
                      <a:tailEnd type="none" w="med" len="med"/>
                    </a:lnL>
                    <a:lnR w="6350" cap="flat" cmpd="sng" algn="ctr">
                      <a:solidFill>
                        <a:srgbClr val="C8DCE8"/>
                      </a:solidFill>
                      <a:prstDash val="solid"/>
                      <a:round/>
                      <a:headEnd type="none" w="med" len="med"/>
                      <a:tailEnd type="none" w="med" len="med"/>
                    </a:lnR>
                    <a:lnT w="6350" cap="flat" cmpd="sng" algn="ctr">
                      <a:solidFill>
                        <a:srgbClr val="C8DCE8"/>
                      </a:solidFill>
                      <a:prstDash val="solid"/>
                      <a:round/>
                      <a:headEnd type="none" w="med" len="med"/>
                      <a:tailEnd type="none" w="med" len="med"/>
                    </a:lnT>
                    <a:lnB w="6350" cap="flat" cmpd="sng" algn="ctr">
                      <a:solidFill>
                        <a:srgbClr val="C8DCE8"/>
                      </a:solidFill>
                      <a:prstDash val="solid"/>
                      <a:round/>
                      <a:headEnd type="none" w="med" len="med"/>
                      <a:tailEnd type="none" w="med" len="med"/>
                    </a:lnB>
                  </a:tcPr>
                </a:tc>
                <a:tc>
                  <a:txBody>
                    <a:bodyPr/>
                    <a:lstStyle/>
                    <a:p>
                      <a:pPr marL="0" indent="0" algn="ctr">
                        <a:buNone/>
                      </a:pPr>
                      <a:r>
                        <a:rPr lang="en-US" sz="1400" dirty="0">
                          <a:solidFill>
                            <a:srgbClr val="5A7080"/>
                          </a:solidFill>
                          <a:latin typeface="Calibri" pitchFamily="34" charset="0"/>
                          <a:ea typeface="Calibri" pitchFamily="34" charset="-122"/>
                          <a:cs typeface="Calibri" pitchFamily="34" charset="-120"/>
                        </a:rPr>
                        <a:t>15.2%</a:t>
                      </a:r>
                      <a:endParaRPr lang="en-US" sz="1400" dirty="0">
                        <a:latin typeface="Calibri" charset="0"/>
                        <a:ea typeface="Calibri" charset="0"/>
                        <a:cs typeface="Calibri" charset="0"/>
                      </a:endParaRPr>
                    </a:p>
                  </a:txBody>
                  <a:tcPr>
                    <a:lnL w="6350" cap="flat" cmpd="sng" algn="ctr">
                      <a:solidFill>
                        <a:srgbClr val="C8DCE8"/>
                      </a:solidFill>
                      <a:prstDash val="solid"/>
                      <a:round/>
                      <a:headEnd type="none" w="med" len="med"/>
                      <a:tailEnd type="none" w="med" len="med"/>
                    </a:lnL>
                    <a:lnR w="6350" cap="flat" cmpd="sng" algn="ctr">
                      <a:solidFill>
                        <a:srgbClr val="C8DCE8"/>
                      </a:solidFill>
                      <a:prstDash val="solid"/>
                      <a:round/>
                      <a:headEnd type="none" w="med" len="med"/>
                      <a:tailEnd type="none" w="med" len="med"/>
                    </a:lnR>
                    <a:lnT w="6350" cap="flat" cmpd="sng" algn="ctr">
                      <a:solidFill>
                        <a:srgbClr val="C8DCE8"/>
                      </a:solidFill>
                      <a:prstDash val="solid"/>
                      <a:round/>
                      <a:headEnd type="none" w="med" len="med"/>
                      <a:tailEnd type="none" w="med" len="med"/>
                    </a:lnT>
                    <a:lnB w="6350" cap="flat" cmpd="sng" algn="ctr">
                      <a:solidFill>
                        <a:srgbClr val="C8DCE8"/>
                      </a:solidFill>
                      <a:prstDash val="solid"/>
                      <a:round/>
                      <a:headEnd type="none" w="med" len="med"/>
                      <a:tailEnd type="none" w="med" len="med"/>
                    </a:lnB>
                  </a:tcPr>
                </a:tc>
                <a:extLst>
                  <a:ext uri="{0D108BD9-81ED-4DB2-BD59-A6C34878D82A}">
                    <a16:rowId xmlns:a16="http://schemas.microsoft.com/office/drawing/2014/main" val="10002"/>
                  </a:ext>
                </a:extLst>
              </a:tr>
              <a:tr h="480304">
                <a:tc>
                  <a:txBody>
                    <a:bodyPr/>
                    <a:lstStyle/>
                    <a:p>
                      <a:pPr marL="0" indent="0" algn="l">
                        <a:buNone/>
                      </a:pPr>
                      <a:r>
                        <a:rPr lang="en-US" sz="1400" dirty="0">
                          <a:solidFill>
                            <a:srgbClr val="1A2B3C"/>
                          </a:solidFill>
                          <a:latin typeface="Calibri" pitchFamily="34" charset="0"/>
                          <a:ea typeface="Calibri" pitchFamily="34" charset="-122"/>
                          <a:cs typeface="Calibri" pitchFamily="34" charset="-120"/>
                        </a:rPr>
                        <a:t>NBEATS</a:t>
                      </a:r>
                      <a:endParaRPr lang="en-US" sz="1400" dirty="0">
                        <a:latin typeface="Calibri" charset="0"/>
                        <a:ea typeface="Calibri" charset="0"/>
                        <a:cs typeface="Calibri" charset="0"/>
                      </a:endParaRPr>
                    </a:p>
                  </a:txBody>
                  <a:tcPr>
                    <a:lnL w="6350" cap="flat" cmpd="sng" algn="ctr">
                      <a:solidFill>
                        <a:srgbClr val="C8DCE8"/>
                      </a:solidFill>
                      <a:prstDash val="solid"/>
                      <a:round/>
                      <a:headEnd type="none" w="med" len="med"/>
                      <a:tailEnd type="none" w="med" len="med"/>
                    </a:lnL>
                    <a:lnR w="6350" cap="flat" cmpd="sng" algn="ctr">
                      <a:solidFill>
                        <a:srgbClr val="C8DCE8"/>
                      </a:solidFill>
                      <a:prstDash val="solid"/>
                      <a:round/>
                      <a:headEnd type="none" w="med" len="med"/>
                      <a:tailEnd type="none" w="med" len="med"/>
                    </a:lnR>
                    <a:lnT w="6350" cap="flat" cmpd="sng" algn="ctr">
                      <a:solidFill>
                        <a:srgbClr val="C8DCE8"/>
                      </a:solidFill>
                      <a:prstDash val="solid"/>
                      <a:round/>
                      <a:headEnd type="none" w="med" len="med"/>
                      <a:tailEnd type="none" w="med" len="med"/>
                    </a:lnT>
                    <a:lnB w="6350" cap="flat" cmpd="sng" algn="ctr">
                      <a:solidFill>
                        <a:srgbClr val="C8DCE8"/>
                      </a:solidFill>
                      <a:prstDash val="solid"/>
                      <a:round/>
                      <a:headEnd type="none" w="med" len="med"/>
                      <a:tailEnd type="none" w="med" len="med"/>
                    </a:lnB>
                  </a:tcPr>
                </a:tc>
                <a:tc>
                  <a:txBody>
                    <a:bodyPr/>
                    <a:lstStyle/>
                    <a:p>
                      <a:pPr marL="0" indent="0" algn="ctr">
                        <a:buNone/>
                      </a:pPr>
                      <a:r>
                        <a:rPr lang="en-US" sz="1400" dirty="0">
                          <a:solidFill>
                            <a:srgbClr val="5A7080"/>
                          </a:solidFill>
                          <a:latin typeface="Calibri" pitchFamily="34" charset="0"/>
                          <a:ea typeface="Calibri" pitchFamily="34" charset="-122"/>
                          <a:cs typeface="Calibri" pitchFamily="34" charset="-120"/>
                        </a:rPr>
                        <a:t>221.72</a:t>
                      </a:r>
                      <a:endParaRPr lang="en-US" sz="1400" dirty="0">
                        <a:latin typeface="Calibri" charset="0"/>
                        <a:ea typeface="Calibri" charset="0"/>
                        <a:cs typeface="Calibri" charset="0"/>
                      </a:endParaRPr>
                    </a:p>
                  </a:txBody>
                  <a:tcPr>
                    <a:lnL w="6350" cap="flat" cmpd="sng" algn="ctr">
                      <a:solidFill>
                        <a:srgbClr val="C8DCE8"/>
                      </a:solidFill>
                      <a:prstDash val="solid"/>
                      <a:round/>
                      <a:headEnd type="none" w="med" len="med"/>
                      <a:tailEnd type="none" w="med" len="med"/>
                    </a:lnL>
                    <a:lnR w="6350" cap="flat" cmpd="sng" algn="ctr">
                      <a:solidFill>
                        <a:srgbClr val="C8DCE8"/>
                      </a:solidFill>
                      <a:prstDash val="solid"/>
                      <a:round/>
                      <a:headEnd type="none" w="med" len="med"/>
                      <a:tailEnd type="none" w="med" len="med"/>
                    </a:lnR>
                    <a:lnT w="6350" cap="flat" cmpd="sng" algn="ctr">
                      <a:solidFill>
                        <a:srgbClr val="C8DCE8"/>
                      </a:solidFill>
                      <a:prstDash val="solid"/>
                      <a:round/>
                      <a:headEnd type="none" w="med" len="med"/>
                      <a:tailEnd type="none" w="med" len="med"/>
                    </a:lnT>
                    <a:lnB w="6350" cap="flat" cmpd="sng" algn="ctr">
                      <a:solidFill>
                        <a:srgbClr val="C8DCE8"/>
                      </a:solidFill>
                      <a:prstDash val="solid"/>
                      <a:round/>
                      <a:headEnd type="none" w="med" len="med"/>
                      <a:tailEnd type="none" w="med" len="med"/>
                    </a:lnB>
                  </a:tcPr>
                </a:tc>
                <a:tc>
                  <a:txBody>
                    <a:bodyPr/>
                    <a:lstStyle/>
                    <a:p>
                      <a:pPr marL="0" indent="0" algn="ctr">
                        <a:buNone/>
                      </a:pPr>
                      <a:r>
                        <a:rPr lang="en-US" sz="1400" dirty="0">
                          <a:solidFill>
                            <a:srgbClr val="5A7080"/>
                          </a:solidFill>
                          <a:latin typeface="Calibri" pitchFamily="34" charset="0"/>
                          <a:ea typeface="Calibri" pitchFamily="34" charset="-122"/>
                          <a:cs typeface="Calibri" pitchFamily="34" charset="-120"/>
                        </a:rPr>
                        <a:t>409.13</a:t>
                      </a:r>
                      <a:endParaRPr lang="en-US" sz="1400" dirty="0">
                        <a:latin typeface="Calibri" charset="0"/>
                        <a:ea typeface="Calibri" charset="0"/>
                        <a:cs typeface="Calibri" charset="0"/>
                      </a:endParaRPr>
                    </a:p>
                  </a:txBody>
                  <a:tcPr>
                    <a:lnL w="6350" cap="flat" cmpd="sng" algn="ctr">
                      <a:solidFill>
                        <a:srgbClr val="C8DCE8"/>
                      </a:solidFill>
                      <a:prstDash val="solid"/>
                      <a:round/>
                      <a:headEnd type="none" w="med" len="med"/>
                      <a:tailEnd type="none" w="med" len="med"/>
                    </a:lnL>
                    <a:lnR w="6350" cap="flat" cmpd="sng" algn="ctr">
                      <a:solidFill>
                        <a:srgbClr val="C8DCE8"/>
                      </a:solidFill>
                      <a:prstDash val="solid"/>
                      <a:round/>
                      <a:headEnd type="none" w="med" len="med"/>
                      <a:tailEnd type="none" w="med" len="med"/>
                    </a:lnR>
                    <a:lnT w="6350" cap="flat" cmpd="sng" algn="ctr">
                      <a:solidFill>
                        <a:srgbClr val="C8DCE8"/>
                      </a:solidFill>
                      <a:prstDash val="solid"/>
                      <a:round/>
                      <a:headEnd type="none" w="med" len="med"/>
                      <a:tailEnd type="none" w="med" len="med"/>
                    </a:lnT>
                    <a:lnB w="6350" cap="flat" cmpd="sng" algn="ctr">
                      <a:solidFill>
                        <a:srgbClr val="C8DCE8"/>
                      </a:solidFill>
                      <a:prstDash val="solid"/>
                      <a:round/>
                      <a:headEnd type="none" w="med" len="med"/>
                      <a:tailEnd type="none" w="med" len="med"/>
                    </a:lnB>
                  </a:tcPr>
                </a:tc>
                <a:tc>
                  <a:txBody>
                    <a:bodyPr/>
                    <a:lstStyle/>
                    <a:p>
                      <a:pPr marL="0" indent="0" algn="ctr">
                        <a:buNone/>
                      </a:pPr>
                      <a:r>
                        <a:rPr lang="en-US" sz="1400" dirty="0">
                          <a:solidFill>
                            <a:srgbClr val="5A7080"/>
                          </a:solidFill>
                          <a:latin typeface="Calibri" pitchFamily="34" charset="0"/>
                          <a:ea typeface="Calibri" pitchFamily="34" charset="-122"/>
                          <a:cs typeface="Calibri" pitchFamily="34" charset="-120"/>
                        </a:rPr>
                        <a:t>14.8%</a:t>
                      </a:r>
                      <a:endParaRPr lang="en-US" sz="1400" dirty="0">
                        <a:latin typeface="Calibri" charset="0"/>
                        <a:ea typeface="Calibri" charset="0"/>
                        <a:cs typeface="Calibri" charset="0"/>
                      </a:endParaRPr>
                    </a:p>
                  </a:txBody>
                  <a:tcPr>
                    <a:lnL w="6350" cap="flat" cmpd="sng" algn="ctr">
                      <a:solidFill>
                        <a:srgbClr val="C8DCE8"/>
                      </a:solidFill>
                      <a:prstDash val="solid"/>
                      <a:round/>
                      <a:headEnd type="none" w="med" len="med"/>
                      <a:tailEnd type="none" w="med" len="med"/>
                    </a:lnL>
                    <a:lnR w="6350" cap="flat" cmpd="sng" algn="ctr">
                      <a:solidFill>
                        <a:srgbClr val="C8DCE8"/>
                      </a:solidFill>
                      <a:prstDash val="solid"/>
                      <a:round/>
                      <a:headEnd type="none" w="med" len="med"/>
                      <a:tailEnd type="none" w="med" len="med"/>
                    </a:lnR>
                    <a:lnT w="6350" cap="flat" cmpd="sng" algn="ctr">
                      <a:solidFill>
                        <a:srgbClr val="C8DCE8"/>
                      </a:solidFill>
                      <a:prstDash val="solid"/>
                      <a:round/>
                      <a:headEnd type="none" w="med" len="med"/>
                      <a:tailEnd type="none" w="med" len="med"/>
                    </a:lnT>
                    <a:lnB w="6350" cap="flat" cmpd="sng" algn="ctr">
                      <a:solidFill>
                        <a:srgbClr val="C8DCE8"/>
                      </a:solidFill>
                      <a:prstDash val="solid"/>
                      <a:round/>
                      <a:headEnd type="none" w="med" len="med"/>
                      <a:tailEnd type="none" w="med" len="med"/>
                    </a:lnB>
                  </a:tcPr>
                </a:tc>
                <a:tc>
                  <a:txBody>
                    <a:bodyPr/>
                    <a:lstStyle/>
                    <a:p>
                      <a:pPr marL="0" indent="0" algn="ctr">
                        <a:buNone/>
                      </a:pPr>
                      <a:r>
                        <a:rPr lang="en-US" sz="1400" dirty="0">
                          <a:solidFill>
                            <a:srgbClr val="5A7080"/>
                          </a:solidFill>
                          <a:latin typeface="Calibri" pitchFamily="34" charset="0"/>
                          <a:ea typeface="Calibri" pitchFamily="34" charset="-122"/>
                          <a:cs typeface="Calibri" pitchFamily="34" charset="-120"/>
                        </a:rPr>
                        <a:t>14.8%</a:t>
                      </a:r>
                      <a:endParaRPr lang="en-US" sz="1400" dirty="0">
                        <a:latin typeface="Calibri" charset="0"/>
                        <a:ea typeface="Calibri" charset="0"/>
                        <a:cs typeface="Calibri" charset="0"/>
                      </a:endParaRPr>
                    </a:p>
                  </a:txBody>
                  <a:tcPr>
                    <a:lnL w="6350" cap="flat" cmpd="sng" algn="ctr">
                      <a:solidFill>
                        <a:srgbClr val="C8DCE8"/>
                      </a:solidFill>
                      <a:prstDash val="solid"/>
                      <a:round/>
                      <a:headEnd type="none" w="med" len="med"/>
                      <a:tailEnd type="none" w="med" len="med"/>
                    </a:lnL>
                    <a:lnR w="6350" cap="flat" cmpd="sng" algn="ctr">
                      <a:solidFill>
                        <a:srgbClr val="C8DCE8"/>
                      </a:solidFill>
                      <a:prstDash val="solid"/>
                      <a:round/>
                      <a:headEnd type="none" w="med" len="med"/>
                      <a:tailEnd type="none" w="med" len="med"/>
                    </a:lnR>
                    <a:lnT w="6350" cap="flat" cmpd="sng" algn="ctr">
                      <a:solidFill>
                        <a:srgbClr val="C8DCE8"/>
                      </a:solidFill>
                      <a:prstDash val="solid"/>
                      <a:round/>
                      <a:headEnd type="none" w="med" len="med"/>
                      <a:tailEnd type="none" w="med" len="med"/>
                    </a:lnT>
                    <a:lnB w="6350" cap="flat" cmpd="sng" algn="ctr">
                      <a:solidFill>
                        <a:srgbClr val="C8DCE8"/>
                      </a:solidFill>
                      <a:prstDash val="solid"/>
                      <a:round/>
                      <a:headEnd type="none" w="med" len="med"/>
                      <a:tailEnd type="none" w="med" len="med"/>
                    </a:lnB>
                  </a:tcPr>
                </a:tc>
                <a:extLst>
                  <a:ext uri="{0D108BD9-81ED-4DB2-BD59-A6C34878D82A}">
                    <a16:rowId xmlns:a16="http://schemas.microsoft.com/office/drawing/2014/main" val="10003"/>
                  </a:ext>
                </a:extLst>
              </a:tr>
              <a:tr h="668994">
                <a:tc>
                  <a:txBody>
                    <a:bodyPr/>
                    <a:lstStyle/>
                    <a:p>
                      <a:pPr marL="0" indent="0" algn="l">
                        <a:buNone/>
                      </a:pPr>
                      <a:r>
                        <a:rPr lang="en-US" sz="1400" b="1" dirty="0">
                          <a:solidFill>
                            <a:srgbClr val="0D2137"/>
                          </a:solidFill>
                          <a:latin typeface="Calibri" pitchFamily="34" charset="0"/>
                          <a:ea typeface="Calibri" pitchFamily="34" charset="-122"/>
                          <a:cs typeface="Calibri" pitchFamily="34" charset="-120"/>
                        </a:rPr>
                        <a:t>LSTM + Burst + GATED GNN</a:t>
                      </a:r>
                      <a:r>
                        <a:rPr lang="zh-CN" altLang="en-US" sz="1400" b="0" dirty="0">
                          <a:solidFill>
                            <a:schemeClr val="tx1"/>
                          </a:solidFill>
                          <a:latin typeface="Calibri" charset="0"/>
                          <a:ea typeface="Calibri" pitchFamily="34" charset="-122"/>
                          <a:cs typeface="Calibri" charset="0"/>
                        </a:rPr>
                        <a:t> </a:t>
                      </a:r>
                      <a:r>
                        <a:rPr lang="en-US" sz="1400" b="1" dirty="0">
                          <a:solidFill>
                            <a:srgbClr val="0D2137"/>
                          </a:solidFill>
                          <a:latin typeface="Calibri" pitchFamily="34" charset="0"/>
                          <a:ea typeface="Calibri" pitchFamily="34" charset="-122"/>
                          <a:cs typeface="Calibri" pitchFamily="34" charset="-120"/>
                        </a:rPr>
                        <a:t>(with</a:t>
                      </a:r>
                      <a:r>
                        <a:rPr lang="zh-CN" altLang="en-US" sz="1400" b="1" dirty="0">
                          <a:solidFill>
                            <a:srgbClr val="0D2137"/>
                          </a:solidFill>
                          <a:latin typeface="Calibri" pitchFamily="34" charset="0"/>
                          <a:ea typeface="Calibri" pitchFamily="34" charset="-122"/>
                          <a:cs typeface="Calibri" pitchFamily="34" charset="-120"/>
                        </a:rPr>
                        <a:t> </a:t>
                      </a:r>
                      <a:r>
                        <a:rPr lang="en-US" sz="1400" b="1" dirty="0">
                          <a:solidFill>
                            <a:srgbClr val="0D2137"/>
                          </a:solidFill>
                          <a:latin typeface="Calibri" pitchFamily="34" charset="0"/>
                          <a:ea typeface="Calibri" pitchFamily="34" charset="-122"/>
                          <a:cs typeface="Calibri" pitchFamily="34" charset="-120"/>
                        </a:rPr>
                        <a:t>Social Media)</a:t>
                      </a:r>
                      <a:endParaRPr lang="en-US" sz="1400" dirty="0">
                        <a:latin typeface="Calibri" charset="0"/>
                        <a:ea typeface="Calibri" charset="0"/>
                        <a:cs typeface="Calibri" charset="0"/>
                      </a:endParaRPr>
                    </a:p>
                  </a:txBody>
                  <a:tcPr>
                    <a:lnL w="6350" cap="flat" cmpd="sng" algn="ctr">
                      <a:solidFill>
                        <a:srgbClr val="C8DCE8"/>
                      </a:solidFill>
                      <a:prstDash val="solid"/>
                      <a:round/>
                      <a:headEnd type="none" w="med" len="med"/>
                      <a:tailEnd type="none" w="med" len="med"/>
                    </a:lnL>
                    <a:lnR w="6350" cap="flat" cmpd="sng" algn="ctr">
                      <a:solidFill>
                        <a:srgbClr val="C8DCE8"/>
                      </a:solidFill>
                      <a:prstDash val="solid"/>
                      <a:round/>
                      <a:headEnd type="none" w="med" len="med"/>
                      <a:tailEnd type="none" w="med" len="med"/>
                    </a:lnR>
                    <a:lnT w="6350" cap="flat" cmpd="sng" algn="ctr">
                      <a:solidFill>
                        <a:srgbClr val="C8DCE8"/>
                      </a:solidFill>
                      <a:prstDash val="solid"/>
                      <a:round/>
                      <a:headEnd type="none" w="med" len="med"/>
                      <a:tailEnd type="none" w="med" len="med"/>
                    </a:lnT>
                    <a:lnB w="6350" cap="flat" cmpd="sng" algn="ctr">
                      <a:solidFill>
                        <a:srgbClr val="C8DCE8"/>
                      </a:solidFill>
                      <a:prstDash val="solid"/>
                      <a:round/>
                      <a:headEnd type="none" w="med" len="med"/>
                      <a:tailEnd type="none" w="med" len="med"/>
                    </a:lnB>
                  </a:tcPr>
                </a:tc>
                <a:tc>
                  <a:txBody>
                    <a:bodyPr/>
                    <a:lstStyle/>
                    <a:p>
                      <a:pPr marL="0" indent="0" algn="ctr">
                        <a:buNone/>
                      </a:pPr>
                      <a:r>
                        <a:rPr lang="en-US" sz="1400" b="1" dirty="0">
                          <a:solidFill>
                            <a:srgbClr val="028090"/>
                          </a:solidFill>
                          <a:latin typeface="Calibri" pitchFamily="34" charset="0"/>
                          <a:ea typeface="Calibri" pitchFamily="34" charset="-122"/>
                          <a:cs typeface="Calibri" pitchFamily="34" charset="-120"/>
                        </a:rPr>
                        <a:t>182.19</a:t>
                      </a:r>
                      <a:endParaRPr lang="en-US" sz="1400" dirty="0">
                        <a:latin typeface="Calibri" charset="0"/>
                        <a:ea typeface="Calibri" charset="0"/>
                        <a:cs typeface="Calibri" charset="0"/>
                      </a:endParaRPr>
                    </a:p>
                  </a:txBody>
                  <a:tcPr>
                    <a:lnL w="6350" cap="flat" cmpd="sng" algn="ctr">
                      <a:solidFill>
                        <a:srgbClr val="C8DCE8"/>
                      </a:solidFill>
                      <a:prstDash val="solid"/>
                      <a:round/>
                      <a:headEnd type="none" w="med" len="med"/>
                      <a:tailEnd type="none" w="med" len="med"/>
                    </a:lnL>
                    <a:lnR w="6350" cap="flat" cmpd="sng" algn="ctr">
                      <a:solidFill>
                        <a:srgbClr val="C8DCE8"/>
                      </a:solidFill>
                      <a:prstDash val="solid"/>
                      <a:round/>
                      <a:headEnd type="none" w="med" len="med"/>
                      <a:tailEnd type="none" w="med" len="med"/>
                    </a:lnR>
                    <a:lnT w="6350" cap="flat" cmpd="sng" algn="ctr">
                      <a:solidFill>
                        <a:srgbClr val="C8DCE8"/>
                      </a:solidFill>
                      <a:prstDash val="solid"/>
                      <a:round/>
                      <a:headEnd type="none" w="med" len="med"/>
                      <a:tailEnd type="none" w="med" len="med"/>
                    </a:lnT>
                    <a:lnB w="6350" cap="flat" cmpd="sng" algn="ctr">
                      <a:solidFill>
                        <a:srgbClr val="C8DCE8"/>
                      </a:solidFill>
                      <a:prstDash val="solid"/>
                      <a:round/>
                      <a:headEnd type="none" w="med" len="med"/>
                      <a:tailEnd type="none" w="med" len="med"/>
                    </a:lnB>
                  </a:tcPr>
                </a:tc>
                <a:tc>
                  <a:txBody>
                    <a:bodyPr/>
                    <a:lstStyle/>
                    <a:p>
                      <a:pPr marL="0" indent="0" algn="ctr">
                        <a:buNone/>
                      </a:pPr>
                      <a:r>
                        <a:rPr lang="en-US" sz="1400" b="1" dirty="0">
                          <a:solidFill>
                            <a:srgbClr val="028090"/>
                          </a:solidFill>
                          <a:latin typeface="Calibri" pitchFamily="34" charset="0"/>
                          <a:ea typeface="Calibri" pitchFamily="34" charset="-122"/>
                          <a:cs typeface="Calibri" pitchFamily="34" charset="-120"/>
                        </a:rPr>
                        <a:t>336.90</a:t>
                      </a:r>
                      <a:endParaRPr lang="en-US" sz="1400" dirty="0">
                        <a:latin typeface="Calibri" charset="0"/>
                        <a:ea typeface="Calibri" charset="0"/>
                        <a:cs typeface="Calibri" charset="0"/>
                      </a:endParaRPr>
                    </a:p>
                  </a:txBody>
                  <a:tcPr>
                    <a:lnL w="6350" cap="flat" cmpd="sng" algn="ctr">
                      <a:solidFill>
                        <a:srgbClr val="C8DCE8"/>
                      </a:solidFill>
                      <a:prstDash val="solid"/>
                      <a:round/>
                      <a:headEnd type="none" w="med" len="med"/>
                      <a:tailEnd type="none" w="med" len="med"/>
                    </a:lnL>
                    <a:lnR w="6350" cap="flat" cmpd="sng" algn="ctr">
                      <a:solidFill>
                        <a:srgbClr val="C8DCE8"/>
                      </a:solidFill>
                      <a:prstDash val="solid"/>
                      <a:round/>
                      <a:headEnd type="none" w="med" len="med"/>
                      <a:tailEnd type="none" w="med" len="med"/>
                    </a:lnR>
                    <a:lnT w="6350" cap="flat" cmpd="sng" algn="ctr">
                      <a:solidFill>
                        <a:srgbClr val="C8DCE8"/>
                      </a:solidFill>
                      <a:prstDash val="solid"/>
                      <a:round/>
                      <a:headEnd type="none" w="med" len="med"/>
                      <a:tailEnd type="none" w="med" len="med"/>
                    </a:lnT>
                    <a:lnB w="6350" cap="flat" cmpd="sng" algn="ctr">
                      <a:solidFill>
                        <a:srgbClr val="C8DCE8"/>
                      </a:solidFill>
                      <a:prstDash val="solid"/>
                      <a:round/>
                      <a:headEnd type="none" w="med" len="med"/>
                      <a:tailEnd type="none" w="med" len="med"/>
                    </a:lnB>
                  </a:tcPr>
                </a:tc>
                <a:tc>
                  <a:txBody>
                    <a:bodyPr/>
                    <a:lstStyle/>
                    <a:p>
                      <a:pPr marL="0" indent="0" algn="ctr">
                        <a:buNone/>
                      </a:pPr>
                      <a:r>
                        <a:rPr lang="en-US" sz="1400" b="1" dirty="0">
                          <a:solidFill>
                            <a:srgbClr val="028090"/>
                          </a:solidFill>
                          <a:latin typeface="Calibri" pitchFamily="34" charset="0"/>
                          <a:ea typeface="Calibri" pitchFamily="34" charset="-122"/>
                          <a:cs typeface="Calibri" pitchFamily="34" charset="-120"/>
                        </a:rPr>
                        <a:t>12.7%</a:t>
                      </a:r>
                      <a:endParaRPr lang="en-US" sz="1400" dirty="0">
                        <a:latin typeface="Calibri" charset="0"/>
                        <a:ea typeface="Calibri" charset="0"/>
                        <a:cs typeface="Calibri" charset="0"/>
                      </a:endParaRPr>
                    </a:p>
                  </a:txBody>
                  <a:tcPr>
                    <a:lnL w="6350" cap="flat" cmpd="sng" algn="ctr">
                      <a:solidFill>
                        <a:srgbClr val="C8DCE8"/>
                      </a:solidFill>
                      <a:prstDash val="solid"/>
                      <a:round/>
                      <a:headEnd type="none" w="med" len="med"/>
                      <a:tailEnd type="none" w="med" len="med"/>
                    </a:lnL>
                    <a:lnR w="6350" cap="flat" cmpd="sng" algn="ctr">
                      <a:solidFill>
                        <a:srgbClr val="C8DCE8"/>
                      </a:solidFill>
                      <a:prstDash val="solid"/>
                      <a:round/>
                      <a:headEnd type="none" w="med" len="med"/>
                      <a:tailEnd type="none" w="med" len="med"/>
                    </a:lnR>
                    <a:lnT w="6350" cap="flat" cmpd="sng" algn="ctr">
                      <a:solidFill>
                        <a:srgbClr val="C8DCE8"/>
                      </a:solidFill>
                      <a:prstDash val="solid"/>
                      <a:round/>
                      <a:headEnd type="none" w="med" len="med"/>
                      <a:tailEnd type="none" w="med" len="med"/>
                    </a:lnT>
                    <a:lnB w="6350" cap="flat" cmpd="sng" algn="ctr">
                      <a:solidFill>
                        <a:srgbClr val="C8DCE8"/>
                      </a:solidFill>
                      <a:prstDash val="solid"/>
                      <a:round/>
                      <a:headEnd type="none" w="med" len="med"/>
                      <a:tailEnd type="none" w="med" len="med"/>
                    </a:lnB>
                  </a:tcPr>
                </a:tc>
                <a:tc>
                  <a:txBody>
                    <a:bodyPr/>
                    <a:lstStyle/>
                    <a:p>
                      <a:pPr marL="0" indent="0" algn="ctr">
                        <a:buNone/>
                      </a:pPr>
                      <a:r>
                        <a:rPr lang="en-US" sz="1400" b="1" dirty="0">
                          <a:solidFill>
                            <a:srgbClr val="028090"/>
                          </a:solidFill>
                          <a:latin typeface="Calibri" pitchFamily="34" charset="0"/>
                          <a:ea typeface="Calibri" pitchFamily="34" charset="-122"/>
                          <a:cs typeface="Calibri" pitchFamily="34" charset="-120"/>
                        </a:rPr>
                        <a:t>13.0%</a:t>
                      </a:r>
                      <a:endParaRPr lang="en-US" sz="1400" dirty="0">
                        <a:latin typeface="Calibri" charset="0"/>
                        <a:ea typeface="Calibri" charset="0"/>
                        <a:cs typeface="Calibri" charset="0"/>
                      </a:endParaRPr>
                    </a:p>
                  </a:txBody>
                  <a:tcPr>
                    <a:lnL w="6350" cap="flat" cmpd="sng" algn="ctr">
                      <a:solidFill>
                        <a:srgbClr val="C8DCE8"/>
                      </a:solidFill>
                      <a:prstDash val="solid"/>
                      <a:round/>
                      <a:headEnd type="none" w="med" len="med"/>
                      <a:tailEnd type="none" w="med" len="med"/>
                    </a:lnL>
                    <a:lnR w="6350" cap="flat" cmpd="sng" algn="ctr">
                      <a:solidFill>
                        <a:srgbClr val="C8DCE8"/>
                      </a:solidFill>
                      <a:prstDash val="solid"/>
                      <a:round/>
                      <a:headEnd type="none" w="med" len="med"/>
                      <a:tailEnd type="none" w="med" len="med"/>
                    </a:lnR>
                    <a:lnT w="6350" cap="flat" cmpd="sng" algn="ctr">
                      <a:solidFill>
                        <a:srgbClr val="C8DCE8"/>
                      </a:solidFill>
                      <a:prstDash val="solid"/>
                      <a:round/>
                      <a:headEnd type="none" w="med" len="med"/>
                      <a:tailEnd type="none" w="med" len="med"/>
                    </a:lnT>
                    <a:lnB w="6350" cap="flat" cmpd="sng" algn="ctr">
                      <a:solidFill>
                        <a:srgbClr val="C8DCE8"/>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Shape 2"/>
          <p:cNvSpPr/>
          <p:nvPr/>
        </p:nvSpPr>
        <p:spPr>
          <a:xfrm>
            <a:off x="365760" y="3870198"/>
            <a:ext cx="5120640" cy="502920"/>
          </a:xfrm>
          <a:prstGeom prst="rect">
            <a:avLst/>
          </a:prstGeom>
          <a:solidFill>
            <a:srgbClr val="028090"/>
          </a:solidFill>
          <a:ln w="12700">
            <a:solidFill>
              <a:srgbClr val="028090"/>
            </a:solidFill>
            <a:prstDash val="solid"/>
          </a:ln>
        </p:spPr>
        <p:txBody>
          <a:bodyPr/>
          <a:lstStyle/>
          <a:p>
            <a:endParaRPr lang="en-CN"/>
          </a:p>
        </p:txBody>
      </p:sp>
      <p:sp>
        <p:nvSpPr>
          <p:cNvPr id="6" name="Text 3"/>
          <p:cNvSpPr/>
          <p:nvPr/>
        </p:nvSpPr>
        <p:spPr>
          <a:xfrm>
            <a:off x="292609" y="3867913"/>
            <a:ext cx="5120640" cy="50292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NEW DESIGN is the best model across all 4 metrics</a:t>
            </a:r>
            <a:endParaRPr lang="en-US" sz="1400" dirty="0"/>
          </a:p>
        </p:txBody>
      </p:sp>
      <p:sp>
        <p:nvSpPr>
          <p:cNvPr id="7" name="Text 4"/>
          <p:cNvSpPr/>
          <p:nvPr/>
        </p:nvSpPr>
        <p:spPr>
          <a:xfrm>
            <a:off x="5669280" y="806959"/>
            <a:ext cx="3108960" cy="365760"/>
          </a:xfrm>
          <a:prstGeom prst="rect">
            <a:avLst/>
          </a:prstGeom>
          <a:noFill/>
          <a:ln/>
        </p:spPr>
        <p:txBody>
          <a:bodyPr wrap="square" rtlCol="0" anchor="ctr"/>
          <a:lstStyle/>
          <a:p>
            <a:pPr marL="0" indent="0">
              <a:buNone/>
            </a:pPr>
            <a:r>
              <a:rPr lang="en-US" sz="1200" b="1" dirty="0">
                <a:solidFill>
                  <a:srgbClr val="0D2137"/>
                </a:solidFill>
                <a:latin typeface="Calibri" pitchFamily="34" charset="0"/>
                <a:ea typeface="Calibri" pitchFamily="34" charset="-122"/>
                <a:cs typeface="Calibri" pitchFamily="34" charset="-120"/>
              </a:rPr>
              <a:t>Improvement Over Best Baseline (NBEATS)</a:t>
            </a:r>
            <a:endParaRPr lang="en-US" sz="1200" dirty="0"/>
          </a:p>
        </p:txBody>
      </p:sp>
      <p:sp>
        <p:nvSpPr>
          <p:cNvPr id="8" name="Shape 5"/>
          <p:cNvSpPr/>
          <p:nvPr/>
        </p:nvSpPr>
        <p:spPr>
          <a:xfrm>
            <a:off x="5720080" y="1173480"/>
            <a:ext cx="3108960" cy="713232"/>
          </a:xfrm>
          <a:prstGeom prst="rect">
            <a:avLst/>
          </a:prstGeom>
          <a:solidFill>
            <a:srgbClr val="EBF5FF"/>
          </a:solidFill>
          <a:ln w="12700">
            <a:solidFill>
              <a:srgbClr val="028090"/>
            </a:solidFill>
            <a:prstDash val="solid"/>
          </a:ln>
          <a:effectLst>
            <a:outerShdw blurRad="76200" dist="25400" dir="8100000" algn="bl" rotWithShape="0">
              <a:srgbClr val="000000">
                <a:alpha val="12000"/>
              </a:srgbClr>
            </a:outerShdw>
          </a:effectLst>
        </p:spPr>
        <p:txBody>
          <a:bodyPr/>
          <a:lstStyle/>
          <a:p>
            <a:endParaRPr lang="en-CN"/>
          </a:p>
        </p:txBody>
      </p:sp>
      <p:sp>
        <p:nvSpPr>
          <p:cNvPr id="9" name="Text 6"/>
          <p:cNvSpPr/>
          <p:nvPr/>
        </p:nvSpPr>
        <p:spPr>
          <a:xfrm>
            <a:off x="5765800" y="1228344"/>
            <a:ext cx="822960" cy="594360"/>
          </a:xfrm>
          <a:prstGeom prst="rect">
            <a:avLst/>
          </a:prstGeom>
          <a:noFill/>
          <a:ln/>
        </p:spPr>
        <p:txBody>
          <a:bodyPr wrap="square" rtlCol="0" anchor="ctr"/>
          <a:lstStyle/>
          <a:p>
            <a:pPr marL="0" indent="0" algn="ctr">
              <a:buNone/>
            </a:pPr>
            <a:r>
              <a:rPr lang="en-US" b="1" dirty="0">
                <a:solidFill>
                  <a:srgbClr val="0D2137"/>
                </a:solidFill>
                <a:latin typeface="Calibri" pitchFamily="34" charset="0"/>
                <a:ea typeface="Calibri" pitchFamily="34" charset="-122"/>
                <a:cs typeface="Calibri" pitchFamily="34" charset="-120"/>
              </a:rPr>
              <a:t>MAE</a:t>
            </a:r>
            <a:endParaRPr lang="en-US" dirty="0"/>
          </a:p>
        </p:txBody>
      </p:sp>
      <p:sp>
        <p:nvSpPr>
          <p:cNvPr id="10" name="Shape 7"/>
          <p:cNvSpPr/>
          <p:nvPr/>
        </p:nvSpPr>
        <p:spPr>
          <a:xfrm>
            <a:off x="6616192" y="1301496"/>
            <a:ext cx="0" cy="438912"/>
          </a:xfrm>
          <a:prstGeom prst="line">
            <a:avLst/>
          </a:prstGeom>
          <a:noFill/>
          <a:ln w="12700">
            <a:solidFill>
              <a:srgbClr val="B8D4DF"/>
            </a:solidFill>
            <a:prstDash val="solid"/>
          </a:ln>
        </p:spPr>
        <p:txBody>
          <a:bodyPr/>
          <a:lstStyle/>
          <a:p>
            <a:endParaRPr lang="en-CN"/>
          </a:p>
        </p:txBody>
      </p:sp>
      <p:sp>
        <p:nvSpPr>
          <p:cNvPr id="11" name="Text 8"/>
          <p:cNvSpPr/>
          <p:nvPr/>
        </p:nvSpPr>
        <p:spPr>
          <a:xfrm>
            <a:off x="6689344" y="1210056"/>
            <a:ext cx="2011680" cy="292608"/>
          </a:xfrm>
          <a:prstGeom prst="rect">
            <a:avLst/>
          </a:prstGeom>
          <a:noFill/>
          <a:ln/>
        </p:spPr>
        <p:txBody>
          <a:bodyPr wrap="square" rtlCol="0" anchor="ctr"/>
          <a:lstStyle/>
          <a:p>
            <a:pPr marL="0" indent="0">
              <a:buNone/>
            </a:pPr>
            <a:r>
              <a:rPr lang="en-US" sz="1250" dirty="0">
                <a:solidFill>
                  <a:srgbClr val="1A2B3C"/>
                </a:solidFill>
                <a:latin typeface="Calibri" pitchFamily="34" charset="0"/>
                <a:ea typeface="Calibri" pitchFamily="34" charset="-122"/>
                <a:cs typeface="Calibri" pitchFamily="34" charset="-120"/>
              </a:rPr>
              <a:t>221.72 → 182.19</a:t>
            </a:r>
            <a:endParaRPr lang="en-US" sz="1250" dirty="0"/>
          </a:p>
        </p:txBody>
      </p:sp>
      <p:sp>
        <p:nvSpPr>
          <p:cNvPr id="12" name="Text 9"/>
          <p:cNvSpPr/>
          <p:nvPr/>
        </p:nvSpPr>
        <p:spPr>
          <a:xfrm>
            <a:off x="6689344" y="1502664"/>
            <a:ext cx="2011680" cy="292608"/>
          </a:xfrm>
          <a:prstGeom prst="rect">
            <a:avLst/>
          </a:prstGeom>
          <a:noFill/>
          <a:ln/>
        </p:spPr>
        <p:txBody>
          <a:bodyPr wrap="square" rtlCol="0" anchor="ctr"/>
          <a:lstStyle/>
          <a:p>
            <a:pPr marL="0" indent="0">
              <a:buNone/>
            </a:pPr>
            <a:r>
              <a:rPr lang="en-US" sz="1300" b="1" dirty="0">
                <a:solidFill>
                  <a:srgbClr val="028090"/>
                </a:solidFill>
                <a:latin typeface="Calibri" pitchFamily="34" charset="0"/>
                <a:ea typeface="Calibri" pitchFamily="34" charset="-122"/>
                <a:cs typeface="Calibri" pitchFamily="34" charset="-120"/>
              </a:rPr>
              <a:t>▼ 17.8% improvement</a:t>
            </a:r>
            <a:endParaRPr lang="en-US" sz="1300" dirty="0"/>
          </a:p>
        </p:txBody>
      </p:sp>
      <p:sp>
        <p:nvSpPr>
          <p:cNvPr id="13" name="Shape 10"/>
          <p:cNvSpPr/>
          <p:nvPr/>
        </p:nvSpPr>
        <p:spPr>
          <a:xfrm>
            <a:off x="5720080" y="1996440"/>
            <a:ext cx="3108960" cy="713232"/>
          </a:xfrm>
          <a:prstGeom prst="rect">
            <a:avLst/>
          </a:prstGeom>
          <a:solidFill>
            <a:srgbClr val="EBF5FF"/>
          </a:solidFill>
          <a:ln w="12700">
            <a:solidFill>
              <a:srgbClr val="028090"/>
            </a:solidFill>
            <a:prstDash val="solid"/>
          </a:ln>
          <a:effectLst>
            <a:outerShdw blurRad="76200" dist="25400" dir="8100000" algn="bl" rotWithShape="0">
              <a:srgbClr val="000000">
                <a:alpha val="12000"/>
              </a:srgbClr>
            </a:outerShdw>
          </a:effectLst>
        </p:spPr>
        <p:txBody>
          <a:bodyPr/>
          <a:lstStyle/>
          <a:p>
            <a:endParaRPr lang="en-CN"/>
          </a:p>
        </p:txBody>
      </p:sp>
      <p:sp>
        <p:nvSpPr>
          <p:cNvPr id="14" name="Text 11"/>
          <p:cNvSpPr/>
          <p:nvPr/>
        </p:nvSpPr>
        <p:spPr>
          <a:xfrm>
            <a:off x="5765800" y="2051304"/>
            <a:ext cx="822960" cy="594360"/>
          </a:xfrm>
          <a:prstGeom prst="rect">
            <a:avLst/>
          </a:prstGeom>
          <a:noFill/>
          <a:ln/>
        </p:spPr>
        <p:txBody>
          <a:bodyPr wrap="square" rtlCol="0" anchor="ctr"/>
          <a:lstStyle/>
          <a:p>
            <a:pPr marL="0" indent="0" algn="ctr">
              <a:buNone/>
            </a:pPr>
            <a:r>
              <a:rPr lang="en-US" b="1" dirty="0">
                <a:solidFill>
                  <a:srgbClr val="0D2137"/>
                </a:solidFill>
                <a:latin typeface="Calibri" pitchFamily="34" charset="0"/>
                <a:ea typeface="Calibri" pitchFamily="34" charset="-122"/>
                <a:cs typeface="Calibri" pitchFamily="34" charset="-120"/>
              </a:rPr>
              <a:t>RMSE</a:t>
            </a:r>
            <a:endParaRPr lang="en-US" dirty="0"/>
          </a:p>
        </p:txBody>
      </p:sp>
      <p:sp>
        <p:nvSpPr>
          <p:cNvPr id="15" name="Shape 12"/>
          <p:cNvSpPr/>
          <p:nvPr/>
        </p:nvSpPr>
        <p:spPr>
          <a:xfrm>
            <a:off x="6616192" y="2124456"/>
            <a:ext cx="0" cy="438912"/>
          </a:xfrm>
          <a:prstGeom prst="line">
            <a:avLst/>
          </a:prstGeom>
          <a:noFill/>
          <a:ln w="12700">
            <a:solidFill>
              <a:srgbClr val="B8D4DF"/>
            </a:solidFill>
            <a:prstDash val="solid"/>
          </a:ln>
        </p:spPr>
        <p:txBody>
          <a:bodyPr/>
          <a:lstStyle/>
          <a:p>
            <a:endParaRPr lang="en-CN"/>
          </a:p>
        </p:txBody>
      </p:sp>
      <p:sp>
        <p:nvSpPr>
          <p:cNvPr id="16" name="Text 13"/>
          <p:cNvSpPr/>
          <p:nvPr/>
        </p:nvSpPr>
        <p:spPr>
          <a:xfrm>
            <a:off x="6689344" y="2033016"/>
            <a:ext cx="2011680" cy="292608"/>
          </a:xfrm>
          <a:prstGeom prst="rect">
            <a:avLst/>
          </a:prstGeom>
          <a:noFill/>
          <a:ln/>
        </p:spPr>
        <p:txBody>
          <a:bodyPr wrap="square" rtlCol="0" anchor="ctr"/>
          <a:lstStyle/>
          <a:p>
            <a:pPr marL="0" indent="0">
              <a:buNone/>
            </a:pPr>
            <a:r>
              <a:rPr lang="en-US" sz="1250" dirty="0">
                <a:solidFill>
                  <a:srgbClr val="1A2B3C"/>
                </a:solidFill>
                <a:latin typeface="Calibri" pitchFamily="34" charset="0"/>
                <a:ea typeface="Calibri" pitchFamily="34" charset="-122"/>
                <a:cs typeface="Calibri" pitchFamily="34" charset="-120"/>
              </a:rPr>
              <a:t>409.13 → 336.9</a:t>
            </a:r>
            <a:endParaRPr lang="en-US" sz="1250" dirty="0"/>
          </a:p>
        </p:txBody>
      </p:sp>
      <p:sp>
        <p:nvSpPr>
          <p:cNvPr id="17" name="Text 14"/>
          <p:cNvSpPr/>
          <p:nvPr/>
        </p:nvSpPr>
        <p:spPr>
          <a:xfrm>
            <a:off x="6689344" y="2325624"/>
            <a:ext cx="2011680" cy="292608"/>
          </a:xfrm>
          <a:prstGeom prst="rect">
            <a:avLst/>
          </a:prstGeom>
          <a:noFill/>
          <a:ln/>
        </p:spPr>
        <p:txBody>
          <a:bodyPr wrap="square" rtlCol="0" anchor="ctr"/>
          <a:lstStyle/>
          <a:p>
            <a:pPr marL="0" indent="0">
              <a:buNone/>
            </a:pPr>
            <a:r>
              <a:rPr lang="en-US" sz="1300" b="1" dirty="0">
                <a:solidFill>
                  <a:srgbClr val="028090"/>
                </a:solidFill>
                <a:latin typeface="Calibri" pitchFamily="34" charset="0"/>
                <a:ea typeface="Calibri" pitchFamily="34" charset="-122"/>
                <a:cs typeface="Calibri" pitchFamily="34" charset="-120"/>
              </a:rPr>
              <a:t>▼ 17.7% improvement</a:t>
            </a:r>
            <a:endParaRPr lang="en-US" sz="1300" dirty="0"/>
          </a:p>
        </p:txBody>
      </p:sp>
      <p:sp>
        <p:nvSpPr>
          <p:cNvPr id="18" name="Shape 15"/>
          <p:cNvSpPr/>
          <p:nvPr/>
        </p:nvSpPr>
        <p:spPr>
          <a:xfrm>
            <a:off x="5720080" y="2819400"/>
            <a:ext cx="3108960" cy="713232"/>
          </a:xfrm>
          <a:prstGeom prst="rect">
            <a:avLst/>
          </a:prstGeom>
          <a:solidFill>
            <a:srgbClr val="EBF5FF"/>
          </a:solidFill>
          <a:ln w="12700">
            <a:solidFill>
              <a:srgbClr val="028090"/>
            </a:solidFill>
            <a:prstDash val="solid"/>
          </a:ln>
          <a:effectLst>
            <a:outerShdw blurRad="76200" dist="25400" dir="8100000" algn="bl" rotWithShape="0">
              <a:srgbClr val="000000">
                <a:alpha val="12000"/>
              </a:srgbClr>
            </a:outerShdw>
          </a:effectLst>
        </p:spPr>
        <p:txBody>
          <a:bodyPr/>
          <a:lstStyle/>
          <a:p>
            <a:endParaRPr lang="en-CN"/>
          </a:p>
        </p:txBody>
      </p:sp>
      <p:sp>
        <p:nvSpPr>
          <p:cNvPr id="19" name="Text 16"/>
          <p:cNvSpPr/>
          <p:nvPr/>
        </p:nvSpPr>
        <p:spPr>
          <a:xfrm>
            <a:off x="5765800" y="2874264"/>
            <a:ext cx="822960" cy="594360"/>
          </a:xfrm>
          <a:prstGeom prst="rect">
            <a:avLst/>
          </a:prstGeom>
          <a:noFill/>
          <a:ln/>
        </p:spPr>
        <p:txBody>
          <a:bodyPr wrap="square" rtlCol="0" anchor="ctr"/>
          <a:lstStyle/>
          <a:p>
            <a:pPr marL="0" indent="0" algn="ctr">
              <a:buNone/>
            </a:pPr>
            <a:r>
              <a:rPr lang="en-US" b="1" dirty="0">
                <a:solidFill>
                  <a:srgbClr val="0D2137"/>
                </a:solidFill>
                <a:latin typeface="Calibri" pitchFamily="34" charset="0"/>
                <a:ea typeface="Calibri" pitchFamily="34" charset="-122"/>
                <a:cs typeface="Calibri" pitchFamily="34" charset="-120"/>
              </a:rPr>
              <a:t>MAPE</a:t>
            </a:r>
            <a:endParaRPr lang="en-US" dirty="0"/>
          </a:p>
        </p:txBody>
      </p:sp>
      <p:sp>
        <p:nvSpPr>
          <p:cNvPr id="20" name="Shape 17"/>
          <p:cNvSpPr/>
          <p:nvPr/>
        </p:nvSpPr>
        <p:spPr>
          <a:xfrm>
            <a:off x="6616192" y="2947416"/>
            <a:ext cx="0" cy="438912"/>
          </a:xfrm>
          <a:prstGeom prst="line">
            <a:avLst/>
          </a:prstGeom>
          <a:noFill/>
          <a:ln w="12700">
            <a:solidFill>
              <a:srgbClr val="B8D4DF"/>
            </a:solidFill>
            <a:prstDash val="solid"/>
          </a:ln>
        </p:spPr>
        <p:txBody>
          <a:bodyPr/>
          <a:lstStyle/>
          <a:p>
            <a:endParaRPr lang="en-CN"/>
          </a:p>
        </p:txBody>
      </p:sp>
      <p:sp>
        <p:nvSpPr>
          <p:cNvPr id="21" name="Text 18"/>
          <p:cNvSpPr/>
          <p:nvPr/>
        </p:nvSpPr>
        <p:spPr>
          <a:xfrm>
            <a:off x="6689344" y="2855976"/>
            <a:ext cx="2011680" cy="292608"/>
          </a:xfrm>
          <a:prstGeom prst="rect">
            <a:avLst/>
          </a:prstGeom>
          <a:noFill/>
          <a:ln/>
        </p:spPr>
        <p:txBody>
          <a:bodyPr wrap="square" rtlCol="0" anchor="ctr"/>
          <a:lstStyle/>
          <a:p>
            <a:pPr marL="0" indent="0">
              <a:buNone/>
            </a:pPr>
            <a:r>
              <a:rPr lang="en-US" sz="1250" dirty="0">
                <a:solidFill>
                  <a:srgbClr val="1A2B3C"/>
                </a:solidFill>
                <a:latin typeface="Calibri" pitchFamily="34" charset="0"/>
                <a:ea typeface="Calibri" pitchFamily="34" charset="-122"/>
                <a:cs typeface="Calibri" pitchFamily="34" charset="-120"/>
              </a:rPr>
              <a:t>14.8 → 12.7</a:t>
            </a:r>
            <a:endParaRPr lang="en-US" sz="1250" dirty="0"/>
          </a:p>
        </p:txBody>
      </p:sp>
      <p:sp>
        <p:nvSpPr>
          <p:cNvPr id="22" name="Text 19"/>
          <p:cNvSpPr/>
          <p:nvPr/>
        </p:nvSpPr>
        <p:spPr>
          <a:xfrm>
            <a:off x="6689344" y="3148584"/>
            <a:ext cx="2011680" cy="292608"/>
          </a:xfrm>
          <a:prstGeom prst="rect">
            <a:avLst/>
          </a:prstGeom>
          <a:noFill/>
          <a:ln/>
        </p:spPr>
        <p:txBody>
          <a:bodyPr wrap="square" rtlCol="0" anchor="ctr"/>
          <a:lstStyle/>
          <a:p>
            <a:pPr marL="0" indent="0">
              <a:buNone/>
            </a:pPr>
            <a:r>
              <a:rPr lang="en-US" sz="1300" b="1" dirty="0">
                <a:solidFill>
                  <a:srgbClr val="028090"/>
                </a:solidFill>
                <a:latin typeface="Calibri" pitchFamily="34" charset="0"/>
                <a:ea typeface="Calibri" pitchFamily="34" charset="-122"/>
                <a:cs typeface="Calibri" pitchFamily="34" charset="-120"/>
              </a:rPr>
              <a:t>▼ 14.2% improvement</a:t>
            </a:r>
            <a:endParaRPr lang="en-US" sz="1300" dirty="0"/>
          </a:p>
        </p:txBody>
      </p:sp>
      <p:sp>
        <p:nvSpPr>
          <p:cNvPr id="23" name="Shape 20"/>
          <p:cNvSpPr/>
          <p:nvPr/>
        </p:nvSpPr>
        <p:spPr>
          <a:xfrm>
            <a:off x="5720080" y="3642360"/>
            <a:ext cx="3108960" cy="713232"/>
          </a:xfrm>
          <a:prstGeom prst="rect">
            <a:avLst/>
          </a:prstGeom>
          <a:solidFill>
            <a:srgbClr val="EBF5FF"/>
          </a:solidFill>
          <a:ln w="12700">
            <a:solidFill>
              <a:srgbClr val="028090"/>
            </a:solidFill>
            <a:prstDash val="solid"/>
          </a:ln>
          <a:effectLst>
            <a:outerShdw blurRad="76200" dist="25400" dir="8100000" algn="bl" rotWithShape="0">
              <a:srgbClr val="000000">
                <a:alpha val="12000"/>
              </a:srgbClr>
            </a:outerShdw>
          </a:effectLst>
        </p:spPr>
        <p:txBody>
          <a:bodyPr/>
          <a:lstStyle/>
          <a:p>
            <a:endParaRPr lang="en-CN"/>
          </a:p>
        </p:txBody>
      </p:sp>
      <p:sp>
        <p:nvSpPr>
          <p:cNvPr id="24" name="Text 21"/>
          <p:cNvSpPr/>
          <p:nvPr/>
        </p:nvSpPr>
        <p:spPr>
          <a:xfrm>
            <a:off x="5720080" y="3697224"/>
            <a:ext cx="868680" cy="594360"/>
          </a:xfrm>
          <a:prstGeom prst="rect">
            <a:avLst/>
          </a:prstGeom>
          <a:noFill/>
          <a:ln/>
        </p:spPr>
        <p:txBody>
          <a:bodyPr wrap="square" rtlCol="0" anchor="ctr"/>
          <a:lstStyle/>
          <a:p>
            <a:pPr marL="0" indent="0" algn="ctr">
              <a:buNone/>
            </a:pPr>
            <a:r>
              <a:rPr lang="en-US" b="1" dirty="0">
                <a:solidFill>
                  <a:srgbClr val="0D2137"/>
                </a:solidFill>
                <a:latin typeface="Calibri" pitchFamily="34" charset="0"/>
                <a:ea typeface="Calibri" pitchFamily="34" charset="-122"/>
                <a:cs typeface="Calibri" pitchFamily="34" charset="-120"/>
              </a:rPr>
              <a:t>sMAPE</a:t>
            </a:r>
            <a:endParaRPr lang="en-US" dirty="0"/>
          </a:p>
        </p:txBody>
      </p:sp>
      <p:sp>
        <p:nvSpPr>
          <p:cNvPr id="25" name="Shape 22"/>
          <p:cNvSpPr/>
          <p:nvPr/>
        </p:nvSpPr>
        <p:spPr>
          <a:xfrm>
            <a:off x="6656832" y="4014216"/>
            <a:ext cx="0" cy="438912"/>
          </a:xfrm>
          <a:prstGeom prst="line">
            <a:avLst/>
          </a:prstGeom>
          <a:noFill/>
          <a:ln w="12700">
            <a:solidFill>
              <a:srgbClr val="B8D4DF"/>
            </a:solidFill>
            <a:prstDash val="solid"/>
          </a:ln>
        </p:spPr>
        <p:txBody>
          <a:bodyPr/>
          <a:lstStyle/>
          <a:p>
            <a:endParaRPr lang="en-CN"/>
          </a:p>
        </p:txBody>
      </p:sp>
      <p:sp>
        <p:nvSpPr>
          <p:cNvPr id="26" name="Text 23"/>
          <p:cNvSpPr/>
          <p:nvPr/>
        </p:nvSpPr>
        <p:spPr>
          <a:xfrm>
            <a:off x="6689344" y="3678936"/>
            <a:ext cx="2011680" cy="292608"/>
          </a:xfrm>
          <a:prstGeom prst="rect">
            <a:avLst/>
          </a:prstGeom>
          <a:noFill/>
          <a:ln/>
        </p:spPr>
        <p:txBody>
          <a:bodyPr wrap="square" rtlCol="0" anchor="ctr"/>
          <a:lstStyle/>
          <a:p>
            <a:pPr marL="0" indent="0">
              <a:buNone/>
            </a:pPr>
            <a:r>
              <a:rPr lang="en-US" sz="1250" dirty="0">
                <a:solidFill>
                  <a:srgbClr val="1A2B3C"/>
                </a:solidFill>
                <a:latin typeface="Calibri" pitchFamily="34" charset="0"/>
                <a:ea typeface="Calibri" pitchFamily="34" charset="-122"/>
                <a:cs typeface="Calibri" pitchFamily="34" charset="-120"/>
              </a:rPr>
              <a:t>14.8 → 13</a:t>
            </a:r>
            <a:endParaRPr lang="en-US" sz="1250" dirty="0"/>
          </a:p>
        </p:txBody>
      </p:sp>
      <p:sp>
        <p:nvSpPr>
          <p:cNvPr id="27" name="Text 24"/>
          <p:cNvSpPr/>
          <p:nvPr/>
        </p:nvSpPr>
        <p:spPr>
          <a:xfrm>
            <a:off x="6689344" y="3971544"/>
            <a:ext cx="2011680" cy="292608"/>
          </a:xfrm>
          <a:prstGeom prst="rect">
            <a:avLst/>
          </a:prstGeom>
          <a:noFill/>
          <a:ln/>
        </p:spPr>
        <p:txBody>
          <a:bodyPr wrap="square" rtlCol="0" anchor="ctr"/>
          <a:lstStyle/>
          <a:p>
            <a:pPr marL="0" indent="0">
              <a:buNone/>
            </a:pPr>
            <a:r>
              <a:rPr lang="en-US" sz="1300" b="1" dirty="0">
                <a:solidFill>
                  <a:srgbClr val="028090"/>
                </a:solidFill>
                <a:latin typeface="Calibri" pitchFamily="34" charset="0"/>
                <a:ea typeface="Calibri" pitchFamily="34" charset="-122"/>
                <a:cs typeface="Calibri" pitchFamily="34" charset="-120"/>
              </a:rPr>
              <a:t>▼ 12.2% improvement</a:t>
            </a:r>
            <a:endParaRPr lang="en-US" sz="1300" dirty="0"/>
          </a:p>
        </p:txBody>
      </p:sp>
      <p:sp>
        <p:nvSpPr>
          <p:cNvPr id="28" name="Shape 25"/>
          <p:cNvSpPr/>
          <p:nvPr/>
        </p:nvSpPr>
        <p:spPr>
          <a:xfrm>
            <a:off x="274320" y="4507484"/>
            <a:ext cx="8595360" cy="502920"/>
          </a:xfrm>
          <a:prstGeom prst="rect">
            <a:avLst/>
          </a:prstGeom>
          <a:solidFill>
            <a:srgbClr val="0A1A2A"/>
          </a:solidFill>
          <a:ln w="12700">
            <a:solidFill>
              <a:srgbClr val="0A1A2A"/>
            </a:solidFill>
            <a:prstDash val="solid"/>
          </a:ln>
        </p:spPr>
        <p:txBody>
          <a:bodyPr/>
          <a:lstStyle/>
          <a:p>
            <a:endParaRPr lang="en-CN"/>
          </a:p>
        </p:txBody>
      </p:sp>
      <p:sp>
        <p:nvSpPr>
          <p:cNvPr id="29" name="Text 26"/>
          <p:cNvSpPr/>
          <p:nvPr/>
        </p:nvSpPr>
        <p:spPr>
          <a:xfrm>
            <a:off x="274320" y="4524249"/>
            <a:ext cx="8595360" cy="502920"/>
          </a:xfrm>
          <a:prstGeom prst="rect">
            <a:avLst/>
          </a:prstGeom>
          <a:noFill/>
          <a:ln/>
        </p:spPr>
        <p:txBody>
          <a:bodyPr wrap="square" rtlCol="0" anchor="ctr"/>
          <a:lstStyle/>
          <a:p>
            <a:pPr marL="0" indent="0" algn="ctr">
              <a:buNone/>
            </a:pPr>
            <a:r>
              <a:rPr lang="en-US" sz="1400" b="1" dirty="0">
                <a:solidFill>
                  <a:schemeClr val="bg1"/>
                </a:solidFill>
                <a:latin typeface="Arial" panose="020B0604020202020204" pitchFamily="34" charset="0"/>
                <a:ea typeface="Calibri" pitchFamily="34" charset="-122"/>
                <a:cs typeface="Arial" panose="020B0604020202020204" pitchFamily="34" charset="0"/>
              </a:rPr>
              <a:t>Social media NLP signals (52,866 Reddit shortage posts) provide leading indicator advantage，</a:t>
            </a:r>
          </a:p>
          <a:p>
            <a:pPr marL="0" indent="0" algn="ctr">
              <a:buNone/>
            </a:pPr>
            <a:r>
              <a:rPr lang="en-US" sz="1400" b="1" dirty="0">
                <a:solidFill>
                  <a:schemeClr val="bg1"/>
                </a:solidFill>
                <a:latin typeface="Arial" panose="020B0604020202020204" pitchFamily="34" charset="0"/>
                <a:ea typeface="Calibri" pitchFamily="34" charset="-122"/>
                <a:cs typeface="Arial" panose="020B0604020202020204" pitchFamily="34" charset="0"/>
              </a:rPr>
              <a:t>consistently outperforming all Rx-data-only baselines across every metric</a:t>
            </a:r>
            <a:endParaRPr lang="en-US" sz="1400" dirty="0">
              <a:solidFill>
                <a:schemeClr val="bg1"/>
              </a:solidFill>
              <a:latin typeface="Arial" panose="020B0604020202020204" pitchFamily="34" charset="0"/>
              <a:cs typeface="Arial" panose="020B060402020202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66928"/>
          </a:xfrm>
          <a:prstGeom prst="rect">
            <a:avLst/>
          </a:prstGeom>
          <a:noFill/>
          <a:ln/>
        </p:spPr>
        <p:txBody>
          <a:bodyPr wrap="square" lIns="0" tIns="0" rIns="0" bIns="0" rtlCol="0" anchor="ctr"/>
          <a:lstStyle/>
          <a:p>
            <a:pPr marL="0" indent="0">
              <a:buNone/>
            </a:pPr>
            <a:r>
              <a:rPr lang="en-US" sz="2400" b="1" dirty="0">
                <a:solidFill>
                  <a:srgbClr val="0D2137"/>
                </a:solidFill>
                <a:latin typeface="Calibri" pitchFamily="34" charset="0"/>
                <a:ea typeface="Calibri" pitchFamily="34" charset="-122"/>
                <a:cs typeface="Calibri" pitchFamily="34" charset="-120"/>
              </a:rPr>
              <a:t>PART 2 — Medical RAG: Problem &amp; Motivation</a:t>
            </a:r>
            <a:endParaRPr lang="en-US" sz="2400" dirty="0"/>
          </a:p>
        </p:txBody>
      </p:sp>
      <p:sp>
        <p:nvSpPr>
          <p:cNvPr id="3" name="Shape 1"/>
          <p:cNvSpPr/>
          <p:nvPr/>
        </p:nvSpPr>
        <p:spPr>
          <a:xfrm>
            <a:off x="457200" y="795528"/>
            <a:ext cx="8229600" cy="0"/>
          </a:xfrm>
          <a:prstGeom prst="line">
            <a:avLst/>
          </a:prstGeom>
          <a:noFill/>
          <a:ln w="25400">
            <a:solidFill>
              <a:srgbClr val="028090"/>
            </a:solidFill>
            <a:prstDash val="solid"/>
          </a:ln>
        </p:spPr>
        <p:txBody>
          <a:bodyPr/>
          <a:lstStyle/>
          <a:p>
            <a:endParaRPr lang="en-CN"/>
          </a:p>
        </p:txBody>
      </p:sp>
      <p:sp>
        <p:nvSpPr>
          <p:cNvPr id="4" name="Shape 2"/>
          <p:cNvSpPr/>
          <p:nvPr/>
        </p:nvSpPr>
        <p:spPr>
          <a:xfrm>
            <a:off x="347472" y="932688"/>
            <a:ext cx="8449056" cy="1005840"/>
          </a:xfrm>
          <a:prstGeom prst="rect">
            <a:avLst/>
          </a:prstGeom>
          <a:solidFill>
            <a:srgbClr val="E8F4F8"/>
          </a:solidFill>
          <a:ln w="12700">
            <a:solidFill>
              <a:srgbClr val="D0E4EC"/>
            </a:solidFill>
            <a:prstDash val="solid"/>
          </a:ln>
          <a:effectLst>
            <a:outerShdw blurRad="76200" dist="25400" dir="8100000" algn="bl" rotWithShape="0">
              <a:srgbClr val="000000">
                <a:alpha val="12000"/>
              </a:srgbClr>
            </a:outerShdw>
          </a:effectLst>
        </p:spPr>
        <p:txBody>
          <a:bodyPr/>
          <a:lstStyle/>
          <a:p>
            <a:endParaRPr lang="en-CN"/>
          </a:p>
        </p:txBody>
      </p:sp>
      <p:sp>
        <p:nvSpPr>
          <p:cNvPr id="5" name="Text 3"/>
          <p:cNvSpPr/>
          <p:nvPr/>
        </p:nvSpPr>
        <p:spPr>
          <a:xfrm>
            <a:off x="530352" y="960120"/>
            <a:ext cx="8083296" cy="365760"/>
          </a:xfrm>
          <a:prstGeom prst="rect">
            <a:avLst/>
          </a:prstGeom>
          <a:noFill/>
          <a:ln/>
        </p:spPr>
        <p:txBody>
          <a:bodyPr wrap="square" rtlCol="0" anchor="ctr"/>
          <a:lstStyle/>
          <a:p>
            <a:pPr marL="0" indent="0">
              <a:buNone/>
            </a:pPr>
            <a:r>
              <a:rPr lang="en-US" b="1" dirty="0">
                <a:solidFill>
                  <a:srgbClr val="0D2137"/>
                </a:solidFill>
                <a:latin typeface="Calibri" pitchFamily="34" charset="0"/>
                <a:ea typeface="Calibri" pitchFamily="34" charset="-122"/>
                <a:cs typeface="Calibri" pitchFamily="34" charset="-120"/>
              </a:rPr>
              <a:t>Context: Refractive Surgery Post-Operative Care (LASIK · PRK · SMILE)</a:t>
            </a:r>
            <a:endParaRPr lang="en-US" dirty="0"/>
          </a:p>
        </p:txBody>
      </p:sp>
      <p:sp>
        <p:nvSpPr>
          <p:cNvPr id="6" name="Text 4"/>
          <p:cNvSpPr/>
          <p:nvPr/>
        </p:nvSpPr>
        <p:spPr>
          <a:xfrm>
            <a:off x="530352" y="1344168"/>
            <a:ext cx="8284464" cy="512064"/>
          </a:xfrm>
          <a:prstGeom prst="rect">
            <a:avLst/>
          </a:prstGeom>
          <a:noFill/>
          <a:ln/>
        </p:spPr>
        <p:txBody>
          <a:bodyPr wrap="square" rtlCol="0" anchor="ctr"/>
          <a:lstStyle/>
          <a:p>
            <a:pPr marL="0" indent="0">
              <a:buNone/>
            </a:pPr>
            <a:r>
              <a:rPr lang="en-US" sz="1400" dirty="0">
                <a:solidFill>
                  <a:srgbClr val="1A2B3C"/>
                </a:solidFill>
                <a:latin typeface="Calibri" pitchFamily="34" charset="0"/>
                <a:ea typeface="Calibri" pitchFamily="34" charset="-122"/>
                <a:cs typeface="Calibri" pitchFamily="34" charset="-120"/>
              </a:rPr>
              <a:t>Physicians frequently answer the same recovery, complication &amp; procedure questions. General LLMs hallucinate specifics or cite discontinued techniques based on the limitation of model</a:t>
            </a:r>
            <a:endParaRPr lang="en-US" sz="1400" dirty="0"/>
          </a:p>
        </p:txBody>
      </p:sp>
      <p:sp>
        <p:nvSpPr>
          <p:cNvPr id="7" name="Shape 5"/>
          <p:cNvSpPr/>
          <p:nvPr/>
        </p:nvSpPr>
        <p:spPr>
          <a:xfrm>
            <a:off x="347472" y="2121408"/>
            <a:ext cx="1938528" cy="2226564"/>
          </a:xfrm>
          <a:prstGeom prst="rect">
            <a:avLst/>
          </a:prstGeom>
          <a:solidFill>
            <a:srgbClr val="F0F6FA"/>
          </a:solidFill>
          <a:ln w="12700">
            <a:solidFill>
              <a:srgbClr val="D0E4EC"/>
            </a:solidFill>
            <a:prstDash val="solid"/>
          </a:ln>
          <a:effectLst>
            <a:outerShdw blurRad="76200" dist="25400" dir="8100000" algn="bl" rotWithShape="0">
              <a:srgbClr val="000000">
                <a:alpha val="12000"/>
              </a:srgbClr>
            </a:outerShdw>
          </a:effectLst>
        </p:spPr>
        <p:txBody>
          <a:bodyPr/>
          <a:lstStyle/>
          <a:p>
            <a:endParaRPr lang="en-CN"/>
          </a:p>
        </p:txBody>
      </p:sp>
      <p:sp>
        <p:nvSpPr>
          <p:cNvPr id="9" name="Text 7"/>
          <p:cNvSpPr/>
          <p:nvPr/>
        </p:nvSpPr>
        <p:spPr>
          <a:xfrm>
            <a:off x="1088136" y="2240280"/>
            <a:ext cx="457200" cy="457200"/>
          </a:xfrm>
          <a:prstGeom prst="rect">
            <a:avLst/>
          </a:prstGeom>
          <a:noFill/>
          <a:ln/>
        </p:spPr>
        <p:txBody>
          <a:bodyPr wrap="square" rtlCol="0" anchor="ctr"/>
          <a:lstStyle/>
          <a:p>
            <a:pPr marL="0" indent="0" algn="ctr">
              <a:buNone/>
            </a:pPr>
            <a:endParaRPr lang="en-US" sz="1500" dirty="0"/>
          </a:p>
        </p:txBody>
      </p:sp>
      <p:sp>
        <p:nvSpPr>
          <p:cNvPr id="10" name="Text 8"/>
          <p:cNvSpPr/>
          <p:nvPr/>
        </p:nvSpPr>
        <p:spPr>
          <a:xfrm>
            <a:off x="347472" y="2798064"/>
            <a:ext cx="1938528" cy="347472"/>
          </a:xfrm>
          <a:prstGeom prst="rect">
            <a:avLst/>
          </a:prstGeom>
          <a:noFill/>
          <a:ln/>
        </p:spPr>
        <p:txBody>
          <a:bodyPr wrap="square" rtlCol="0" anchor="ctr"/>
          <a:lstStyle/>
          <a:p>
            <a:pPr marL="0" indent="0" algn="ctr">
              <a:buNone/>
            </a:pPr>
            <a:endParaRPr lang="en-US" sz="1300" dirty="0"/>
          </a:p>
        </p:txBody>
      </p:sp>
      <p:sp>
        <p:nvSpPr>
          <p:cNvPr id="11" name="Text 9"/>
          <p:cNvSpPr/>
          <p:nvPr/>
        </p:nvSpPr>
        <p:spPr>
          <a:xfrm>
            <a:off x="420624" y="2720340"/>
            <a:ext cx="1755648" cy="1463040"/>
          </a:xfrm>
          <a:prstGeom prst="rect">
            <a:avLst/>
          </a:prstGeom>
          <a:noFill/>
          <a:ln/>
        </p:spPr>
        <p:txBody>
          <a:bodyPr wrap="square" rtlCol="0" anchor="ctr"/>
          <a:lstStyle/>
          <a:p>
            <a:pPr marL="0" indent="0" algn="ctr">
              <a:buNone/>
            </a:pPr>
            <a:r>
              <a:rPr lang="en-US" sz="1400" dirty="0">
                <a:solidFill>
                  <a:srgbClr val="5A7080"/>
                </a:solidFill>
                <a:latin typeface="Calibri" pitchFamily="34" charset="0"/>
                <a:ea typeface="Calibri" pitchFamily="34" charset="-122"/>
                <a:cs typeface="Calibri" pitchFamily="34" charset="-120"/>
              </a:rPr>
              <a:t>Grounded in AAO Preferred</a:t>
            </a:r>
            <a:endParaRPr lang="en-US" sz="1400" dirty="0"/>
          </a:p>
          <a:p>
            <a:pPr marL="0" indent="0" algn="ctr">
              <a:buNone/>
            </a:pPr>
            <a:r>
              <a:rPr lang="en-US" sz="1400" dirty="0">
                <a:solidFill>
                  <a:srgbClr val="5A7080"/>
                </a:solidFill>
                <a:latin typeface="Calibri" pitchFamily="34" charset="0"/>
                <a:ea typeface="Calibri" pitchFamily="34" charset="-122"/>
                <a:cs typeface="Calibri" pitchFamily="34" charset="-120"/>
              </a:rPr>
              <a:t>Practice Patterns (PPP 2024) and related notebook </a:t>
            </a:r>
            <a:endParaRPr lang="en-US" sz="1400" dirty="0"/>
          </a:p>
        </p:txBody>
      </p:sp>
      <p:sp>
        <p:nvSpPr>
          <p:cNvPr id="12" name="Shape 10"/>
          <p:cNvSpPr/>
          <p:nvPr/>
        </p:nvSpPr>
        <p:spPr>
          <a:xfrm>
            <a:off x="2523744" y="2121408"/>
            <a:ext cx="1938528" cy="2226564"/>
          </a:xfrm>
          <a:prstGeom prst="rect">
            <a:avLst/>
          </a:prstGeom>
          <a:solidFill>
            <a:srgbClr val="F0F6FA"/>
          </a:solidFill>
          <a:ln w="12700">
            <a:solidFill>
              <a:srgbClr val="D0E4EC"/>
            </a:solidFill>
            <a:prstDash val="solid"/>
          </a:ln>
          <a:effectLst>
            <a:outerShdw blurRad="76200" dist="25400" dir="8100000" algn="bl" rotWithShape="0">
              <a:srgbClr val="000000">
                <a:alpha val="12000"/>
              </a:srgbClr>
            </a:outerShdw>
          </a:effectLst>
        </p:spPr>
        <p:txBody>
          <a:bodyPr/>
          <a:lstStyle/>
          <a:p>
            <a:endParaRPr lang="en-CN"/>
          </a:p>
        </p:txBody>
      </p:sp>
      <p:sp>
        <p:nvSpPr>
          <p:cNvPr id="16" name="Text 14"/>
          <p:cNvSpPr/>
          <p:nvPr/>
        </p:nvSpPr>
        <p:spPr>
          <a:xfrm>
            <a:off x="2513694" y="2690798"/>
            <a:ext cx="1948577" cy="1463040"/>
          </a:xfrm>
          <a:prstGeom prst="rect">
            <a:avLst/>
          </a:prstGeom>
          <a:noFill/>
          <a:ln/>
        </p:spPr>
        <p:txBody>
          <a:bodyPr wrap="square" rtlCol="0" anchor="ctr"/>
          <a:lstStyle/>
          <a:p>
            <a:pPr marL="285750" indent="-285750" algn="ctr">
              <a:buFont typeface="Arial" panose="020B0604020202020204" pitchFamily="34" charset="0"/>
              <a:buChar char="•"/>
            </a:pPr>
            <a:r>
              <a:rPr lang="en-US" sz="1400" dirty="0">
                <a:solidFill>
                  <a:srgbClr val="5A7080"/>
                </a:solidFill>
                <a:latin typeface="Calibri" pitchFamily="34" charset="0"/>
                <a:ea typeface="Calibri" pitchFamily="34" charset="-122"/>
                <a:cs typeface="Calibri" pitchFamily="34" charset="-120"/>
              </a:rPr>
              <a:t>No hallucinated</a:t>
            </a:r>
          </a:p>
          <a:p>
            <a:pPr marL="285750" indent="-285750" algn="ctr">
              <a:buFont typeface="Arial" panose="020B0604020202020204" pitchFamily="34" charset="0"/>
              <a:buChar char="•"/>
            </a:pPr>
            <a:r>
              <a:rPr lang="en-US" sz="1400" dirty="0">
                <a:solidFill>
                  <a:srgbClr val="5A7080"/>
                </a:solidFill>
                <a:latin typeface="Calibri" pitchFamily="34" charset="0"/>
                <a:ea typeface="Calibri" pitchFamily="34" charset="-122"/>
                <a:cs typeface="Calibri" pitchFamily="34" charset="-120"/>
              </a:rPr>
              <a:t> Zero</a:t>
            </a:r>
            <a:r>
              <a:rPr lang="en-US" sz="1400" dirty="0"/>
              <a:t> </a:t>
            </a:r>
            <a:r>
              <a:rPr lang="en-US" sz="1400" dirty="0">
                <a:solidFill>
                  <a:srgbClr val="5A7080"/>
                </a:solidFill>
                <a:latin typeface="Calibri" pitchFamily="34" charset="0"/>
                <a:ea typeface="Calibri" pitchFamily="34" charset="-122"/>
                <a:cs typeface="Calibri" pitchFamily="34" charset="-120"/>
              </a:rPr>
              <a:t>dangerous responses (score=1)</a:t>
            </a:r>
            <a:endParaRPr lang="en-US" sz="1400" dirty="0"/>
          </a:p>
        </p:txBody>
      </p:sp>
      <p:sp>
        <p:nvSpPr>
          <p:cNvPr id="17" name="Shape 15"/>
          <p:cNvSpPr/>
          <p:nvPr/>
        </p:nvSpPr>
        <p:spPr>
          <a:xfrm>
            <a:off x="4700016" y="2121408"/>
            <a:ext cx="1938528" cy="2226564"/>
          </a:xfrm>
          <a:prstGeom prst="rect">
            <a:avLst/>
          </a:prstGeom>
          <a:solidFill>
            <a:srgbClr val="F0F6FA"/>
          </a:solidFill>
          <a:ln w="12700">
            <a:solidFill>
              <a:srgbClr val="D0E4EC"/>
            </a:solidFill>
            <a:prstDash val="solid"/>
          </a:ln>
          <a:effectLst>
            <a:outerShdw blurRad="76200" dist="25400" dir="8100000" algn="bl" rotWithShape="0">
              <a:srgbClr val="000000">
                <a:alpha val="12000"/>
              </a:srgbClr>
            </a:outerShdw>
          </a:effectLst>
        </p:spPr>
        <p:txBody>
          <a:bodyPr/>
          <a:lstStyle/>
          <a:p>
            <a:endParaRPr lang="en-CN"/>
          </a:p>
        </p:txBody>
      </p:sp>
      <p:sp>
        <p:nvSpPr>
          <p:cNvPr id="20" name="Text 18"/>
          <p:cNvSpPr/>
          <p:nvPr/>
        </p:nvSpPr>
        <p:spPr>
          <a:xfrm>
            <a:off x="4700016" y="2798064"/>
            <a:ext cx="1938528" cy="347472"/>
          </a:xfrm>
          <a:prstGeom prst="rect">
            <a:avLst/>
          </a:prstGeom>
          <a:noFill/>
          <a:ln/>
        </p:spPr>
        <p:txBody>
          <a:bodyPr wrap="square" rtlCol="0" anchor="ctr"/>
          <a:lstStyle/>
          <a:p>
            <a:pPr marL="0" indent="0" algn="ctr">
              <a:buNone/>
            </a:pPr>
            <a:endParaRPr lang="en-US" sz="1300" dirty="0"/>
          </a:p>
        </p:txBody>
      </p:sp>
      <p:sp>
        <p:nvSpPr>
          <p:cNvPr id="21" name="Text 19"/>
          <p:cNvSpPr/>
          <p:nvPr/>
        </p:nvSpPr>
        <p:spPr>
          <a:xfrm>
            <a:off x="4689064" y="2728580"/>
            <a:ext cx="1920240" cy="1463040"/>
          </a:xfrm>
          <a:prstGeom prst="rect">
            <a:avLst/>
          </a:prstGeom>
          <a:noFill/>
          <a:ln/>
        </p:spPr>
        <p:txBody>
          <a:bodyPr wrap="square" rtlCol="0" anchor="ctr"/>
          <a:lstStyle/>
          <a:p>
            <a:pPr marL="285750" indent="-285750" algn="ctr">
              <a:buFont typeface="Arial" panose="020B0604020202020204" pitchFamily="34" charset="0"/>
              <a:buChar char="•"/>
            </a:pPr>
            <a:r>
              <a:rPr lang="en-US" sz="1400" dirty="0">
                <a:solidFill>
                  <a:srgbClr val="5A7080"/>
                </a:solidFill>
                <a:latin typeface="Calibri" pitchFamily="34" charset="0"/>
                <a:ea typeface="Calibri" pitchFamily="34" charset="-122"/>
                <a:cs typeface="Calibri" pitchFamily="34" charset="-120"/>
              </a:rPr>
              <a:t>Patient-appropriate language</a:t>
            </a:r>
          </a:p>
          <a:p>
            <a:pPr marL="285750" indent="-285750">
              <a:buFont typeface="Arial" panose="020B0604020202020204" pitchFamily="34" charset="0"/>
              <a:buChar char="•"/>
            </a:pPr>
            <a:r>
              <a:rPr lang="en-US" sz="1400" dirty="0">
                <a:solidFill>
                  <a:srgbClr val="5A7080"/>
                </a:solidFill>
                <a:latin typeface="Calibri" pitchFamily="34" charset="0"/>
                <a:ea typeface="Calibri" pitchFamily="34" charset="-122"/>
                <a:cs typeface="Calibri" pitchFamily="34" charset="-120"/>
              </a:rPr>
              <a:t>Compassionate medical persona</a:t>
            </a:r>
            <a:endParaRPr lang="en-US" sz="1400" dirty="0"/>
          </a:p>
        </p:txBody>
      </p:sp>
      <p:sp>
        <p:nvSpPr>
          <p:cNvPr id="22" name="Shape 20"/>
          <p:cNvSpPr/>
          <p:nvPr/>
        </p:nvSpPr>
        <p:spPr>
          <a:xfrm>
            <a:off x="6876288" y="2121408"/>
            <a:ext cx="1938528" cy="2226564"/>
          </a:xfrm>
          <a:prstGeom prst="rect">
            <a:avLst/>
          </a:prstGeom>
          <a:solidFill>
            <a:srgbClr val="F0F6FA"/>
          </a:solidFill>
          <a:ln w="12700">
            <a:solidFill>
              <a:srgbClr val="D0E4EC"/>
            </a:solidFill>
            <a:prstDash val="solid"/>
          </a:ln>
          <a:effectLst>
            <a:outerShdw blurRad="76200" dist="25400" dir="8100000" algn="bl" rotWithShape="0">
              <a:srgbClr val="000000">
                <a:alpha val="12000"/>
              </a:srgbClr>
            </a:outerShdw>
          </a:effectLst>
        </p:spPr>
        <p:txBody>
          <a:bodyPr/>
          <a:lstStyle/>
          <a:p>
            <a:endParaRPr lang="en-CN"/>
          </a:p>
        </p:txBody>
      </p:sp>
      <p:sp>
        <p:nvSpPr>
          <p:cNvPr id="24" name="Text 22"/>
          <p:cNvSpPr/>
          <p:nvPr/>
        </p:nvSpPr>
        <p:spPr>
          <a:xfrm>
            <a:off x="7616952" y="2240280"/>
            <a:ext cx="457200" cy="457200"/>
          </a:xfrm>
          <a:prstGeom prst="rect">
            <a:avLst/>
          </a:prstGeom>
          <a:noFill/>
          <a:ln/>
        </p:spPr>
        <p:txBody>
          <a:bodyPr wrap="square" rtlCol="0" anchor="ctr"/>
          <a:lstStyle/>
          <a:p>
            <a:pPr marL="0" indent="0" algn="ctr">
              <a:buNone/>
            </a:pPr>
            <a:endParaRPr lang="en-US" sz="1500" dirty="0"/>
          </a:p>
        </p:txBody>
      </p:sp>
      <p:sp>
        <p:nvSpPr>
          <p:cNvPr id="25" name="Text 23"/>
          <p:cNvSpPr/>
          <p:nvPr/>
        </p:nvSpPr>
        <p:spPr>
          <a:xfrm>
            <a:off x="6876288" y="2798064"/>
            <a:ext cx="1938528" cy="347472"/>
          </a:xfrm>
          <a:prstGeom prst="rect">
            <a:avLst/>
          </a:prstGeom>
          <a:noFill/>
          <a:ln/>
        </p:spPr>
        <p:txBody>
          <a:bodyPr wrap="square" rtlCol="0" anchor="ctr"/>
          <a:lstStyle/>
          <a:p>
            <a:pPr marL="0" indent="0" algn="ctr">
              <a:buNone/>
            </a:pPr>
            <a:endParaRPr lang="en-US" sz="1300" dirty="0"/>
          </a:p>
        </p:txBody>
      </p:sp>
      <p:sp>
        <p:nvSpPr>
          <p:cNvPr id="26" name="Text 24"/>
          <p:cNvSpPr/>
          <p:nvPr/>
        </p:nvSpPr>
        <p:spPr>
          <a:xfrm>
            <a:off x="6974161" y="2779776"/>
            <a:ext cx="1755648" cy="1463040"/>
          </a:xfrm>
          <a:prstGeom prst="rect">
            <a:avLst/>
          </a:prstGeom>
          <a:noFill/>
          <a:ln/>
        </p:spPr>
        <p:txBody>
          <a:bodyPr wrap="square" rtlCol="0" anchor="ctr"/>
          <a:lstStyle/>
          <a:p>
            <a:pPr marL="0" indent="0" algn="ctr">
              <a:buNone/>
            </a:pPr>
            <a:r>
              <a:rPr lang="en-US" sz="1400" dirty="0">
                <a:solidFill>
                  <a:srgbClr val="5A7080"/>
                </a:solidFill>
                <a:latin typeface="Calibri" pitchFamily="34" charset="0"/>
                <a:ea typeface="Calibri" pitchFamily="34" charset="-122"/>
                <a:cs typeface="Calibri" pitchFamily="34" charset="-120"/>
              </a:rPr>
              <a:t>Source attribution to specific</a:t>
            </a:r>
            <a:endParaRPr lang="en-US" sz="1400" dirty="0"/>
          </a:p>
          <a:p>
            <a:pPr marL="0" indent="0" algn="ctr">
              <a:buNone/>
            </a:pPr>
            <a:r>
              <a:rPr lang="en-US" sz="1400" dirty="0">
                <a:solidFill>
                  <a:srgbClr val="5A7080"/>
                </a:solidFill>
                <a:latin typeface="Calibri" pitchFamily="34" charset="0"/>
                <a:ea typeface="Calibri" pitchFamily="34" charset="-122"/>
                <a:cs typeface="Calibri" pitchFamily="34" charset="-120"/>
              </a:rPr>
              <a:t>guideline &amp; book</a:t>
            </a:r>
            <a:endParaRPr lang="en-US" sz="1400" dirty="0"/>
          </a:p>
        </p:txBody>
      </p:sp>
      <p:sp>
        <p:nvSpPr>
          <p:cNvPr id="27" name="Shape 25"/>
          <p:cNvSpPr/>
          <p:nvPr/>
        </p:nvSpPr>
        <p:spPr>
          <a:xfrm>
            <a:off x="339232" y="4576572"/>
            <a:ext cx="8457296" cy="498348"/>
          </a:xfrm>
          <a:prstGeom prst="rect">
            <a:avLst/>
          </a:prstGeom>
          <a:solidFill>
            <a:srgbClr val="E76F51"/>
          </a:solidFill>
          <a:ln w="12700">
            <a:solidFill>
              <a:srgbClr val="E76F51"/>
            </a:solidFill>
            <a:prstDash val="solid"/>
          </a:ln>
        </p:spPr>
        <p:txBody>
          <a:bodyPr/>
          <a:lstStyle/>
          <a:p>
            <a:endParaRPr lang="en-CN"/>
          </a:p>
        </p:txBody>
      </p:sp>
      <p:sp>
        <p:nvSpPr>
          <p:cNvPr id="28" name="Text 26"/>
          <p:cNvSpPr/>
          <p:nvPr/>
        </p:nvSpPr>
        <p:spPr>
          <a:xfrm>
            <a:off x="339232" y="4576572"/>
            <a:ext cx="8573656" cy="498348"/>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Solution: RAG + LLM → traceable, safe patient answers</a:t>
            </a:r>
            <a:endParaRPr lang="en-US" sz="1600" dirty="0"/>
          </a:p>
        </p:txBody>
      </p:sp>
      <p:sp>
        <p:nvSpPr>
          <p:cNvPr id="29" name="Shape 7">
            <a:extLst>
              <a:ext uri="{FF2B5EF4-FFF2-40B4-BE49-F238E27FC236}">
                <a16:creationId xmlns:a16="http://schemas.microsoft.com/office/drawing/2014/main" id="{9016034F-B9DA-5205-05D4-41907FC8C6CC}"/>
              </a:ext>
            </a:extLst>
          </p:cNvPr>
          <p:cNvSpPr/>
          <p:nvPr/>
        </p:nvSpPr>
        <p:spPr>
          <a:xfrm>
            <a:off x="339232" y="2121408"/>
            <a:ext cx="1956817" cy="420625"/>
          </a:xfrm>
          <a:prstGeom prst="rect">
            <a:avLst/>
          </a:prstGeom>
          <a:solidFill>
            <a:srgbClr val="E76F51"/>
          </a:solidFill>
          <a:ln w="12700">
            <a:solidFill>
              <a:srgbClr val="E76F51"/>
            </a:solidFill>
            <a:prstDash val="solid"/>
          </a:ln>
          <a:effectLst>
            <a:outerShdw blurRad="76200" dist="25400" dir="8100000" algn="bl" rotWithShape="0">
              <a:srgbClr val="000000">
                <a:alpha val="12000"/>
              </a:srgbClr>
            </a:outerShdw>
          </a:effectLst>
        </p:spPr>
        <p:txBody>
          <a:bodyPr/>
          <a:lstStyle/>
          <a:p>
            <a:endParaRPr lang="en-CN"/>
          </a:p>
        </p:txBody>
      </p:sp>
      <p:sp>
        <p:nvSpPr>
          <p:cNvPr id="30" name="Text 7">
            <a:extLst>
              <a:ext uri="{FF2B5EF4-FFF2-40B4-BE49-F238E27FC236}">
                <a16:creationId xmlns:a16="http://schemas.microsoft.com/office/drawing/2014/main" id="{B518DD78-1C90-FC6D-E667-6FA6C38492FF}"/>
              </a:ext>
            </a:extLst>
          </p:cNvPr>
          <p:cNvSpPr/>
          <p:nvPr/>
        </p:nvSpPr>
        <p:spPr>
          <a:xfrm>
            <a:off x="356615" y="2154366"/>
            <a:ext cx="1920240" cy="347472"/>
          </a:xfrm>
          <a:prstGeom prst="rect">
            <a:avLst/>
          </a:prstGeom>
          <a:noFill/>
          <a:ln/>
        </p:spPr>
        <p:txBody>
          <a:bodyPr wrap="square" rtlCol="0" anchor="ctr"/>
          <a:lstStyle/>
          <a:p>
            <a:pPr algn="ctr"/>
            <a:r>
              <a:rPr lang="en-US" sz="1600" b="1" dirty="0">
                <a:solidFill>
                  <a:schemeClr val="bg1"/>
                </a:solidFill>
                <a:latin typeface="Calibri" pitchFamily="34" charset="0"/>
                <a:ea typeface="Calibri" pitchFamily="34" charset="-122"/>
                <a:cs typeface="Calibri" pitchFamily="34" charset="-120"/>
              </a:rPr>
              <a:t>Field-Specific</a:t>
            </a:r>
            <a:endParaRPr lang="en-US" sz="1600" dirty="0">
              <a:solidFill>
                <a:schemeClr val="bg1"/>
              </a:solidFill>
            </a:endParaRPr>
          </a:p>
        </p:txBody>
      </p:sp>
      <p:sp>
        <p:nvSpPr>
          <p:cNvPr id="31" name="Shape 7">
            <a:extLst>
              <a:ext uri="{FF2B5EF4-FFF2-40B4-BE49-F238E27FC236}">
                <a16:creationId xmlns:a16="http://schemas.microsoft.com/office/drawing/2014/main" id="{83BF88AD-A917-4E68-35DA-A3DEE8F81814}"/>
              </a:ext>
            </a:extLst>
          </p:cNvPr>
          <p:cNvSpPr/>
          <p:nvPr/>
        </p:nvSpPr>
        <p:spPr>
          <a:xfrm>
            <a:off x="2514599" y="2121408"/>
            <a:ext cx="1956817" cy="420625"/>
          </a:xfrm>
          <a:prstGeom prst="rect">
            <a:avLst/>
          </a:prstGeom>
          <a:solidFill>
            <a:srgbClr val="E76F51"/>
          </a:solidFill>
          <a:ln w="12700">
            <a:solidFill>
              <a:srgbClr val="E76F51"/>
            </a:solidFill>
            <a:prstDash val="solid"/>
          </a:ln>
          <a:effectLst>
            <a:outerShdw blurRad="76200" dist="25400" dir="8100000" algn="bl" rotWithShape="0">
              <a:srgbClr val="000000">
                <a:alpha val="12000"/>
              </a:srgbClr>
            </a:outerShdw>
          </a:effectLst>
        </p:spPr>
        <p:txBody>
          <a:bodyPr/>
          <a:lstStyle/>
          <a:p>
            <a:endParaRPr lang="en-CN"/>
          </a:p>
        </p:txBody>
      </p:sp>
      <p:sp>
        <p:nvSpPr>
          <p:cNvPr id="32" name="Shape 7">
            <a:extLst>
              <a:ext uri="{FF2B5EF4-FFF2-40B4-BE49-F238E27FC236}">
                <a16:creationId xmlns:a16="http://schemas.microsoft.com/office/drawing/2014/main" id="{9016034F-B9DA-5205-05D4-41907FC8C6CC}"/>
              </a:ext>
            </a:extLst>
          </p:cNvPr>
          <p:cNvSpPr/>
          <p:nvPr/>
        </p:nvSpPr>
        <p:spPr>
          <a:xfrm>
            <a:off x="4689064" y="2125075"/>
            <a:ext cx="1956817" cy="420625"/>
          </a:xfrm>
          <a:prstGeom prst="rect">
            <a:avLst/>
          </a:prstGeom>
          <a:solidFill>
            <a:srgbClr val="E76F51"/>
          </a:solidFill>
          <a:ln w="12700">
            <a:solidFill>
              <a:srgbClr val="E76F51"/>
            </a:solidFill>
            <a:prstDash val="solid"/>
          </a:ln>
          <a:effectLst>
            <a:outerShdw blurRad="76200" dist="25400" dir="8100000" algn="bl" rotWithShape="0">
              <a:srgbClr val="000000">
                <a:alpha val="12000"/>
              </a:srgbClr>
            </a:outerShdw>
          </a:effectLst>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N"/>
          </a:p>
        </p:txBody>
      </p:sp>
      <p:sp>
        <p:nvSpPr>
          <p:cNvPr id="33" name="Shape 7">
            <a:extLst>
              <a:ext uri="{FF2B5EF4-FFF2-40B4-BE49-F238E27FC236}">
                <a16:creationId xmlns:a16="http://schemas.microsoft.com/office/drawing/2014/main" id="{89786279-40FA-E38F-50A1-A336146270CB}"/>
              </a:ext>
            </a:extLst>
          </p:cNvPr>
          <p:cNvSpPr/>
          <p:nvPr/>
        </p:nvSpPr>
        <p:spPr>
          <a:xfrm>
            <a:off x="6873577" y="2125075"/>
            <a:ext cx="1956817" cy="420625"/>
          </a:xfrm>
          <a:prstGeom prst="rect">
            <a:avLst/>
          </a:prstGeom>
          <a:solidFill>
            <a:srgbClr val="E76F51"/>
          </a:solidFill>
          <a:ln w="12700">
            <a:solidFill>
              <a:srgbClr val="E76F51"/>
            </a:solidFill>
            <a:prstDash val="solid"/>
          </a:ln>
          <a:effectLst>
            <a:outerShdw blurRad="76200" dist="25400" dir="8100000" algn="bl" rotWithShape="0">
              <a:srgbClr val="000000">
                <a:alpha val="12000"/>
              </a:srgbClr>
            </a:outerShdw>
          </a:effectLst>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N"/>
          </a:p>
        </p:txBody>
      </p:sp>
      <p:sp>
        <p:nvSpPr>
          <p:cNvPr id="34" name="Text 7">
            <a:extLst>
              <a:ext uri="{FF2B5EF4-FFF2-40B4-BE49-F238E27FC236}">
                <a16:creationId xmlns:a16="http://schemas.microsoft.com/office/drawing/2014/main" id="{50564A4E-FB13-EB34-49AE-0F0CC5E14056}"/>
              </a:ext>
            </a:extLst>
          </p:cNvPr>
          <p:cNvSpPr/>
          <p:nvPr/>
        </p:nvSpPr>
        <p:spPr>
          <a:xfrm>
            <a:off x="2503647" y="2167128"/>
            <a:ext cx="1920240" cy="347472"/>
          </a:xfrm>
          <a:prstGeom prst="rect">
            <a:avLst/>
          </a:prstGeom>
          <a:noFill/>
          <a:ln/>
        </p:spPr>
        <p:txBody>
          <a:bodyPr wrap="square" rtlCol="0" anchor="ctr"/>
          <a:lstStyle/>
          <a:p>
            <a:pPr algn="ctr"/>
            <a:r>
              <a:rPr lang="en-US" sz="1600" b="1" dirty="0">
                <a:solidFill>
                  <a:schemeClr val="bg1"/>
                </a:solidFill>
                <a:latin typeface="Calibri" pitchFamily="34" charset="0"/>
                <a:ea typeface="Calibri" pitchFamily="34" charset="-122"/>
                <a:cs typeface="Calibri" pitchFamily="34" charset="-120"/>
              </a:rPr>
              <a:t>Accuracy</a:t>
            </a:r>
            <a:endParaRPr lang="en-US" sz="1600" dirty="0">
              <a:solidFill>
                <a:schemeClr val="bg1"/>
              </a:solidFill>
            </a:endParaRPr>
          </a:p>
        </p:txBody>
      </p:sp>
      <p:sp>
        <p:nvSpPr>
          <p:cNvPr id="35" name="Text 7">
            <a:extLst>
              <a:ext uri="{FF2B5EF4-FFF2-40B4-BE49-F238E27FC236}">
                <a16:creationId xmlns:a16="http://schemas.microsoft.com/office/drawing/2014/main" id="{BA615BDF-E71C-F05A-4646-86E581021A36}"/>
              </a:ext>
            </a:extLst>
          </p:cNvPr>
          <p:cNvSpPr/>
          <p:nvPr/>
        </p:nvSpPr>
        <p:spPr>
          <a:xfrm>
            <a:off x="4689064" y="2176272"/>
            <a:ext cx="1920240" cy="347472"/>
          </a:xfrm>
          <a:prstGeom prst="rect">
            <a:avLst/>
          </a:prstGeom>
          <a:noFill/>
          <a:ln/>
        </p:spPr>
        <p:txBody>
          <a:bodyPr wrap="square" rtlCol="0" anchor="ctr"/>
          <a:lstStyle/>
          <a:p>
            <a:pPr algn="ctr"/>
            <a:r>
              <a:rPr lang="en-US" sz="1600" b="1" dirty="0">
                <a:solidFill>
                  <a:schemeClr val="bg1"/>
                </a:solidFill>
                <a:latin typeface="Calibri" pitchFamily="34" charset="0"/>
                <a:ea typeface="Calibri" pitchFamily="34" charset="-122"/>
                <a:cs typeface="Calibri" pitchFamily="34" charset="-120"/>
              </a:rPr>
              <a:t>Empathy</a:t>
            </a:r>
            <a:endParaRPr lang="en-US" sz="1600" dirty="0">
              <a:solidFill>
                <a:schemeClr val="bg1"/>
              </a:solidFill>
            </a:endParaRPr>
          </a:p>
        </p:txBody>
      </p:sp>
      <p:sp>
        <p:nvSpPr>
          <p:cNvPr id="36" name="Text 7">
            <a:extLst>
              <a:ext uri="{FF2B5EF4-FFF2-40B4-BE49-F238E27FC236}">
                <a16:creationId xmlns:a16="http://schemas.microsoft.com/office/drawing/2014/main" id="{6ADAAADF-F8B2-4C71-E2B9-F3DD24757FE5}"/>
              </a:ext>
            </a:extLst>
          </p:cNvPr>
          <p:cNvSpPr/>
          <p:nvPr/>
        </p:nvSpPr>
        <p:spPr>
          <a:xfrm>
            <a:off x="6872673" y="2167128"/>
            <a:ext cx="1920240" cy="347472"/>
          </a:xfrm>
          <a:prstGeom prst="rect">
            <a:avLst/>
          </a:prstGeom>
          <a:noFill/>
          <a:ln/>
        </p:spPr>
        <p:txBody>
          <a:bodyPr wrap="square" rtlCol="0" anchor="ctr"/>
          <a:lstStyle/>
          <a:p>
            <a:pPr algn="ctr"/>
            <a:r>
              <a:rPr lang="en-US" sz="1600" b="1" dirty="0">
                <a:solidFill>
                  <a:schemeClr val="bg1"/>
                </a:solidFill>
                <a:latin typeface="Calibri" pitchFamily="34" charset="0"/>
                <a:ea typeface="Calibri" pitchFamily="34" charset="-122"/>
                <a:cs typeface="Calibri" pitchFamily="34" charset="-120"/>
              </a:rPr>
              <a:t>Traceability</a:t>
            </a:r>
            <a:endParaRPr lang="en-US" sz="1600" dirty="0">
              <a:solidFill>
                <a:schemeClr val="bg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66928"/>
          </a:xfrm>
          <a:prstGeom prst="rect">
            <a:avLst/>
          </a:prstGeom>
          <a:noFill/>
          <a:ln/>
        </p:spPr>
        <p:txBody>
          <a:bodyPr wrap="square" lIns="0" tIns="0" rIns="0" bIns="0" rtlCol="0" anchor="ctr"/>
          <a:lstStyle/>
          <a:p>
            <a:pPr marL="0" indent="0">
              <a:buNone/>
            </a:pPr>
            <a:r>
              <a:rPr lang="en-US" sz="2400" b="1" dirty="0">
                <a:solidFill>
                  <a:srgbClr val="0D2137"/>
                </a:solidFill>
                <a:latin typeface="Calibri" pitchFamily="34" charset="0"/>
                <a:ea typeface="Calibri" pitchFamily="34" charset="-122"/>
                <a:cs typeface="Calibri" pitchFamily="34" charset="-120"/>
              </a:rPr>
              <a:t>PART 2 — Medical Document Dataset &amp; Preprocessing</a:t>
            </a:r>
            <a:endParaRPr lang="en-US" sz="2400" dirty="0"/>
          </a:p>
        </p:txBody>
      </p:sp>
      <p:sp>
        <p:nvSpPr>
          <p:cNvPr id="3" name="Shape 1"/>
          <p:cNvSpPr/>
          <p:nvPr/>
        </p:nvSpPr>
        <p:spPr>
          <a:xfrm>
            <a:off x="457200" y="795528"/>
            <a:ext cx="8229600" cy="0"/>
          </a:xfrm>
          <a:prstGeom prst="line">
            <a:avLst/>
          </a:prstGeom>
          <a:noFill/>
          <a:ln w="25400">
            <a:solidFill>
              <a:srgbClr val="028090"/>
            </a:solidFill>
            <a:prstDash val="solid"/>
          </a:ln>
        </p:spPr>
        <p:txBody>
          <a:bodyPr/>
          <a:lstStyle/>
          <a:p>
            <a:endParaRPr lang="en-CN" sz="2400"/>
          </a:p>
        </p:txBody>
      </p:sp>
      <p:sp>
        <p:nvSpPr>
          <p:cNvPr id="4" name="Shape 2"/>
          <p:cNvSpPr/>
          <p:nvPr/>
        </p:nvSpPr>
        <p:spPr>
          <a:xfrm>
            <a:off x="347472" y="932688"/>
            <a:ext cx="3291840" cy="4023360"/>
          </a:xfrm>
          <a:prstGeom prst="rect">
            <a:avLst/>
          </a:prstGeom>
          <a:solidFill>
            <a:srgbClr val="F0F6FA"/>
          </a:solidFill>
          <a:ln w="12700">
            <a:solidFill>
              <a:srgbClr val="D0E4EC"/>
            </a:solidFill>
            <a:prstDash val="solid"/>
          </a:ln>
          <a:effectLst>
            <a:outerShdw blurRad="76200" dist="25400" dir="8100000" algn="bl" rotWithShape="0">
              <a:srgbClr val="000000">
                <a:alpha val="12000"/>
              </a:srgbClr>
            </a:outerShdw>
          </a:effectLst>
        </p:spPr>
        <p:txBody>
          <a:bodyPr/>
          <a:lstStyle/>
          <a:p>
            <a:endParaRPr lang="en-CN" sz="2800"/>
          </a:p>
        </p:txBody>
      </p:sp>
      <p:sp>
        <p:nvSpPr>
          <p:cNvPr id="5" name="Shape 3"/>
          <p:cNvSpPr/>
          <p:nvPr/>
        </p:nvSpPr>
        <p:spPr>
          <a:xfrm>
            <a:off x="347472" y="932688"/>
            <a:ext cx="3291840" cy="384048"/>
          </a:xfrm>
          <a:prstGeom prst="rect">
            <a:avLst/>
          </a:prstGeom>
          <a:solidFill>
            <a:srgbClr val="E76F51"/>
          </a:solidFill>
          <a:ln w="12700">
            <a:solidFill>
              <a:srgbClr val="E76F51"/>
            </a:solidFill>
            <a:prstDash val="solid"/>
          </a:ln>
        </p:spPr>
        <p:txBody>
          <a:bodyPr/>
          <a:lstStyle/>
          <a:p>
            <a:endParaRPr lang="en-CN" sz="2400"/>
          </a:p>
        </p:txBody>
      </p:sp>
      <p:sp>
        <p:nvSpPr>
          <p:cNvPr id="6" name="Text 4"/>
          <p:cNvSpPr/>
          <p:nvPr/>
        </p:nvSpPr>
        <p:spPr>
          <a:xfrm>
            <a:off x="347472" y="950976"/>
            <a:ext cx="3291840" cy="347472"/>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Dataset Statistics</a:t>
            </a:r>
            <a:endParaRPr lang="en-US" sz="1600" dirty="0"/>
          </a:p>
        </p:txBody>
      </p:sp>
      <p:sp>
        <p:nvSpPr>
          <p:cNvPr id="7" name="Text 5"/>
          <p:cNvSpPr/>
          <p:nvPr/>
        </p:nvSpPr>
        <p:spPr>
          <a:xfrm>
            <a:off x="420624" y="1426464"/>
            <a:ext cx="1188720" cy="402336"/>
          </a:xfrm>
          <a:prstGeom prst="rect">
            <a:avLst/>
          </a:prstGeom>
          <a:noFill/>
          <a:ln/>
        </p:spPr>
        <p:txBody>
          <a:bodyPr wrap="square" rtlCol="0" anchor="ctr"/>
          <a:lstStyle/>
          <a:p>
            <a:pPr marL="0" indent="0" algn="r">
              <a:buNone/>
            </a:pPr>
            <a:r>
              <a:rPr lang="en-US" sz="2000" b="1" dirty="0">
                <a:solidFill>
                  <a:srgbClr val="E76F51"/>
                </a:solidFill>
                <a:latin typeface="Calibri" pitchFamily="34" charset="0"/>
                <a:ea typeface="Calibri" pitchFamily="34" charset="-122"/>
                <a:cs typeface="Calibri" pitchFamily="34" charset="-120"/>
              </a:rPr>
              <a:t>800</a:t>
            </a:r>
            <a:endParaRPr lang="en-US" sz="2000" dirty="0"/>
          </a:p>
        </p:txBody>
      </p:sp>
      <p:sp>
        <p:nvSpPr>
          <p:cNvPr id="8" name="Text 6"/>
          <p:cNvSpPr/>
          <p:nvPr/>
        </p:nvSpPr>
        <p:spPr>
          <a:xfrm>
            <a:off x="1691640" y="1463040"/>
            <a:ext cx="1828800" cy="402336"/>
          </a:xfrm>
          <a:prstGeom prst="rect">
            <a:avLst/>
          </a:prstGeom>
          <a:noFill/>
          <a:ln/>
        </p:spPr>
        <p:txBody>
          <a:bodyPr wrap="square" rtlCol="0" anchor="ctr"/>
          <a:lstStyle/>
          <a:p>
            <a:pPr marL="0" indent="0">
              <a:buNone/>
            </a:pPr>
            <a:r>
              <a:rPr lang="en-US" sz="1200" dirty="0">
                <a:solidFill>
                  <a:srgbClr val="1A2B3C"/>
                </a:solidFill>
                <a:latin typeface="Calibri" pitchFamily="34" charset="0"/>
                <a:ea typeface="Calibri" pitchFamily="34" charset="-122"/>
                <a:cs typeface="Calibri" pitchFamily="34" charset="-120"/>
              </a:rPr>
              <a:t>Total medical documents (CHINESE)</a:t>
            </a:r>
            <a:endParaRPr lang="en-US" sz="1200" dirty="0"/>
          </a:p>
        </p:txBody>
      </p:sp>
      <p:sp>
        <p:nvSpPr>
          <p:cNvPr id="9" name="Text 7"/>
          <p:cNvSpPr/>
          <p:nvPr/>
        </p:nvSpPr>
        <p:spPr>
          <a:xfrm>
            <a:off x="420624" y="1929384"/>
            <a:ext cx="1188720" cy="402336"/>
          </a:xfrm>
          <a:prstGeom prst="rect">
            <a:avLst/>
          </a:prstGeom>
          <a:noFill/>
          <a:ln/>
        </p:spPr>
        <p:txBody>
          <a:bodyPr wrap="square" rtlCol="0" anchor="ctr"/>
          <a:lstStyle/>
          <a:p>
            <a:pPr marL="0" indent="0" algn="r">
              <a:buNone/>
            </a:pPr>
            <a:r>
              <a:rPr lang="en-US" sz="2000" b="1" dirty="0">
                <a:solidFill>
                  <a:srgbClr val="E76F51"/>
                </a:solidFill>
                <a:latin typeface="Calibri" pitchFamily="34" charset="0"/>
                <a:ea typeface="Calibri" pitchFamily="34" charset="-122"/>
                <a:cs typeface="Calibri" pitchFamily="34" charset="-120"/>
              </a:rPr>
              <a:t>784</a:t>
            </a:r>
            <a:endParaRPr lang="en-US" sz="2000" dirty="0"/>
          </a:p>
        </p:txBody>
      </p:sp>
      <p:sp>
        <p:nvSpPr>
          <p:cNvPr id="10" name="Text 8"/>
          <p:cNvSpPr/>
          <p:nvPr/>
        </p:nvSpPr>
        <p:spPr>
          <a:xfrm>
            <a:off x="1691640" y="1965960"/>
            <a:ext cx="1828800" cy="402336"/>
          </a:xfrm>
          <a:prstGeom prst="rect">
            <a:avLst/>
          </a:prstGeom>
          <a:noFill/>
          <a:ln/>
        </p:spPr>
        <p:txBody>
          <a:bodyPr wrap="square" rtlCol="0" anchor="ctr"/>
          <a:lstStyle/>
          <a:p>
            <a:pPr marL="0" indent="0">
              <a:buNone/>
            </a:pPr>
            <a:r>
              <a:rPr lang="en-US" sz="1200" dirty="0">
                <a:solidFill>
                  <a:srgbClr val="1A2B3C"/>
                </a:solidFill>
                <a:latin typeface="Calibri" pitchFamily="34" charset="0"/>
                <a:ea typeface="Calibri" pitchFamily="34" charset="-122"/>
                <a:cs typeface="Calibri" pitchFamily="34" charset="-120"/>
              </a:rPr>
              <a:t>PDF files (ophthalmology textbooks + PPP)</a:t>
            </a:r>
            <a:endParaRPr lang="en-US" sz="1200" dirty="0"/>
          </a:p>
        </p:txBody>
      </p:sp>
      <p:sp>
        <p:nvSpPr>
          <p:cNvPr id="11" name="Text 9"/>
          <p:cNvSpPr/>
          <p:nvPr/>
        </p:nvSpPr>
        <p:spPr>
          <a:xfrm>
            <a:off x="420624" y="2432304"/>
            <a:ext cx="1188720" cy="402336"/>
          </a:xfrm>
          <a:prstGeom prst="rect">
            <a:avLst/>
          </a:prstGeom>
          <a:noFill/>
          <a:ln/>
        </p:spPr>
        <p:txBody>
          <a:bodyPr wrap="square" rtlCol="0" anchor="ctr"/>
          <a:lstStyle/>
          <a:p>
            <a:pPr marL="0" indent="0" algn="r">
              <a:buNone/>
            </a:pPr>
            <a:r>
              <a:rPr lang="en-US" sz="2000" b="1" dirty="0">
                <a:solidFill>
                  <a:srgbClr val="E76F51"/>
                </a:solidFill>
                <a:latin typeface="Calibri" pitchFamily="34" charset="0"/>
                <a:ea typeface="Calibri" pitchFamily="34" charset="-122"/>
                <a:cs typeface="Calibri" pitchFamily="34" charset="-120"/>
              </a:rPr>
              <a:t>16</a:t>
            </a:r>
            <a:endParaRPr lang="en-US" sz="2000" dirty="0"/>
          </a:p>
        </p:txBody>
      </p:sp>
      <p:sp>
        <p:nvSpPr>
          <p:cNvPr id="12" name="Text 10"/>
          <p:cNvSpPr/>
          <p:nvPr/>
        </p:nvSpPr>
        <p:spPr>
          <a:xfrm>
            <a:off x="1691640" y="2468880"/>
            <a:ext cx="1828800" cy="402336"/>
          </a:xfrm>
          <a:prstGeom prst="rect">
            <a:avLst/>
          </a:prstGeom>
          <a:noFill/>
          <a:ln/>
        </p:spPr>
        <p:txBody>
          <a:bodyPr wrap="square" rtlCol="0" anchor="ctr"/>
          <a:lstStyle/>
          <a:p>
            <a:pPr marL="0" indent="0">
              <a:buNone/>
            </a:pPr>
            <a:r>
              <a:rPr lang="en-US" sz="1200" dirty="0">
                <a:solidFill>
                  <a:srgbClr val="1A2B3C"/>
                </a:solidFill>
                <a:latin typeface="Calibri" pitchFamily="34" charset="0"/>
                <a:ea typeface="Calibri" pitchFamily="34" charset="-122"/>
                <a:cs typeface="Calibri" pitchFamily="34" charset="-120"/>
              </a:rPr>
              <a:t>Word docs (clinical protocols)</a:t>
            </a:r>
            <a:endParaRPr lang="en-US" sz="1200" dirty="0"/>
          </a:p>
        </p:txBody>
      </p:sp>
      <p:sp>
        <p:nvSpPr>
          <p:cNvPr id="13" name="Text 11"/>
          <p:cNvSpPr/>
          <p:nvPr/>
        </p:nvSpPr>
        <p:spPr>
          <a:xfrm>
            <a:off x="420624" y="2935224"/>
            <a:ext cx="1188720" cy="402336"/>
          </a:xfrm>
          <a:prstGeom prst="rect">
            <a:avLst/>
          </a:prstGeom>
          <a:noFill/>
          <a:ln/>
        </p:spPr>
        <p:txBody>
          <a:bodyPr wrap="square" rtlCol="0" anchor="ctr"/>
          <a:lstStyle/>
          <a:p>
            <a:pPr marL="0" indent="0" algn="r">
              <a:buNone/>
            </a:pPr>
            <a:r>
              <a:rPr lang="en-US" sz="2000" b="1" dirty="0">
                <a:solidFill>
                  <a:srgbClr val="E76F51"/>
                </a:solidFill>
                <a:latin typeface="Calibri" pitchFamily="34" charset="0"/>
                <a:ea typeface="Calibri" pitchFamily="34" charset="-122"/>
                <a:cs typeface="Calibri" pitchFamily="34" charset="-120"/>
              </a:rPr>
              <a:t>2.27M</a:t>
            </a:r>
            <a:endParaRPr lang="en-US" sz="2000" dirty="0"/>
          </a:p>
        </p:txBody>
      </p:sp>
      <p:sp>
        <p:nvSpPr>
          <p:cNvPr id="14" name="Text 12"/>
          <p:cNvSpPr/>
          <p:nvPr/>
        </p:nvSpPr>
        <p:spPr>
          <a:xfrm>
            <a:off x="1691640" y="2971800"/>
            <a:ext cx="1828800" cy="402336"/>
          </a:xfrm>
          <a:prstGeom prst="rect">
            <a:avLst/>
          </a:prstGeom>
          <a:noFill/>
          <a:ln/>
        </p:spPr>
        <p:txBody>
          <a:bodyPr wrap="square" rtlCol="0" anchor="ctr"/>
          <a:lstStyle/>
          <a:p>
            <a:pPr marL="0" indent="0">
              <a:buNone/>
            </a:pPr>
            <a:r>
              <a:rPr lang="en-US" sz="1200" dirty="0">
                <a:solidFill>
                  <a:srgbClr val="1A2B3C"/>
                </a:solidFill>
                <a:latin typeface="Calibri" pitchFamily="34" charset="0"/>
                <a:ea typeface="Calibri" pitchFamily="34" charset="-122"/>
                <a:cs typeface="Calibri" pitchFamily="34" charset="-120"/>
              </a:rPr>
              <a:t>Total characters</a:t>
            </a:r>
            <a:endParaRPr lang="en-US" sz="1200" dirty="0"/>
          </a:p>
        </p:txBody>
      </p:sp>
      <p:sp>
        <p:nvSpPr>
          <p:cNvPr id="15" name="Text 13"/>
          <p:cNvSpPr/>
          <p:nvPr/>
        </p:nvSpPr>
        <p:spPr>
          <a:xfrm>
            <a:off x="420624" y="3438144"/>
            <a:ext cx="1188720" cy="402336"/>
          </a:xfrm>
          <a:prstGeom prst="rect">
            <a:avLst/>
          </a:prstGeom>
          <a:noFill/>
          <a:ln/>
        </p:spPr>
        <p:txBody>
          <a:bodyPr wrap="square" rtlCol="0" anchor="ctr"/>
          <a:lstStyle/>
          <a:p>
            <a:pPr marL="0" indent="0" algn="r">
              <a:buNone/>
            </a:pPr>
            <a:r>
              <a:rPr lang="en-US" sz="2000" b="1" dirty="0">
                <a:solidFill>
                  <a:srgbClr val="E76F51"/>
                </a:solidFill>
                <a:latin typeface="Calibri" pitchFamily="34" charset="0"/>
                <a:ea typeface="Calibri" pitchFamily="34" charset="-122"/>
                <a:cs typeface="Calibri" pitchFamily="34" charset="-120"/>
              </a:rPr>
              <a:t>37 → 800</a:t>
            </a:r>
            <a:endParaRPr lang="en-US" sz="2000" dirty="0"/>
          </a:p>
        </p:txBody>
      </p:sp>
      <p:sp>
        <p:nvSpPr>
          <p:cNvPr id="16" name="Text 14"/>
          <p:cNvSpPr/>
          <p:nvPr/>
        </p:nvSpPr>
        <p:spPr>
          <a:xfrm>
            <a:off x="1691640" y="3474720"/>
            <a:ext cx="1828800" cy="402336"/>
          </a:xfrm>
          <a:prstGeom prst="rect">
            <a:avLst/>
          </a:prstGeom>
          <a:noFill/>
          <a:ln/>
        </p:spPr>
        <p:txBody>
          <a:bodyPr wrap="square" rtlCol="0" anchor="ctr"/>
          <a:lstStyle/>
          <a:p>
            <a:pPr marL="0" indent="0">
              <a:buNone/>
            </a:pPr>
            <a:r>
              <a:rPr lang="en-US" sz="1200" dirty="0">
                <a:solidFill>
                  <a:srgbClr val="1A2B3C"/>
                </a:solidFill>
                <a:latin typeface="Calibri" pitchFamily="34" charset="0"/>
                <a:ea typeface="Calibri" pitchFamily="34" charset="-122"/>
                <a:cs typeface="Calibri" pitchFamily="34" charset="-120"/>
              </a:rPr>
              <a:t>Large PDFs expanded (10-pg chunks)</a:t>
            </a:r>
            <a:endParaRPr lang="en-US" sz="1200" dirty="0"/>
          </a:p>
        </p:txBody>
      </p:sp>
      <p:sp>
        <p:nvSpPr>
          <p:cNvPr id="17" name="Text 15"/>
          <p:cNvSpPr/>
          <p:nvPr/>
        </p:nvSpPr>
        <p:spPr>
          <a:xfrm>
            <a:off x="420624" y="3941064"/>
            <a:ext cx="1188720" cy="402336"/>
          </a:xfrm>
          <a:prstGeom prst="rect">
            <a:avLst/>
          </a:prstGeom>
          <a:noFill/>
          <a:ln/>
        </p:spPr>
        <p:txBody>
          <a:bodyPr wrap="square" rtlCol="0" anchor="ctr"/>
          <a:lstStyle/>
          <a:p>
            <a:pPr marL="0" indent="0" algn="r">
              <a:buNone/>
            </a:pPr>
            <a:r>
              <a:rPr lang="en-US" sz="2000" b="1" dirty="0">
                <a:solidFill>
                  <a:srgbClr val="E76F51"/>
                </a:solidFill>
                <a:latin typeface="Calibri" pitchFamily="34" charset="0"/>
                <a:ea typeface="Calibri" pitchFamily="34" charset="-122"/>
                <a:cs typeface="Calibri" pitchFamily="34" charset="-120"/>
              </a:rPr>
              <a:t>4,119</a:t>
            </a:r>
            <a:endParaRPr lang="en-US" sz="2000" dirty="0"/>
          </a:p>
        </p:txBody>
      </p:sp>
      <p:sp>
        <p:nvSpPr>
          <p:cNvPr id="18" name="Text 16"/>
          <p:cNvSpPr/>
          <p:nvPr/>
        </p:nvSpPr>
        <p:spPr>
          <a:xfrm>
            <a:off x="1691640" y="3977640"/>
            <a:ext cx="1828800" cy="402336"/>
          </a:xfrm>
          <a:prstGeom prst="rect">
            <a:avLst/>
          </a:prstGeom>
          <a:noFill/>
          <a:ln/>
        </p:spPr>
        <p:txBody>
          <a:bodyPr wrap="square" rtlCol="0" anchor="ctr"/>
          <a:lstStyle/>
          <a:p>
            <a:pPr marL="0" indent="0">
              <a:buNone/>
            </a:pPr>
            <a:r>
              <a:rPr lang="en-US" sz="1200" dirty="0">
                <a:solidFill>
                  <a:srgbClr val="1A2B3C"/>
                </a:solidFill>
                <a:latin typeface="Calibri" pitchFamily="34" charset="0"/>
                <a:ea typeface="Calibri" pitchFamily="34" charset="-122"/>
                <a:cs typeface="Calibri" pitchFamily="34" charset="-120"/>
              </a:rPr>
              <a:t>Final text chunks (avg 45/doc)</a:t>
            </a:r>
            <a:endParaRPr lang="en-US" sz="1200" dirty="0"/>
          </a:p>
        </p:txBody>
      </p:sp>
      <p:sp>
        <p:nvSpPr>
          <p:cNvPr id="19" name="Text 17"/>
          <p:cNvSpPr/>
          <p:nvPr/>
        </p:nvSpPr>
        <p:spPr>
          <a:xfrm>
            <a:off x="420624" y="4443984"/>
            <a:ext cx="1188720" cy="402336"/>
          </a:xfrm>
          <a:prstGeom prst="rect">
            <a:avLst/>
          </a:prstGeom>
          <a:noFill/>
          <a:ln/>
        </p:spPr>
        <p:txBody>
          <a:bodyPr wrap="square" rtlCol="0" anchor="ctr"/>
          <a:lstStyle/>
          <a:p>
            <a:pPr marL="0" indent="0" algn="r">
              <a:buNone/>
            </a:pPr>
            <a:r>
              <a:rPr lang="en-US" sz="2000" b="1" dirty="0">
                <a:solidFill>
                  <a:srgbClr val="E76F51"/>
                </a:solidFill>
                <a:latin typeface="Calibri" pitchFamily="34" charset="0"/>
                <a:ea typeface="Calibri" pitchFamily="34" charset="-122"/>
                <a:cs typeface="Calibri" pitchFamily="34" charset="-120"/>
              </a:rPr>
              <a:t>800 chars</a:t>
            </a:r>
            <a:endParaRPr lang="en-US" sz="2000" dirty="0"/>
          </a:p>
        </p:txBody>
      </p:sp>
      <p:sp>
        <p:nvSpPr>
          <p:cNvPr id="20" name="Text 18"/>
          <p:cNvSpPr/>
          <p:nvPr/>
        </p:nvSpPr>
        <p:spPr>
          <a:xfrm>
            <a:off x="1691640" y="4480560"/>
            <a:ext cx="1828800" cy="402336"/>
          </a:xfrm>
          <a:prstGeom prst="rect">
            <a:avLst/>
          </a:prstGeom>
          <a:noFill/>
          <a:ln/>
        </p:spPr>
        <p:txBody>
          <a:bodyPr wrap="square" rtlCol="0" anchor="ctr"/>
          <a:lstStyle/>
          <a:p>
            <a:pPr marL="0" indent="0">
              <a:buNone/>
            </a:pPr>
            <a:r>
              <a:rPr lang="en-US" sz="1200" dirty="0">
                <a:solidFill>
                  <a:srgbClr val="1A2B3C"/>
                </a:solidFill>
                <a:latin typeface="Calibri" pitchFamily="34" charset="0"/>
                <a:ea typeface="Calibri" pitchFamily="34" charset="-122"/>
                <a:cs typeface="Calibri" pitchFamily="34" charset="-120"/>
              </a:rPr>
              <a:t>Chunk size · 100-char overlap</a:t>
            </a:r>
            <a:endParaRPr lang="en-US" sz="1200" dirty="0"/>
          </a:p>
        </p:txBody>
      </p:sp>
      <p:sp>
        <p:nvSpPr>
          <p:cNvPr id="21" name="Shape 19"/>
          <p:cNvSpPr/>
          <p:nvPr/>
        </p:nvSpPr>
        <p:spPr>
          <a:xfrm>
            <a:off x="3840480" y="932688"/>
            <a:ext cx="5029200" cy="4023360"/>
          </a:xfrm>
          <a:prstGeom prst="rect">
            <a:avLst/>
          </a:prstGeom>
          <a:solidFill>
            <a:srgbClr val="F0F6FA"/>
          </a:solidFill>
          <a:ln w="12700">
            <a:solidFill>
              <a:srgbClr val="D0E4EC"/>
            </a:solidFill>
            <a:prstDash val="solid"/>
          </a:ln>
          <a:effectLst>
            <a:outerShdw blurRad="76200" dist="25400" dir="8100000" algn="bl" rotWithShape="0">
              <a:srgbClr val="000000">
                <a:alpha val="12000"/>
              </a:srgbClr>
            </a:outerShdw>
          </a:effectLst>
        </p:spPr>
        <p:txBody>
          <a:bodyPr/>
          <a:lstStyle/>
          <a:p>
            <a:endParaRPr lang="en-CN" sz="2400"/>
          </a:p>
        </p:txBody>
      </p:sp>
      <p:sp>
        <p:nvSpPr>
          <p:cNvPr id="22" name="Shape 20"/>
          <p:cNvSpPr/>
          <p:nvPr/>
        </p:nvSpPr>
        <p:spPr>
          <a:xfrm>
            <a:off x="3840480" y="932688"/>
            <a:ext cx="5029200" cy="384048"/>
          </a:xfrm>
          <a:prstGeom prst="rect">
            <a:avLst/>
          </a:prstGeom>
          <a:solidFill>
            <a:srgbClr val="0D2137"/>
          </a:solidFill>
          <a:ln w="12700">
            <a:solidFill>
              <a:srgbClr val="0D2137"/>
            </a:solidFill>
            <a:prstDash val="solid"/>
          </a:ln>
        </p:spPr>
        <p:txBody>
          <a:bodyPr/>
          <a:lstStyle/>
          <a:p>
            <a:endParaRPr lang="en-CN" sz="2400"/>
          </a:p>
        </p:txBody>
      </p:sp>
      <p:sp>
        <p:nvSpPr>
          <p:cNvPr id="23" name="Text 21"/>
          <p:cNvSpPr/>
          <p:nvPr/>
        </p:nvSpPr>
        <p:spPr>
          <a:xfrm>
            <a:off x="3840480" y="950976"/>
            <a:ext cx="5029200" cy="347472"/>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Chunking Pipeline</a:t>
            </a:r>
            <a:endParaRPr lang="en-US" sz="1600" dirty="0"/>
          </a:p>
        </p:txBody>
      </p:sp>
      <p:sp>
        <p:nvSpPr>
          <p:cNvPr id="24" name="Shape 22"/>
          <p:cNvSpPr/>
          <p:nvPr/>
        </p:nvSpPr>
        <p:spPr>
          <a:xfrm>
            <a:off x="3950208" y="1435608"/>
            <a:ext cx="91440" cy="731520"/>
          </a:xfrm>
          <a:prstGeom prst="rect">
            <a:avLst/>
          </a:prstGeom>
          <a:solidFill>
            <a:srgbClr val="E76F51"/>
          </a:solidFill>
          <a:ln w="12700">
            <a:solidFill>
              <a:srgbClr val="E76F51"/>
            </a:solidFill>
            <a:prstDash val="solid"/>
          </a:ln>
        </p:spPr>
        <p:txBody>
          <a:bodyPr/>
          <a:lstStyle/>
          <a:p>
            <a:endParaRPr lang="en-CN" sz="2400"/>
          </a:p>
        </p:txBody>
      </p:sp>
      <p:sp>
        <p:nvSpPr>
          <p:cNvPr id="25" name="Text 23"/>
          <p:cNvSpPr/>
          <p:nvPr/>
        </p:nvSpPr>
        <p:spPr>
          <a:xfrm>
            <a:off x="4133088" y="1472184"/>
            <a:ext cx="4617720" cy="292608"/>
          </a:xfrm>
          <a:prstGeom prst="rect">
            <a:avLst/>
          </a:prstGeom>
          <a:noFill/>
          <a:ln/>
        </p:spPr>
        <p:txBody>
          <a:bodyPr wrap="square" rtlCol="0" anchor="ctr"/>
          <a:lstStyle/>
          <a:p>
            <a:pPr marL="0" indent="0">
              <a:buNone/>
            </a:pPr>
            <a:r>
              <a:rPr lang="en-US" sz="1600" b="1" dirty="0">
                <a:solidFill>
                  <a:srgbClr val="0D2137"/>
                </a:solidFill>
                <a:latin typeface="Calibri" pitchFamily="34" charset="0"/>
                <a:ea typeface="Calibri" pitchFamily="34" charset="-122"/>
                <a:cs typeface="Calibri" pitchFamily="34" charset="-120"/>
              </a:rPr>
              <a:t>PDF Splitting</a:t>
            </a:r>
            <a:endParaRPr lang="en-US" sz="1600" dirty="0"/>
          </a:p>
        </p:txBody>
      </p:sp>
      <p:sp>
        <p:nvSpPr>
          <p:cNvPr id="26" name="Text 24"/>
          <p:cNvSpPr/>
          <p:nvPr/>
        </p:nvSpPr>
        <p:spPr>
          <a:xfrm>
            <a:off x="4133088" y="1773936"/>
            <a:ext cx="4617720" cy="438912"/>
          </a:xfrm>
          <a:prstGeom prst="rect">
            <a:avLst/>
          </a:prstGeom>
          <a:noFill/>
          <a:ln/>
        </p:spPr>
        <p:txBody>
          <a:bodyPr wrap="square" rtlCol="0" anchor="ctr"/>
          <a:lstStyle/>
          <a:p>
            <a:pPr marL="0" indent="0">
              <a:buNone/>
            </a:pPr>
            <a:r>
              <a:rPr lang="en-US" sz="1400" dirty="0">
                <a:solidFill>
                  <a:srgbClr val="5A7080"/>
                </a:solidFill>
                <a:latin typeface="Calibri" pitchFamily="34" charset="0"/>
                <a:ea typeface="Calibri" pitchFamily="34" charset="-122"/>
                <a:cs typeface="Calibri" pitchFamily="34" charset="-120"/>
              </a:rPr>
              <a:t>Files &gt;30 pages → 10-page chunks, 1-page overlap. Original 37 large files → 800 processable documents (&lt;7MB each)</a:t>
            </a:r>
            <a:endParaRPr lang="en-US" sz="1400" dirty="0"/>
          </a:p>
        </p:txBody>
      </p:sp>
      <p:sp>
        <p:nvSpPr>
          <p:cNvPr id="27" name="Shape 25"/>
          <p:cNvSpPr/>
          <p:nvPr/>
        </p:nvSpPr>
        <p:spPr>
          <a:xfrm>
            <a:off x="3950208" y="2331720"/>
            <a:ext cx="91440" cy="731520"/>
          </a:xfrm>
          <a:prstGeom prst="rect">
            <a:avLst/>
          </a:prstGeom>
          <a:solidFill>
            <a:srgbClr val="E76F51"/>
          </a:solidFill>
          <a:ln w="12700">
            <a:solidFill>
              <a:srgbClr val="E76F51"/>
            </a:solidFill>
            <a:prstDash val="solid"/>
          </a:ln>
        </p:spPr>
        <p:txBody>
          <a:bodyPr/>
          <a:lstStyle/>
          <a:p>
            <a:endParaRPr lang="en-CN" sz="2400"/>
          </a:p>
        </p:txBody>
      </p:sp>
      <p:sp>
        <p:nvSpPr>
          <p:cNvPr id="28" name="Text 26"/>
          <p:cNvSpPr/>
          <p:nvPr/>
        </p:nvSpPr>
        <p:spPr>
          <a:xfrm>
            <a:off x="4133088" y="2328104"/>
            <a:ext cx="4617720" cy="292608"/>
          </a:xfrm>
          <a:prstGeom prst="rect">
            <a:avLst/>
          </a:prstGeom>
          <a:noFill/>
          <a:ln/>
        </p:spPr>
        <p:txBody>
          <a:bodyPr wrap="square" rtlCol="0" anchor="ctr"/>
          <a:lstStyle/>
          <a:p>
            <a:pPr marL="0" indent="0">
              <a:buNone/>
            </a:pPr>
            <a:r>
              <a:rPr lang="en-US" sz="1600" b="1" dirty="0">
                <a:solidFill>
                  <a:srgbClr val="0D2137"/>
                </a:solidFill>
                <a:latin typeface="Calibri" pitchFamily="34" charset="0"/>
                <a:ea typeface="Calibri" pitchFamily="34" charset="-122"/>
                <a:cs typeface="Calibri" pitchFamily="34" charset="-120"/>
              </a:rPr>
              <a:t>Table Extraction</a:t>
            </a:r>
            <a:endParaRPr lang="en-US" sz="1600" dirty="0"/>
          </a:p>
        </p:txBody>
      </p:sp>
      <p:sp>
        <p:nvSpPr>
          <p:cNvPr id="29" name="Text 27"/>
          <p:cNvSpPr/>
          <p:nvPr/>
        </p:nvSpPr>
        <p:spPr>
          <a:xfrm>
            <a:off x="4133088" y="2629856"/>
            <a:ext cx="4617720" cy="438912"/>
          </a:xfrm>
          <a:prstGeom prst="rect">
            <a:avLst/>
          </a:prstGeom>
          <a:noFill/>
          <a:ln/>
        </p:spPr>
        <p:txBody>
          <a:bodyPr wrap="square" rtlCol="0" anchor="ctr"/>
          <a:lstStyle/>
          <a:p>
            <a:pPr marL="0" indent="0">
              <a:buNone/>
            </a:pPr>
            <a:r>
              <a:rPr lang="en-US" sz="1400" dirty="0">
                <a:solidFill>
                  <a:srgbClr val="5A7080"/>
                </a:solidFill>
                <a:latin typeface="Calibri" pitchFamily="34" charset="0"/>
                <a:ea typeface="Calibri" pitchFamily="34" charset="-122"/>
                <a:cs typeface="Calibri" pitchFamily="34" charset="-120"/>
              </a:rPr>
              <a:t>PyMuPDF table detection → Markdown format + metadata. Captures surgical outcome tables &amp; clinical comparison data</a:t>
            </a:r>
            <a:endParaRPr lang="en-US" sz="1400" dirty="0"/>
          </a:p>
        </p:txBody>
      </p:sp>
      <p:sp>
        <p:nvSpPr>
          <p:cNvPr id="30" name="Shape 28"/>
          <p:cNvSpPr/>
          <p:nvPr/>
        </p:nvSpPr>
        <p:spPr>
          <a:xfrm>
            <a:off x="3950208" y="3227832"/>
            <a:ext cx="91440" cy="731520"/>
          </a:xfrm>
          <a:prstGeom prst="rect">
            <a:avLst/>
          </a:prstGeom>
          <a:solidFill>
            <a:srgbClr val="E76F51"/>
          </a:solidFill>
          <a:ln w="12700">
            <a:solidFill>
              <a:srgbClr val="E76F51"/>
            </a:solidFill>
            <a:prstDash val="solid"/>
          </a:ln>
        </p:spPr>
        <p:txBody>
          <a:bodyPr/>
          <a:lstStyle/>
          <a:p>
            <a:endParaRPr lang="en-CN" sz="2400"/>
          </a:p>
        </p:txBody>
      </p:sp>
      <p:sp>
        <p:nvSpPr>
          <p:cNvPr id="31" name="Text 29"/>
          <p:cNvSpPr/>
          <p:nvPr/>
        </p:nvSpPr>
        <p:spPr>
          <a:xfrm>
            <a:off x="4133088" y="3172968"/>
            <a:ext cx="4617720" cy="292608"/>
          </a:xfrm>
          <a:prstGeom prst="rect">
            <a:avLst/>
          </a:prstGeom>
          <a:noFill/>
          <a:ln/>
        </p:spPr>
        <p:txBody>
          <a:bodyPr wrap="square" rtlCol="0" anchor="ctr"/>
          <a:lstStyle/>
          <a:p>
            <a:pPr marL="0" indent="0">
              <a:buNone/>
            </a:pPr>
            <a:r>
              <a:rPr lang="en-US" sz="1600" b="1" dirty="0">
                <a:solidFill>
                  <a:srgbClr val="0D2137"/>
                </a:solidFill>
                <a:latin typeface="Calibri" pitchFamily="34" charset="0"/>
                <a:ea typeface="Calibri" pitchFamily="34" charset="-122"/>
                <a:cs typeface="Calibri" pitchFamily="34" charset="-120"/>
              </a:rPr>
              <a:t>Image/OCR Extraction</a:t>
            </a:r>
            <a:endParaRPr lang="en-US" sz="1600" dirty="0"/>
          </a:p>
        </p:txBody>
      </p:sp>
      <p:sp>
        <p:nvSpPr>
          <p:cNvPr id="32" name="Text 30"/>
          <p:cNvSpPr/>
          <p:nvPr/>
        </p:nvSpPr>
        <p:spPr>
          <a:xfrm>
            <a:off x="4133088" y="3556916"/>
            <a:ext cx="4617720" cy="438912"/>
          </a:xfrm>
          <a:prstGeom prst="rect">
            <a:avLst/>
          </a:prstGeom>
          <a:noFill/>
          <a:ln/>
        </p:spPr>
        <p:txBody>
          <a:bodyPr wrap="square" rtlCol="0" anchor="ctr"/>
          <a:lstStyle/>
          <a:p>
            <a:pPr marL="0" indent="0">
              <a:buNone/>
            </a:pPr>
            <a:r>
              <a:rPr lang="en-US" sz="1400" dirty="0">
                <a:solidFill>
                  <a:srgbClr val="5A7080"/>
                </a:solidFill>
                <a:latin typeface="Calibri" pitchFamily="34" charset="0"/>
                <a:ea typeface="Calibri" pitchFamily="34" charset="-122"/>
                <a:cs typeface="Calibri" pitchFamily="34" charset="-120"/>
              </a:rPr>
              <a:t>Bounding box coordinates + OCR for embedded text. Anatomical diagrams stored as searchable image-caption metadata</a:t>
            </a:r>
            <a:endParaRPr lang="en-US" sz="1400" dirty="0"/>
          </a:p>
        </p:txBody>
      </p:sp>
      <p:sp>
        <p:nvSpPr>
          <p:cNvPr id="33" name="Shape 31"/>
          <p:cNvSpPr/>
          <p:nvPr/>
        </p:nvSpPr>
        <p:spPr>
          <a:xfrm>
            <a:off x="3950208" y="4123944"/>
            <a:ext cx="91440" cy="731520"/>
          </a:xfrm>
          <a:prstGeom prst="rect">
            <a:avLst/>
          </a:prstGeom>
          <a:solidFill>
            <a:srgbClr val="E76F51"/>
          </a:solidFill>
          <a:ln w="12700">
            <a:solidFill>
              <a:srgbClr val="E76F51"/>
            </a:solidFill>
            <a:prstDash val="solid"/>
          </a:ln>
        </p:spPr>
        <p:txBody>
          <a:bodyPr/>
          <a:lstStyle/>
          <a:p>
            <a:endParaRPr lang="en-CN" sz="2400"/>
          </a:p>
        </p:txBody>
      </p:sp>
      <p:sp>
        <p:nvSpPr>
          <p:cNvPr id="34" name="Text 32"/>
          <p:cNvSpPr/>
          <p:nvPr/>
        </p:nvSpPr>
        <p:spPr>
          <a:xfrm>
            <a:off x="4133088" y="4160520"/>
            <a:ext cx="4617720" cy="292608"/>
          </a:xfrm>
          <a:prstGeom prst="rect">
            <a:avLst/>
          </a:prstGeom>
          <a:noFill/>
          <a:ln/>
        </p:spPr>
        <p:txBody>
          <a:bodyPr wrap="square" rtlCol="0" anchor="ctr"/>
          <a:lstStyle/>
          <a:p>
            <a:pPr marL="0" indent="0">
              <a:buNone/>
            </a:pPr>
            <a:r>
              <a:rPr lang="en-US" sz="1600" b="1" dirty="0">
                <a:solidFill>
                  <a:srgbClr val="0D2137"/>
                </a:solidFill>
                <a:latin typeface="Calibri" pitchFamily="34" charset="0"/>
                <a:ea typeface="Calibri" pitchFamily="34" charset="-122"/>
                <a:cs typeface="Calibri" pitchFamily="34" charset="-120"/>
              </a:rPr>
              <a:t>Recursive Chunking</a:t>
            </a:r>
            <a:endParaRPr lang="en-US" sz="1600" dirty="0"/>
          </a:p>
        </p:txBody>
      </p:sp>
      <p:sp>
        <p:nvSpPr>
          <p:cNvPr id="35" name="Text 33"/>
          <p:cNvSpPr/>
          <p:nvPr/>
        </p:nvSpPr>
        <p:spPr>
          <a:xfrm>
            <a:off x="4133088" y="4462272"/>
            <a:ext cx="4617720" cy="438912"/>
          </a:xfrm>
          <a:prstGeom prst="rect">
            <a:avLst/>
          </a:prstGeom>
          <a:noFill/>
          <a:ln/>
        </p:spPr>
        <p:txBody>
          <a:bodyPr wrap="square" rtlCol="0" anchor="ctr"/>
          <a:lstStyle/>
          <a:p>
            <a:pPr marL="0" indent="0">
              <a:buNone/>
            </a:pPr>
            <a:r>
              <a:rPr lang="en-US" sz="1400" dirty="0">
                <a:solidFill>
                  <a:srgbClr val="5A7080"/>
                </a:solidFill>
                <a:latin typeface="Calibri" pitchFamily="34" charset="0"/>
                <a:ea typeface="Calibri" pitchFamily="34" charset="-122"/>
                <a:cs typeface="Calibri" pitchFamily="34" charset="-120"/>
              </a:rPr>
              <a:t>800-char chunks, 100-char overlap into 4,119 chunks. Metadata: source doc, page, content type, section hierarchy</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66928"/>
          </a:xfrm>
          <a:prstGeom prst="rect">
            <a:avLst/>
          </a:prstGeom>
          <a:noFill/>
          <a:ln/>
        </p:spPr>
        <p:txBody>
          <a:bodyPr wrap="square" lIns="0" tIns="0" rIns="0" bIns="0" rtlCol="0" anchor="ctr"/>
          <a:lstStyle/>
          <a:p>
            <a:pPr marL="0" indent="0">
              <a:buNone/>
            </a:pPr>
            <a:r>
              <a:rPr lang="en-US" sz="2400" b="1" dirty="0">
                <a:solidFill>
                  <a:srgbClr val="0D2137"/>
                </a:solidFill>
                <a:latin typeface="Calibri" pitchFamily="34" charset="0"/>
                <a:ea typeface="Calibri" pitchFamily="34" charset="-122"/>
                <a:cs typeface="Calibri" pitchFamily="34" charset="-120"/>
              </a:rPr>
              <a:t>PART 2 — Two-Stage RAG Architecture</a:t>
            </a:r>
            <a:endParaRPr lang="en-US" sz="2400" dirty="0"/>
          </a:p>
        </p:txBody>
      </p:sp>
      <p:sp>
        <p:nvSpPr>
          <p:cNvPr id="3" name="Shape 1"/>
          <p:cNvSpPr/>
          <p:nvPr/>
        </p:nvSpPr>
        <p:spPr>
          <a:xfrm>
            <a:off x="457200" y="795528"/>
            <a:ext cx="8229600" cy="0"/>
          </a:xfrm>
          <a:prstGeom prst="line">
            <a:avLst/>
          </a:prstGeom>
          <a:noFill/>
          <a:ln w="25400">
            <a:solidFill>
              <a:srgbClr val="028090"/>
            </a:solidFill>
            <a:prstDash val="solid"/>
          </a:ln>
        </p:spPr>
        <p:txBody>
          <a:bodyPr/>
          <a:lstStyle/>
          <a:p>
            <a:endParaRPr lang="en-CN"/>
          </a:p>
        </p:txBody>
      </p:sp>
      <p:sp>
        <p:nvSpPr>
          <p:cNvPr id="4" name="Shape 2"/>
          <p:cNvSpPr/>
          <p:nvPr/>
        </p:nvSpPr>
        <p:spPr>
          <a:xfrm>
            <a:off x="347472" y="852302"/>
            <a:ext cx="4023360" cy="3759890"/>
          </a:xfrm>
          <a:prstGeom prst="rect">
            <a:avLst/>
          </a:prstGeom>
          <a:solidFill>
            <a:srgbClr val="F0F6FA"/>
          </a:solidFill>
          <a:ln w="12700">
            <a:solidFill>
              <a:srgbClr val="D0E4EC"/>
            </a:solidFill>
            <a:prstDash val="solid"/>
          </a:ln>
          <a:effectLst>
            <a:outerShdw blurRad="76200" dist="25400" dir="8100000" algn="bl" rotWithShape="0">
              <a:srgbClr val="000000">
                <a:alpha val="12000"/>
              </a:srgbClr>
            </a:outerShdw>
          </a:effectLst>
        </p:spPr>
        <p:txBody>
          <a:bodyPr/>
          <a:lstStyle/>
          <a:p>
            <a:endParaRPr lang="en-CN" sz="2800"/>
          </a:p>
        </p:txBody>
      </p:sp>
      <p:sp>
        <p:nvSpPr>
          <p:cNvPr id="5" name="Shape 3"/>
          <p:cNvSpPr/>
          <p:nvPr/>
        </p:nvSpPr>
        <p:spPr>
          <a:xfrm>
            <a:off x="347472" y="852302"/>
            <a:ext cx="4023360" cy="384048"/>
          </a:xfrm>
          <a:prstGeom prst="rect">
            <a:avLst/>
          </a:prstGeom>
          <a:solidFill>
            <a:srgbClr val="028090"/>
          </a:solidFill>
          <a:ln w="12700">
            <a:solidFill>
              <a:srgbClr val="028090"/>
            </a:solidFill>
            <a:prstDash val="solid"/>
          </a:ln>
        </p:spPr>
        <p:txBody>
          <a:bodyPr/>
          <a:lstStyle/>
          <a:p>
            <a:endParaRPr lang="en-CN" sz="2400"/>
          </a:p>
        </p:txBody>
      </p:sp>
      <p:sp>
        <p:nvSpPr>
          <p:cNvPr id="6" name="Text 4"/>
          <p:cNvSpPr/>
          <p:nvPr/>
        </p:nvSpPr>
        <p:spPr>
          <a:xfrm>
            <a:off x="347472" y="870590"/>
            <a:ext cx="4023360" cy="347472"/>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Stage 1: Retrieval (Semantic Search)</a:t>
            </a:r>
            <a:endParaRPr lang="en-US" sz="1600" dirty="0"/>
          </a:p>
        </p:txBody>
      </p:sp>
      <p:sp>
        <p:nvSpPr>
          <p:cNvPr id="7" name="Shape 5"/>
          <p:cNvSpPr/>
          <p:nvPr/>
        </p:nvSpPr>
        <p:spPr>
          <a:xfrm>
            <a:off x="530352" y="1327790"/>
            <a:ext cx="3657600" cy="512064"/>
          </a:xfrm>
          <a:prstGeom prst="rect">
            <a:avLst/>
          </a:prstGeom>
          <a:solidFill>
            <a:srgbClr val="028090"/>
          </a:solidFill>
          <a:ln w="6350">
            <a:solidFill>
              <a:srgbClr val="B8D4DF"/>
            </a:solidFill>
            <a:prstDash val="solid"/>
          </a:ln>
        </p:spPr>
        <p:txBody>
          <a:bodyPr/>
          <a:lstStyle/>
          <a:p>
            <a:endParaRPr lang="en-CN" sz="2800"/>
          </a:p>
        </p:txBody>
      </p:sp>
      <p:sp>
        <p:nvSpPr>
          <p:cNvPr id="8" name="Text 6"/>
          <p:cNvSpPr/>
          <p:nvPr/>
        </p:nvSpPr>
        <p:spPr>
          <a:xfrm>
            <a:off x="530352" y="1327790"/>
            <a:ext cx="3657600" cy="512064"/>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Patient Query q</a:t>
            </a:r>
            <a:endParaRPr lang="en-US" sz="1400" dirty="0"/>
          </a:p>
        </p:txBody>
      </p:sp>
      <p:sp>
        <p:nvSpPr>
          <p:cNvPr id="9" name="Shape 7"/>
          <p:cNvSpPr/>
          <p:nvPr/>
        </p:nvSpPr>
        <p:spPr>
          <a:xfrm>
            <a:off x="2359152" y="1839854"/>
            <a:ext cx="0" cy="146304"/>
          </a:xfrm>
          <a:prstGeom prst="line">
            <a:avLst/>
          </a:prstGeom>
          <a:noFill/>
          <a:ln w="19050">
            <a:solidFill>
              <a:srgbClr val="028090"/>
            </a:solidFill>
            <a:prstDash val="solid"/>
          </a:ln>
        </p:spPr>
        <p:txBody>
          <a:bodyPr/>
          <a:lstStyle/>
          <a:p>
            <a:endParaRPr lang="en-CN" sz="2800"/>
          </a:p>
        </p:txBody>
      </p:sp>
      <p:sp>
        <p:nvSpPr>
          <p:cNvPr id="10" name="Shape 8"/>
          <p:cNvSpPr/>
          <p:nvPr/>
        </p:nvSpPr>
        <p:spPr>
          <a:xfrm>
            <a:off x="530352" y="1986158"/>
            <a:ext cx="3657600" cy="512064"/>
          </a:xfrm>
          <a:prstGeom prst="rect">
            <a:avLst/>
          </a:prstGeom>
          <a:solidFill>
            <a:srgbClr val="E8F4F8"/>
          </a:solidFill>
          <a:ln w="6350">
            <a:solidFill>
              <a:srgbClr val="B8D4DF"/>
            </a:solidFill>
            <a:prstDash val="solid"/>
          </a:ln>
        </p:spPr>
        <p:txBody>
          <a:bodyPr/>
          <a:lstStyle/>
          <a:p>
            <a:endParaRPr lang="en-CN" sz="2800"/>
          </a:p>
        </p:txBody>
      </p:sp>
      <p:sp>
        <p:nvSpPr>
          <p:cNvPr id="11" name="Text 9"/>
          <p:cNvSpPr/>
          <p:nvPr/>
        </p:nvSpPr>
        <p:spPr>
          <a:xfrm>
            <a:off x="530352" y="1986158"/>
            <a:ext cx="3657600" cy="512064"/>
          </a:xfrm>
          <a:prstGeom prst="rect">
            <a:avLst/>
          </a:prstGeom>
          <a:noFill/>
          <a:ln/>
        </p:spPr>
        <p:txBody>
          <a:bodyPr wrap="square" rtlCol="0" anchor="ctr"/>
          <a:lstStyle/>
          <a:p>
            <a:pPr marL="0" indent="0" algn="ctr">
              <a:buNone/>
            </a:pPr>
            <a:r>
              <a:rPr lang="en-US" sz="1400" dirty="0">
                <a:solidFill>
                  <a:srgbClr val="1A2B3C"/>
                </a:solidFill>
                <a:latin typeface="Calibri" pitchFamily="34" charset="0"/>
                <a:ea typeface="Calibri" pitchFamily="34" charset="-122"/>
                <a:cs typeface="Calibri" pitchFamily="34" charset="-120"/>
              </a:rPr>
              <a:t>BGE Embeddings: BAAI/bge-base-zh-v1.5</a:t>
            </a:r>
            <a:endParaRPr lang="en-US" sz="1400" dirty="0"/>
          </a:p>
          <a:p>
            <a:pPr marL="0" indent="0" algn="ctr">
              <a:buNone/>
            </a:pPr>
            <a:r>
              <a:rPr lang="en-US" sz="1400" dirty="0">
                <a:solidFill>
                  <a:srgbClr val="1A2B3C"/>
                </a:solidFill>
                <a:latin typeface="Calibri" pitchFamily="34" charset="0"/>
                <a:ea typeface="Calibri" pitchFamily="34" charset="-122"/>
                <a:cs typeface="Calibri" pitchFamily="34" charset="-120"/>
              </a:rPr>
              <a:t>12 layers · 768-dim · 512 max tokens</a:t>
            </a:r>
            <a:endParaRPr lang="en-US" sz="1400" dirty="0"/>
          </a:p>
        </p:txBody>
      </p:sp>
      <p:sp>
        <p:nvSpPr>
          <p:cNvPr id="12" name="Shape 10"/>
          <p:cNvSpPr/>
          <p:nvPr/>
        </p:nvSpPr>
        <p:spPr>
          <a:xfrm>
            <a:off x="2359152" y="2498222"/>
            <a:ext cx="0" cy="146304"/>
          </a:xfrm>
          <a:prstGeom prst="line">
            <a:avLst/>
          </a:prstGeom>
          <a:noFill/>
          <a:ln w="19050">
            <a:solidFill>
              <a:srgbClr val="028090"/>
            </a:solidFill>
            <a:prstDash val="solid"/>
          </a:ln>
        </p:spPr>
        <p:txBody>
          <a:bodyPr/>
          <a:lstStyle/>
          <a:p>
            <a:endParaRPr lang="en-CN" sz="2800"/>
          </a:p>
        </p:txBody>
      </p:sp>
      <p:sp>
        <p:nvSpPr>
          <p:cNvPr id="13" name="Shape 11"/>
          <p:cNvSpPr/>
          <p:nvPr/>
        </p:nvSpPr>
        <p:spPr>
          <a:xfrm>
            <a:off x="530352" y="2644526"/>
            <a:ext cx="3657600" cy="512064"/>
          </a:xfrm>
          <a:prstGeom prst="rect">
            <a:avLst/>
          </a:prstGeom>
          <a:solidFill>
            <a:srgbClr val="D0EAF0"/>
          </a:solidFill>
          <a:ln w="6350">
            <a:solidFill>
              <a:srgbClr val="B8D4DF"/>
            </a:solidFill>
            <a:prstDash val="solid"/>
          </a:ln>
        </p:spPr>
        <p:txBody>
          <a:bodyPr/>
          <a:lstStyle/>
          <a:p>
            <a:endParaRPr lang="en-CN" sz="2800"/>
          </a:p>
        </p:txBody>
      </p:sp>
      <p:sp>
        <p:nvSpPr>
          <p:cNvPr id="14" name="Text 12"/>
          <p:cNvSpPr/>
          <p:nvPr/>
        </p:nvSpPr>
        <p:spPr>
          <a:xfrm>
            <a:off x="530352" y="2644526"/>
            <a:ext cx="3657600" cy="512064"/>
          </a:xfrm>
          <a:prstGeom prst="rect">
            <a:avLst/>
          </a:prstGeom>
          <a:noFill/>
          <a:ln/>
        </p:spPr>
        <p:txBody>
          <a:bodyPr wrap="square" rtlCol="0" anchor="ctr"/>
          <a:lstStyle/>
          <a:p>
            <a:pPr marL="0" indent="0" algn="ctr">
              <a:buNone/>
            </a:pPr>
            <a:r>
              <a:rPr lang="en-US" sz="1400" dirty="0">
                <a:solidFill>
                  <a:srgbClr val="1A2B3C"/>
                </a:solidFill>
                <a:latin typeface="Calibri" pitchFamily="34" charset="0"/>
                <a:ea typeface="Calibri" pitchFamily="34" charset="-122"/>
                <a:cs typeface="Calibri" pitchFamily="34" charset="-120"/>
              </a:rPr>
              <a:t>Mean pooling: e = mean([h₁,…,hₙ])</a:t>
            </a:r>
            <a:endParaRPr lang="en-US" sz="1400" dirty="0"/>
          </a:p>
        </p:txBody>
      </p:sp>
      <p:sp>
        <p:nvSpPr>
          <p:cNvPr id="15" name="Shape 13"/>
          <p:cNvSpPr/>
          <p:nvPr/>
        </p:nvSpPr>
        <p:spPr>
          <a:xfrm>
            <a:off x="2359152" y="3156590"/>
            <a:ext cx="0" cy="146304"/>
          </a:xfrm>
          <a:prstGeom prst="line">
            <a:avLst/>
          </a:prstGeom>
          <a:noFill/>
          <a:ln w="19050">
            <a:solidFill>
              <a:srgbClr val="028090"/>
            </a:solidFill>
            <a:prstDash val="solid"/>
          </a:ln>
        </p:spPr>
        <p:txBody>
          <a:bodyPr/>
          <a:lstStyle/>
          <a:p>
            <a:endParaRPr lang="en-CN" sz="2800"/>
          </a:p>
        </p:txBody>
      </p:sp>
      <p:sp>
        <p:nvSpPr>
          <p:cNvPr id="16" name="Shape 14"/>
          <p:cNvSpPr/>
          <p:nvPr/>
        </p:nvSpPr>
        <p:spPr>
          <a:xfrm>
            <a:off x="530352" y="3302894"/>
            <a:ext cx="3657600" cy="512064"/>
          </a:xfrm>
          <a:prstGeom prst="rect">
            <a:avLst/>
          </a:prstGeom>
          <a:solidFill>
            <a:srgbClr val="E8F4F8"/>
          </a:solidFill>
          <a:ln w="6350">
            <a:solidFill>
              <a:srgbClr val="B8D4DF"/>
            </a:solidFill>
            <a:prstDash val="solid"/>
          </a:ln>
        </p:spPr>
        <p:txBody>
          <a:bodyPr/>
          <a:lstStyle/>
          <a:p>
            <a:endParaRPr lang="en-CN" sz="2800"/>
          </a:p>
        </p:txBody>
      </p:sp>
      <p:sp>
        <p:nvSpPr>
          <p:cNvPr id="17" name="Text 15"/>
          <p:cNvSpPr/>
          <p:nvPr/>
        </p:nvSpPr>
        <p:spPr>
          <a:xfrm>
            <a:off x="530352" y="3302894"/>
            <a:ext cx="3657600" cy="512064"/>
          </a:xfrm>
          <a:prstGeom prst="rect">
            <a:avLst/>
          </a:prstGeom>
          <a:noFill/>
          <a:ln/>
        </p:spPr>
        <p:txBody>
          <a:bodyPr wrap="square" rtlCol="0" anchor="ctr"/>
          <a:lstStyle/>
          <a:p>
            <a:pPr marL="0" indent="0" algn="ctr">
              <a:buNone/>
            </a:pPr>
            <a:r>
              <a:rPr lang="en-US" sz="1400" dirty="0">
                <a:solidFill>
                  <a:srgbClr val="1A2B3C"/>
                </a:solidFill>
                <a:latin typeface="Calibri" pitchFamily="34" charset="0"/>
                <a:ea typeface="Calibri" pitchFamily="34" charset="-122"/>
                <a:cs typeface="Calibri" pitchFamily="34" charset="-120"/>
              </a:rPr>
              <a:t>ChromaDB HNSW indexing</a:t>
            </a:r>
            <a:endParaRPr lang="en-US" sz="1400" dirty="0"/>
          </a:p>
          <a:p>
            <a:pPr marL="0" indent="0" algn="ctr">
              <a:buNone/>
            </a:pPr>
            <a:r>
              <a:rPr lang="en-US" sz="1400" dirty="0">
                <a:solidFill>
                  <a:srgbClr val="1A2B3C"/>
                </a:solidFill>
                <a:latin typeface="Calibri" pitchFamily="34" charset="0"/>
                <a:ea typeface="Calibri" pitchFamily="34" charset="-122"/>
                <a:cs typeface="Calibri" pitchFamily="34" charset="-120"/>
              </a:rPr>
              <a:t>Cosine similarity(q, d) = q·d / (||q||·||d||)</a:t>
            </a:r>
            <a:endParaRPr lang="en-US" sz="1400" dirty="0"/>
          </a:p>
        </p:txBody>
      </p:sp>
      <p:sp>
        <p:nvSpPr>
          <p:cNvPr id="18" name="Shape 16"/>
          <p:cNvSpPr/>
          <p:nvPr/>
        </p:nvSpPr>
        <p:spPr>
          <a:xfrm>
            <a:off x="2359152" y="3814958"/>
            <a:ext cx="0" cy="146304"/>
          </a:xfrm>
          <a:prstGeom prst="line">
            <a:avLst/>
          </a:prstGeom>
          <a:noFill/>
          <a:ln w="19050">
            <a:solidFill>
              <a:srgbClr val="028090"/>
            </a:solidFill>
            <a:prstDash val="solid"/>
          </a:ln>
        </p:spPr>
        <p:txBody>
          <a:bodyPr/>
          <a:lstStyle/>
          <a:p>
            <a:endParaRPr lang="en-CN" sz="2800"/>
          </a:p>
        </p:txBody>
      </p:sp>
      <p:sp>
        <p:nvSpPr>
          <p:cNvPr id="19" name="Shape 17"/>
          <p:cNvSpPr/>
          <p:nvPr/>
        </p:nvSpPr>
        <p:spPr>
          <a:xfrm>
            <a:off x="530352" y="3961262"/>
            <a:ext cx="3657600" cy="512064"/>
          </a:xfrm>
          <a:prstGeom prst="rect">
            <a:avLst/>
          </a:prstGeom>
          <a:solidFill>
            <a:srgbClr val="DDFAF2"/>
          </a:solidFill>
          <a:ln w="6350">
            <a:solidFill>
              <a:srgbClr val="B8D4DF"/>
            </a:solidFill>
            <a:prstDash val="solid"/>
          </a:ln>
        </p:spPr>
        <p:txBody>
          <a:bodyPr/>
          <a:lstStyle/>
          <a:p>
            <a:endParaRPr lang="en-CN" sz="2800"/>
          </a:p>
        </p:txBody>
      </p:sp>
      <p:sp>
        <p:nvSpPr>
          <p:cNvPr id="20" name="Text 18"/>
          <p:cNvSpPr/>
          <p:nvPr/>
        </p:nvSpPr>
        <p:spPr>
          <a:xfrm>
            <a:off x="530352" y="3961262"/>
            <a:ext cx="3657600" cy="512064"/>
          </a:xfrm>
          <a:prstGeom prst="rect">
            <a:avLst/>
          </a:prstGeom>
          <a:noFill/>
          <a:ln/>
        </p:spPr>
        <p:txBody>
          <a:bodyPr wrap="square" rtlCol="0" anchor="ctr"/>
          <a:lstStyle/>
          <a:p>
            <a:pPr marL="0" indent="0" algn="ctr">
              <a:buNone/>
            </a:pPr>
            <a:r>
              <a:rPr lang="en-US" sz="1400" b="1" dirty="0">
                <a:solidFill>
                  <a:srgbClr val="0D2137"/>
                </a:solidFill>
                <a:latin typeface="Calibri" pitchFamily="34" charset="0"/>
                <a:ea typeface="Calibri" pitchFamily="34" charset="-122"/>
                <a:cs typeface="Calibri" pitchFamily="34" charset="-120"/>
              </a:rPr>
              <a:t>Retrieve top-k=2 docs where sim &gt; τ=0.5</a:t>
            </a:r>
            <a:endParaRPr lang="en-US" sz="1400" dirty="0"/>
          </a:p>
          <a:p>
            <a:pPr marL="0" indent="0" algn="ctr">
              <a:buNone/>
            </a:pPr>
            <a:r>
              <a:rPr lang="en-US" sz="1400" b="1" dirty="0">
                <a:solidFill>
                  <a:srgbClr val="0D2137"/>
                </a:solidFill>
                <a:latin typeface="Calibri" pitchFamily="34" charset="0"/>
                <a:ea typeface="Calibri" pitchFamily="34" charset="-122"/>
                <a:cs typeface="Calibri" pitchFamily="34" charset="-120"/>
              </a:rPr>
              <a:t>(0.011s on A10G GPU — 100× CPU speedup)</a:t>
            </a:r>
            <a:endParaRPr lang="en-US" sz="1400" dirty="0"/>
          </a:p>
        </p:txBody>
      </p:sp>
      <p:sp>
        <p:nvSpPr>
          <p:cNvPr id="21" name="Shape 19"/>
          <p:cNvSpPr/>
          <p:nvPr/>
        </p:nvSpPr>
        <p:spPr>
          <a:xfrm>
            <a:off x="4617720" y="852302"/>
            <a:ext cx="4169664" cy="3767322"/>
          </a:xfrm>
          <a:prstGeom prst="rect">
            <a:avLst/>
          </a:prstGeom>
          <a:solidFill>
            <a:srgbClr val="F0F6FA"/>
          </a:solidFill>
          <a:ln w="12700">
            <a:solidFill>
              <a:srgbClr val="D0E4EC"/>
            </a:solidFill>
            <a:prstDash val="solid"/>
          </a:ln>
          <a:effectLst>
            <a:outerShdw blurRad="76200" dist="25400" dir="8100000" algn="bl" rotWithShape="0">
              <a:srgbClr val="000000">
                <a:alpha val="12000"/>
              </a:srgbClr>
            </a:outerShdw>
          </a:effectLst>
        </p:spPr>
        <p:txBody>
          <a:bodyPr/>
          <a:lstStyle/>
          <a:p>
            <a:endParaRPr lang="en-CN" sz="2800"/>
          </a:p>
        </p:txBody>
      </p:sp>
      <p:sp>
        <p:nvSpPr>
          <p:cNvPr id="22" name="Shape 20"/>
          <p:cNvSpPr/>
          <p:nvPr/>
        </p:nvSpPr>
        <p:spPr>
          <a:xfrm>
            <a:off x="4617720" y="852302"/>
            <a:ext cx="4169664" cy="384048"/>
          </a:xfrm>
          <a:prstGeom prst="rect">
            <a:avLst/>
          </a:prstGeom>
          <a:solidFill>
            <a:srgbClr val="E76F51"/>
          </a:solidFill>
          <a:ln w="12700">
            <a:solidFill>
              <a:srgbClr val="E76F51"/>
            </a:solidFill>
            <a:prstDash val="solid"/>
          </a:ln>
        </p:spPr>
        <p:txBody>
          <a:bodyPr/>
          <a:lstStyle/>
          <a:p>
            <a:endParaRPr lang="en-CN" sz="2400"/>
          </a:p>
        </p:txBody>
      </p:sp>
      <p:sp>
        <p:nvSpPr>
          <p:cNvPr id="23" name="Text 21"/>
          <p:cNvSpPr/>
          <p:nvPr/>
        </p:nvSpPr>
        <p:spPr>
          <a:xfrm>
            <a:off x="4617720" y="870590"/>
            <a:ext cx="4169664" cy="347472"/>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Stage 2: Generation (Conditioned LLM)</a:t>
            </a:r>
            <a:endParaRPr lang="en-US" sz="1600" dirty="0"/>
          </a:p>
        </p:txBody>
      </p:sp>
      <p:sp>
        <p:nvSpPr>
          <p:cNvPr id="24" name="Shape 22"/>
          <p:cNvSpPr/>
          <p:nvPr/>
        </p:nvSpPr>
        <p:spPr>
          <a:xfrm>
            <a:off x="4800600" y="1327790"/>
            <a:ext cx="3785616" cy="896112"/>
          </a:xfrm>
          <a:prstGeom prst="rect">
            <a:avLst/>
          </a:prstGeom>
          <a:solidFill>
            <a:srgbClr val="FBF0EE"/>
          </a:solidFill>
          <a:ln w="6350">
            <a:solidFill>
              <a:srgbClr val="E8C8C0"/>
            </a:solidFill>
            <a:prstDash val="solid"/>
          </a:ln>
        </p:spPr>
        <p:txBody>
          <a:bodyPr/>
          <a:lstStyle/>
          <a:p>
            <a:endParaRPr lang="en-CN" sz="2800"/>
          </a:p>
        </p:txBody>
      </p:sp>
      <p:sp>
        <p:nvSpPr>
          <p:cNvPr id="25" name="Text 23"/>
          <p:cNvSpPr/>
          <p:nvPr/>
        </p:nvSpPr>
        <p:spPr>
          <a:xfrm>
            <a:off x="4800600" y="1327790"/>
            <a:ext cx="3785616" cy="896112"/>
          </a:xfrm>
          <a:prstGeom prst="rect">
            <a:avLst/>
          </a:prstGeom>
          <a:noFill/>
          <a:ln/>
        </p:spPr>
        <p:txBody>
          <a:bodyPr wrap="square" rtlCol="0" anchor="ctr"/>
          <a:lstStyle/>
          <a:p>
            <a:pPr marL="0" indent="0" algn="ctr">
              <a:buNone/>
            </a:pPr>
            <a:r>
              <a:rPr lang="en-US" sz="1400" dirty="0">
                <a:solidFill>
                  <a:srgbClr val="1A2B3C"/>
                </a:solidFill>
                <a:latin typeface="Calibri" pitchFamily="34" charset="0"/>
                <a:ea typeface="Calibri" pitchFamily="34" charset="-122"/>
                <a:cs typeface="Calibri" pitchFamily="34" charset="-120"/>
              </a:rPr>
              <a:t>Prompt = [System Role: Compassionate Ophthalmologist]</a:t>
            </a:r>
            <a:endParaRPr lang="en-US" sz="1400" dirty="0"/>
          </a:p>
          <a:p>
            <a:pPr marL="0" indent="0" algn="ctr">
              <a:buNone/>
            </a:pPr>
            <a:r>
              <a:rPr lang="en-US" sz="1400" dirty="0">
                <a:solidFill>
                  <a:srgbClr val="1A2B3C"/>
                </a:solidFill>
                <a:latin typeface="Calibri" pitchFamily="34" charset="0"/>
                <a:ea typeface="Calibri" pitchFamily="34" charset="-122"/>
                <a:cs typeface="Calibri" pitchFamily="34" charset="-120"/>
              </a:rPr>
              <a:t>+ [Retrieved Medical References D]</a:t>
            </a:r>
            <a:endParaRPr lang="en-US" sz="1400" dirty="0"/>
          </a:p>
          <a:p>
            <a:pPr marL="0" indent="0" algn="ctr">
              <a:buNone/>
            </a:pPr>
            <a:r>
              <a:rPr lang="en-US" sz="1400" dirty="0">
                <a:solidFill>
                  <a:srgbClr val="1A2B3C"/>
                </a:solidFill>
                <a:latin typeface="Calibri" pitchFamily="34" charset="0"/>
                <a:ea typeface="Calibri" pitchFamily="34" charset="-122"/>
                <a:cs typeface="Calibri" pitchFamily="34" charset="-120"/>
              </a:rPr>
              <a:t>+ [Patient Question q]</a:t>
            </a:r>
            <a:endParaRPr lang="en-US" sz="1400" dirty="0"/>
          </a:p>
        </p:txBody>
      </p:sp>
      <p:sp>
        <p:nvSpPr>
          <p:cNvPr id="26" name="Shape 24"/>
          <p:cNvSpPr/>
          <p:nvPr/>
        </p:nvSpPr>
        <p:spPr>
          <a:xfrm>
            <a:off x="6702552" y="2223902"/>
            <a:ext cx="0" cy="219456"/>
          </a:xfrm>
          <a:prstGeom prst="line">
            <a:avLst/>
          </a:prstGeom>
          <a:noFill/>
          <a:ln w="19050">
            <a:solidFill>
              <a:srgbClr val="E76F51"/>
            </a:solidFill>
            <a:prstDash val="solid"/>
          </a:ln>
        </p:spPr>
        <p:txBody>
          <a:bodyPr/>
          <a:lstStyle/>
          <a:p>
            <a:endParaRPr lang="en-CN" sz="2800"/>
          </a:p>
        </p:txBody>
      </p:sp>
      <p:sp>
        <p:nvSpPr>
          <p:cNvPr id="27" name="Shape 25"/>
          <p:cNvSpPr/>
          <p:nvPr/>
        </p:nvSpPr>
        <p:spPr>
          <a:xfrm>
            <a:off x="4800600" y="2443358"/>
            <a:ext cx="3785616" cy="896112"/>
          </a:xfrm>
          <a:prstGeom prst="rect">
            <a:avLst/>
          </a:prstGeom>
          <a:solidFill>
            <a:srgbClr val="F0E8E5"/>
          </a:solidFill>
          <a:ln w="6350">
            <a:solidFill>
              <a:srgbClr val="E8C8C0"/>
            </a:solidFill>
            <a:prstDash val="solid"/>
          </a:ln>
        </p:spPr>
        <p:txBody>
          <a:bodyPr/>
          <a:lstStyle/>
          <a:p>
            <a:endParaRPr lang="en-CN" sz="2800"/>
          </a:p>
        </p:txBody>
      </p:sp>
      <p:sp>
        <p:nvSpPr>
          <p:cNvPr id="28" name="Text 26"/>
          <p:cNvSpPr/>
          <p:nvPr/>
        </p:nvSpPr>
        <p:spPr>
          <a:xfrm>
            <a:off x="4800600" y="2443358"/>
            <a:ext cx="3785616" cy="896112"/>
          </a:xfrm>
          <a:prstGeom prst="rect">
            <a:avLst/>
          </a:prstGeom>
          <a:noFill/>
          <a:ln/>
        </p:spPr>
        <p:txBody>
          <a:bodyPr wrap="square" rtlCol="0" anchor="ctr"/>
          <a:lstStyle/>
          <a:p>
            <a:pPr marL="0" indent="0" algn="ctr">
              <a:buNone/>
            </a:pPr>
            <a:r>
              <a:rPr lang="en-US" sz="1400" dirty="0">
                <a:solidFill>
                  <a:srgbClr val="1A2B3C"/>
                </a:solidFill>
                <a:latin typeface="Calibri" pitchFamily="34" charset="0"/>
                <a:ea typeface="Calibri" pitchFamily="34" charset="-122"/>
                <a:cs typeface="Calibri" pitchFamily="34" charset="-120"/>
              </a:rPr>
              <a:t>DeepSeek-R1:1.5b via Ollama (local)</a:t>
            </a:r>
            <a:endParaRPr lang="en-US" sz="1400" dirty="0"/>
          </a:p>
          <a:p>
            <a:pPr marL="0" indent="0" algn="ctr">
              <a:buNone/>
            </a:pPr>
            <a:r>
              <a:rPr lang="en-US" sz="1400" dirty="0">
                <a:solidFill>
                  <a:srgbClr val="1A2B3C"/>
                </a:solidFill>
                <a:latin typeface="Calibri" pitchFamily="34" charset="0"/>
                <a:ea typeface="Calibri" pitchFamily="34" charset="-122"/>
                <a:cs typeface="Calibri" pitchFamily="34" charset="-120"/>
              </a:rPr>
              <a:t>1.5B params · 934MB · Temperature T=0.7</a:t>
            </a:r>
            <a:endParaRPr lang="en-US" sz="1400" dirty="0"/>
          </a:p>
        </p:txBody>
      </p:sp>
      <p:sp>
        <p:nvSpPr>
          <p:cNvPr id="29" name="Shape 27"/>
          <p:cNvSpPr/>
          <p:nvPr/>
        </p:nvSpPr>
        <p:spPr>
          <a:xfrm>
            <a:off x="6702552" y="3339470"/>
            <a:ext cx="0" cy="219456"/>
          </a:xfrm>
          <a:prstGeom prst="line">
            <a:avLst/>
          </a:prstGeom>
          <a:noFill/>
          <a:ln w="19050">
            <a:solidFill>
              <a:srgbClr val="E76F51"/>
            </a:solidFill>
            <a:prstDash val="solid"/>
          </a:ln>
        </p:spPr>
        <p:txBody>
          <a:bodyPr/>
          <a:lstStyle/>
          <a:p>
            <a:endParaRPr lang="en-CN" sz="2800"/>
          </a:p>
        </p:txBody>
      </p:sp>
      <p:sp>
        <p:nvSpPr>
          <p:cNvPr id="30" name="Shape 28"/>
          <p:cNvSpPr/>
          <p:nvPr/>
        </p:nvSpPr>
        <p:spPr>
          <a:xfrm>
            <a:off x="4800600" y="3558926"/>
            <a:ext cx="3785616" cy="896112"/>
          </a:xfrm>
          <a:prstGeom prst="rect">
            <a:avLst/>
          </a:prstGeom>
          <a:solidFill>
            <a:srgbClr val="E76F51"/>
          </a:solidFill>
          <a:ln w="6350">
            <a:solidFill>
              <a:srgbClr val="E8C8C0"/>
            </a:solidFill>
            <a:prstDash val="solid"/>
          </a:ln>
        </p:spPr>
        <p:txBody>
          <a:bodyPr/>
          <a:lstStyle/>
          <a:p>
            <a:endParaRPr lang="en-CN" sz="2800"/>
          </a:p>
        </p:txBody>
      </p:sp>
      <p:sp>
        <p:nvSpPr>
          <p:cNvPr id="31" name="Text 29"/>
          <p:cNvSpPr/>
          <p:nvPr/>
        </p:nvSpPr>
        <p:spPr>
          <a:xfrm>
            <a:off x="4800600" y="3558926"/>
            <a:ext cx="3785616" cy="896112"/>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Response r: 150–200 words</a:t>
            </a:r>
            <a:endParaRPr lang="en-US" sz="1400" dirty="0"/>
          </a:p>
          <a:p>
            <a:pPr marL="0" indent="0" algn="ctr">
              <a:buNone/>
            </a:pPr>
            <a:r>
              <a:rPr lang="en-US" sz="1400" b="1" dirty="0">
                <a:solidFill>
                  <a:srgbClr val="FFFFFF"/>
                </a:solidFill>
                <a:latin typeface="Calibri" pitchFamily="34" charset="0"/>
                <a:ea typeface="Calibri" pitchFamily="34" charset="-122"/>
                <a:cs typeface="Calibri" pitchFamily="34" charset="-120"/>
              </a:rPr>
              <a:t>Evidence-based · Source-attributed</a:t>
            </a:r>
            <a:endParaRPr lang="en-US" sz="1400" dirty="0"/>
          </a:p>
        </p:txBody>
      </p:sp>
      <p:sp>
        <p:nvSpPr>
          <p:cNvPr id="32" name="Shape 30"/>
          <p:cNvSpPr/>
          <p:nvPr/>
        </p:nvSpPr>
        <p:spPr>
          <a:xfrm>
            <a:off x="4370832" y="2754254"/>
            <a:ext cx="246888" cy="0"/>
          </a:xfrm>
          <a:prstGeom prst="line">
            <a:avLst/>
          </a:prstGeom>
          <a:noFill/>
          <a:ln w="25400">
            <a:solidFill>
              <a:srgbClr val="0D2137"/>
            </a:solidFill>
            <a:prstDash val="solid"/>
          </a:ln>
        </p:spPr>
        <p:txBody>
          <a:bodyPr/>
          <a:lstStyle/>
          <a:p>
            <a:endParaRPr lang="en-CN" sz="2800"/>
          </a:p>
        </p:txBody>
      </p:sp>
      <p:sp>
        <p:nvSpPr>
          <p:cNvPr id="34" name="Shape 32"/>
          <p:cNvSpPr/>
          <p:nvPr/>
        </p:nvSpPr>
        <p:spPr>
          <a:xfrm>
            <a:off x="347472" y="4645152"/>
            <a:ext cx="8449056" cy="438912"/>
          </a:xfrm>
          <a:prstGeom prst="rect">
            <a:avLst/>
          </a:prstGeom>
          <a:solidFill>
            <a:srgbClr val="0D2137"/>
          </a:solidFill>
          <a:ln w="12700">
            <a:solidFill>
              <a:srgbClr val="0D2137"/>
            </a:solidFill>
            <a:prstDash val="solid"/>
          </a:ln>
        </p:spPr>
        <p:txBody>
          <a:bodyPr/>
          <a:lstStyle/>
          <a:p>
            <a:endParaRPr lang="en-CN" sz="2800"/>
          </a:p>
        </p:txBody>
      </p:sp>
      <p:sp>
        <p:nvSpPr>
          <p:cNvPr id="35" name="Text 33"/>
          <p:cNvSpPr/>
          <p:nvPr/>
        </p:nvSpPr>
        <p:spPr>
          <a:xfrm>
            <a:off x="347472" y="4626864"/>
            <a:ext cx="8449056" cy="457200"/>
          </a:xfrm>
          <a:prstGeom prst="rect">
            <a:avLst/>
          </a:prstGeom>
          <a:noFill/>
          <a:ln/>
        </p:spPr>
        <p:txBody>
          <a:bodyPr wrap="square" rtlCol="0" anchor="ctr"/>
          <a:lstStyle/>
          <a:p>
            <a:pPr marL="0" indent="0" algn="ctr">
              <a:buNone/>
            </a:pPr>
            <a:r>
              <a:rPr lang="en-US" sz="1400" b="1" dirty="0">
                <a:solidFill>
                  <a:schemeClr val="bg1"/>
                </a:solidFill>
                <a:latin typeface="Calibri" pitchFamily="34" charset="0"/>
                <a:ea typeface="Calibri" pitchFamily="34" charset="-122"/>
                <a:cs typeface="Calibri" pitchFamily="34" charset="-120"/>
              </a:rPr>
              <a:t>Hyperparameters optimized on 10 held-out dev questions: top-k=2 · </a:t>
            </a:r>
            <a:r>
              <a:rPr lang="en-US" sz="1400" b="1" dirty="0" err="1">
                <a:solidFill>
                  <a:schemeClr val="bg1"/>
                </a:solidFill>
                <a:latin typeface="Calibri" pitchFamily="34" charset="0"/>
                <a:ea typeface="Calibri" pitchFamily="34" charset="-122"/>
                <a:cs typeface="Calibri" pitchFamily="34" charset="-120"/>
              </a:rPr>
              <a:t>τ</a:t>
            </a:r>
            <a:r>
              <a:rPr lang="en-US" sz="1400" b="1" dirty="0">
                <a:solidFill>
                  <a:schemeClr val="bg1"/>
                </a:solidFill>
                <a:latin typeface="Calibri" pitchFamily="34" charset="0"/>
                <a:ea typeface="Calibri" pitchFamily="34" charset="-122"/>
                <a:cs typeface="Calibri" pitchFamily="34" charset="-120"/>
              </a:rPr>
              <a:t>=0.5 · 300 chars/chunk · T=0.7 </a:t>
            </a:r>
          </a:p>
          <a:p>
            <a:pPr marL="0" indent="0" algn="ctr">
              <a:buNone/>
            </a:pPr>
            <a:r>
              <a:rPr lang="en-US" sz="1400" b="1" dirty="0">
                <a:solidFill>
                  <a:schemeClr val="bg1"/>
                </a:solidFill>
                <a:latin typeface="Calibri" pitchFamily="34" charset="0"/>
                <a:ea typeface="Calibri" pitchFamily="34" charset="-122"/>
                <a:cs typeface="Calibri" pitchFamily="34" charset="-120"/>
              </a:rPr>
              <a:t> validated before final 25-question evaluation</a:t>
            </a:r>
            <a:endParaRPr lang="en-US" sz="1400" b="1" dirty="0">
              <a:solidFill>
                <a:schemeClr val="bg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66928"/>
          </a:xfrm>
          <a:prstGeom prst="rect">
            <a:avLst/>
          </a:prstGeom>
          <a:noFill/>
          <a:ln/>
        </p:spPr>
        <p:txBody>
          <a:bodyPr wrap="square" lIns="0" tIns="0" rIns="0" bIns="0" rtlCol="0" anchor="ctr"/>
          <a:lstStyle/>
          <a:p>
            <a:pPr marL="0" indent="0">
              <a:buNone/>
            </a:pPr>
            <a:r>
              <a:rPr lang="en-US" sz="2400" b="1" dirty="0">
                <a:solidFill>
                  <a:srgbClr val="0D2137"/>
                </a:solidFill>
                <a:latin typeface="Calibri" pitchFamily="34" charset="0"/>
                <a:ea typeface="Calibri" pitchFamily="34" charset="-122"/>
                <a:cs typeface="Calibri" pitchFamily="34" charset="-120"/>
              </a:rPr>
              <a:t>PART 2 — Physician Evaluation Framework</a:t>
            </a:r>
            <a:endParaRPr lang="en-US" sz="2400" dirty="0"/>
          </a:p>
        </p:txBody>
      </p:sp>
      <p:sp>
        <p:nvSpPr>
          <p:cNvPr id="3" name="Shape 1"/>
          <p:cNvSpPr/>
          <p:nvPr/>
        </p:nvSpPr>
        <p:spPr>
          <a:xfrm>
            <a:off x="457200" y="795528"/>
            <a:ext cx="8229600" cy="0"/>
          </a:xfrm>
          <a:prstGeom prst="line">
            <a:avLst/>
          </a:prstGeom>
          <a:noFill/>
          <a:ln w="25400">
            <a:solidFill>
              <a:srgbClr val="028090"/>
            </a:solidFill>
            <a:prstDash val="solid"/>
          </a:ln>
        </p:spPr>
        <p:txBody>
          <a:bodyPr/>
          <a:lstStyle/>
          <a:p>
            <a:endParaRPr lang="en-CN"/>
          </a:p>
        </p:txBody>
      </p:sp>
      <p:sp>
        <p:nvSpPr>
          <p:cNvPr id="4" name="Shape 2"/>
          <p:cNvSpPr/>
          <p:nvPr/>
        </p:nvSpPr>
        <p:spPr>
          <a:xfrm>
            <a:off x="347472" y="932688"/>
            <a:ext cx="3977640" cy="4023360"/>
          </a:xfrm>
          <a:prstGeom prst="rect">
            <a:avLst/>
          </a:prstGeom>
          <a:solidFill>
            <a:srgbClr val="F0F6FA"/>
          </a:solidFill>
          <a:ln w="12700">
            <a:solidFill>
              <a:srgbClr val="D0E4EC"/>
            </a:solidFill>
            <a:prstDash val="solid"/>
          </a:ln>
          <a:effectLst>
            <a:outerShdw blurRad="76200" dist="25400" dir="8100000" algn="bl" rotWithShape="0">
              <a:srgbClr val="000000">
                <a:alpha val="12000"/>
              </a:srgbClr>
            </a:outerShdw>
          </a:effectLst>
        </p:spPr>
        <p:txBody>
          <a:bodyPr/>
          <a:lstStyle/>
          <a:p>
            <a:endParaRPr lang="en-CN" sz="2000"/>
          </a:p>
        </p:txBody>
      </p:sp>
      <p:sp>
        <p:nvSpPr>
          <p:cNvPr id="5" name="Shape 3"/>
          <p:cNvSpPr/>
          <p:nvPr/>
        </p:nvSpPr>
        <p:spPr>
          <a:xfrm>
            <a:off x="347472" y="932688"/>
            <a:ext cx="3977640" cy="384048"/>
          </a:xfrm>
          <a:prstGeom prst="rect">
            <a:avLst/>
          </a:prstGeom>
          <a:solidFill>
            <a:srgbClr val="0D2137"/>
          </a:solidFill>
          <a:ln w="12700">
            <a:solidFill>
              <a:srgbClr val="0D2137"/>
            </a:solidFill>
            <a:prstDash val="solid"/>
          </a:ln>
        </p:spPr>
        <p:txBody>
          <a:bodyPr/>
          <a:lstStyle/>
          <a:p>
            <a:endParaRPr lang="en-CN" sz="2000"/>
          </a:p>
        </p:txBody>
      </p:sp>
      <p:sp>
        <p:nvSpPr>
          <p:cNvPr id="6" name="Text 4"/>
          <p:cNvSpPr/>
          <p:nvPr/>
        </p:nvSpPr>
        <p:spPr>
          <a:xfrm>
            <a:off x="347472" y="950976"/>
            <a:ext cx="3977640" cy="347472"/>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Test Set: 25 Patient Questions (Ophthalmologist-Curated)</a:t>
            </a:r>
            <a:endParaRPr lang="en-US" sz="1400" dirty="0"/>
          </a:p>
        </p:txBody>
      </p:sp>
      <p:sp>
        <p:nvSpPr>
          <p:cNvPr id="7" name="Shape 5"/>
          <p:cNvSpPr/>
          <p:nvPr/>
        </p:nvSpPr>
        <p:spPr>
          <a:xfrm>
            <a:off x="457200" y="1435608"/>
            <a:ext cx="3749040" cy="566928"/>
          </a:xfrm>
          <a:prstGeom prst="rect">
            <a:avLst/>
          </a:prstGeom>
          <a:solidFill>
            <a:srgbClr val="E8F4F8"/>
          </a:solidFill>
          <a:ln w="6350">
            <a:solidFill>
              <a:srgbClr val="B8D4DF"/>
            </a:solidFill>
            <a:prstDash val="solid"/>
          </a:ln>
        </p:spPr>
        <p:txBody>
          <a:bodyPr/>
          <a:lstStyle/>
          <a:p>
            <a:endParaRPr lang="en-CN" sz="2000"/>
          </a:p>
        </p:txBody>
      </p:sp>
      <p:sp>
        <p:nvSpPr>
          <p:cNvPr id="8" name="Shape 6"/>
          <p:cNvSpPr/>
          <p:nvPr/>
        </p:nvSpPr>
        <p:spPr>
          <a:xfrm>
            <a:off x="493776" y="1481328"/>
            <a:ext cx="274320" cy="274320"/>
          </a:xfrm>
          <a:prstGeom prst="ellipse">
            <a:avLst/>
          </a:prstGeom>
          <a:solidFill>
            <a:srgbClr val="028090"/>
          </a:solidFill>
          <a:ln w="12700">
            <a:solidFill>
              <a:srgbClr val="028090"/>
            </a:solidFill>
            <a:prstDash val="solid"/>
          </a:ln>
        </p:spPr>
        <p:txBody>
          <a:bodyPr/>
          <a:lstStyle/>
          <a:p>
            <a:endParaRPr lang="en-CN" sz="2000"/>
          </a:p>
        </p:txBody>
      </p:sp>
      <p:sp>
        <p:nvSpPr>
          <p:cNvPr id="9" name="Text 7"/>
          <p:cNvSpPr/>
          <p:nvPr/>
        </p:nvSpPr>
        <p:spPr>
          <a:xfrm>
            <a:off x="493776" y="1481328"/>
            <a:ext cx="274320" cy="27432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0" name="Text 8"/>
          <p:cNvSpPr/>
          <p:nvPr/>
        </p:nvSpPr>
        <p:spPr>
          <a:xfrm>
            <a:off x="841248" y="1453896"/>
            <a:ext cx="3246120" cy="274320"/>
          </a:xfrm>
          <a:prstGeom prst="rect">
            <a:avLst/>
          </a:prstGeom>
          <a:noFill/>
          <a:ln/>
        </p:spPr>
        <p:txBody>
          <a:bodyPr wrap="square" rtlCol="0" anchor="ctr"/>
          <a:lstStyle/>
          <a:p>
            <a:pPr marL="0" indent="0">
              <a:buNone/>
            </a:pPr>
            <a:r>
              <a:rPr lang="en-US" sz="1400" b="1" dirty="0">
                <a:solidFill>
                  <a:srgbClr val="0D2137"/>
                </a:solidFill>
                <a:latin typeface="Calibri" pitchFamily="34" charset="0"/>
                <a:ea typeface="Calibri" pitchFamily="34" charset="-122"/>
                <a:cs typeface="Calibri" pitchFamily="34" charset="-120"/>
              </a:rPr>
              <a:t>General procedure information</a:t>
            </a:r>
            <a:endParaRPr lang="en-US" sz="1400" dirty="0"/>
          </a:p>
        </p:txBody>
      </p:sp>
      <p:sp>
        <p:nvSpPr>
          <p:cNvPr id="11" name="Text 9"/>
          <p:cNvSpPr/>
          <p:nvPr/>
        </p:nvSpPr>
        <p:spPr>
          <a:xfrm>
            <a:off x="841248" y="1737360"/>
            <a:ext cx="3246120" cy="228600"/>
          </a:xfrm>
          <a:prstGeom prst="rect">
            <a:avLst/>
          </a:prstGeom>
          <a:noFill/>
          <a:ln/>
        </p:spPr>
        <p:txBody>
          <a:bodyPr wrap="square" rtlCol="0" anchor="ctr"/>
          <a:lstStyle/>
          <a:p>
            <a:pPr marL="0" indent="0">
              <a:buNone/>
            </a:pPr>
            <a:r>
              <a:rPr lang="en-US" sz="1100" dirty="0">
                <a:solidFill>
                  <a:srgbClr val="5A7080"/>
                </a:solidFill>
                <a:latin typeface="Calibri" pitchFamily="34" charset="0"/>
                <a:ea typeface="Calibri" pitchFamily="34" charset="-122"/>
                <a:cs typeface="Calibri" pitchFamily="34" charset="-120"/>
              </a:rPr>
              <a:t>LASIK/PRK/SMILE basics, how it works</a:t>
            </a:r>
            <a:endParaRPr lang="en-US" sz="1100" dirty="0"/>
          </a:p>
        </p:txBody>
      </p:sp>
      <p:sp>
        <p:nvSpPr>
          <p:cNvPr id="12" name="Shape 10"/>
          <p:cNvSpPr/>
          <p:nvPr/>
        </p:nvSpPr>
        <p:spPr>
          <a:xfrm>
            <a:off x="457200" y="2130552"/>
            <a:ext cx="3749040" cy="566928"/>
          </a:xfrm>
          <a:prstGeom prst="rect">
            <a:avLst/>
          </a:prstGeom>
          <a:solidFill>
            <a:srgbClr val="D8EEF5"/>
          </a:solidFill>
          <a:ln w="6350">
            <a:solidFill>
              <a:srgbClr val="B8D4DF"/>
            </a:solidFill>
            <a:prstDash val="solid"/>
          </a:ln>
        </p:spPr>
        <p:txBody>
          <a:bodyPr/>
          <a:lstStyle/>
          <a:p>
            <a:endParaRPr lang="en-CN" sz="2000"/>
          </a:p>
        </p:txBody>
      </p:sp>
      <p:sp>
        <p:nvSpPr>
          <p:cNvPr id="13" name="Shape 11"/>
          <p:cNvSpPr/>
          <p:nvPr/>
        </p:nvSpPr>
        <p:spPr>
          <a:xfrm>
            <a:off x="493776" y="2176272"/>
            <a:ext cx="274320" cy="274320"/>
          </a:xfrm>
          <a:prstGeom prst="ellipse">
            <a:avLst/>
          </a:prstGeom>
          <a:solidFill>
            <a:srgbClr val="028090"/>
          </a:solidFill>
          <a:ln w="12700">
            <a:solidFill>
              <a:srgbClr val="028090"/>
            </a:solidFill>
            <a:prstDash val="solid"/>
          </a:ln>
        </p:spPr>
        <p:txBody>
          <a:bodyPr/>
          <a:lstStyle/>
          <a:p>
            <a:endParaRPr lang="en-CN" sz="2000"/>
          </a:p>
        </p:txBody>
      </p:sp>
      <p:sp>
        <p:nvSpPr>
          <p:cNvPr id="14" name="Text 12"/>
          <p:cNvSpPr/>
          <p:nvPr/>
        </p:nvSpPr>
        <p:spPr>
          <a:xfrm>
            <a:off x="493776" y="2176272"/>
            <a:ext cx="274320" cy="27432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5" name="Text 13"/>
          <p:cNvSpPr/>
          <p:nvPr/>
        </p:nvSpPr>
        <p:spPr>
          <a:xfrm>
            <a:off x="841248" y="2148840"/>
            <a:ext cx="3246120" cy="274320"/>
          </a:xfrm>
          <a:prstGeom prst="rect">
            <a:avLst/>
          </a:prstGeom>
          <a:noFill/>
          <a:ln/>
        </p:spPr>
        <p:txBody>
          <a:bodyPr wrap="square" rtlCol="0" anchor="ctr"/>
          <a:lstStyle/>
          <a:p>
            <a:pPr marL="0" indent="0">
              <a:buNone/>
            </a:pPr>
            <a:r>
              <a:rPr lang="en-US" sz="1400" b="1" dirty="0">
                <a:solidFill>
                  <a:srgbClr val="0D2137"/>
                </a:solidFill>
                <a:latin typeface="Calibri" pitchFamily="34" charset="0"/>
                <a:ea typeface="Calibri" pitchFamily="34" charset="-122"/>
                <a:cs typeface="Calibri" pitchFamily="34" charset="-120"/>
              </a:rPr>
              <a:t>Eligibility criteria</a:t>
            </a:r>
            <a:endParaRPr lang="en-US" sz="1400" dirty="0"/>
          </a:p>
        </p:txBody>
      </p:sp>
      <p:sp>
        <p:nvSpPr>
          <p:cNvPr id="16" name="Text 14"/>
          <p:cNvSpPr/>
          <p:nvPr/>
        </p:nvSpPr>
        <p:spPr>
          <a:xfrm>
            <a:off x="841248" y="2432304"/>
            <a:ext cx="3246120" cy="228600"/>
          </a:xfrm>
          <a:prstGeom prst="rect">
            <a:avLst/>
          </a:prstGeom>
          <a:noFill/>
          <a:ln/>
        </p:spPr>
        <p:txBody>
          <a:bodyPr wrap="square" rtlCol="0" anchor="ctr"/>
          <a:lstStyle/>
          <a:p>
            <a:pPr marL="0" indent="0">
              <a:buNone/>
            </a:pPr>
            <a:r>
              <a:rPr lang="en-US" sz="1100" dirty="0">
                <a:solidFill>
                  <a:srgbClr val="5A7080"/>
                </a:solidFill>
                <a:latin typeface="Calibri" pitchFamily="34" charset="0"/>
                <a:ea typeface="Calibri" pitchFamily="34" charset="-122"/>
                <a:cs typeface="Calibri" pitchFamily="34" charset="-120"/>
              </a:rPr>
              <a:t>Candidacy requirements, contraindications</a:t>
            </a:r>
            <a:endParaRPr lang="en-US" sz="1100" dirty="0"/>
          </a:p>
        </p:txBody>
      </p:sp>
      <p:sp>
        <p:nvSpPr>
          <p:cNvPr id="17" name="Shape 15"/>
          <p:cNvSpPr/>
          <p:nvPr/>
        </p:nvSpPr>
        <p:spPr>
          <a:xfrm>
            <a:off x="457200" y="2825496"/>
            <a:ext cx="3749040" cy="566928"/>
          </a:xfrm>
          <a:prstGeom prst="rect">
            <a:avLst/>
          </a:prstGeom>
          <a:solidFill>
            <a:srgbClr val="E8F4F8"/>
          </a:solidFill>
          <a:ln w="6350">
            <a:solidFill>
              <a:srgbClr val="B8D4DF"/>
            </a:solidFill>
            <a:prstDash val="solid"/>
          </a:ln>
        </p:spPr>
        <p:txBody>
          <a:bodyPr/>
          <a:lstStyle/>
          <a:p>
            <a:endParaRPr lang="en-CN" sz="2000"/>
          </a:p>
        </p:txBody>
      </p:sp>
      <p:sp>
        <p:nvSpPr>
          <p:cNvPr id="18" name="Shape 16"/>
          <p:cNvSpPr/>
          <p:nvPr/>
        </p:nvSpPr>
        <p:spPr>
          <a:xfrm>
            <a:off x="493776" y="2871216"/>
            <a:ext cx="274320" cy="274320"/>
          </a:xfrm>
          <a:prstGeom prst="ellipse">
            <a:avLst/>
          </a:prstGeom>
          <a:solidFill>
            <a:srgbClr val="028090"/>
          </a:solidFill>
          <a:ln w="12700">
            <a:solidFill>
              <a:srgbClr val="028090"/>
            </a:solidFill>
            <a:prstDash val="solid"/>
          </a:ln>
        </p:spPr>
        <p:txBody>
          <a:bodyPr/>
          <a:lstStyle/>
          <a:p>
            <a:endParaRPr lang="en-CN" sz="2000"/>
          </a:p>
        </p:txBody>
      </p:sp>
      <p:sp>
        <p:nvSpPr>
          <p:cNvPr id="19" name="Text 17"/>
          <p:cNvSpPr/>
          <p:nvPr/>
        </p:nvSpPr>
        <p:spPr>
          <a:xfrm>
            <a:off x="493776" y="2871216"/>
            <a:ext cx="274320" cy="27432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20" name="Text 18"/>
          <p:cNvSpPr/>
          <p:nvPr/>
        </p:nvSpPr>
        <p:spPr>
          <a:xfrm>
            <a:off x="841248" y="2843784"/>
            <a:ext cx="3246120" cy="274320"/>
          </a:xfrm>
          <a:prstGeom prst="rect">
            <a:avLst/>
          </a:prstGeom>
          <a:noFill/>
          <a:ln/>
        </p:spPr>
        <p:txBody>
          <a:bodyPr wrap="square" rtlCol="0" anchor="ctr"/>
          <a:lstStyle/>
          <a:p>
            <a:pPr marL="0" indent="0">
              <a:buNone/>
            </a:pPr>
            <a:r>
              <a:rPr lang="en-US" sz="1400" b="1" dirty="0">
                <a:solidFill>
                  <a:srgbClr val="0D2137"/>
                </a:solidFill>
                <a:latin typeface="Calibri" pitchFamily="34" charset="0"/>
                <a:ea typeface="Calibri" pitchFamily="34" charset="-122"/>
                <a:cs typeface="Calibri" pitchFamily="34" charset="-120"/>
              </a:rPr>
              <a:t>Safety &amp; complications</a:t>
            </a:r>
            <a:endParaRPr lang="en-US" sz="1400" dirty="0"/>
          </a:p>
        </p:txBody>
      </p:sp>
      <p:sp>
        <p:nvSpPr>
          <p:cNvPr id="21" name="Text 19"/>
          <p:cNvSpPr/>
          <p:nvPr/>
        </p:nvSpPr>
        <p:spPr>
          <a:xfrm>
            <a:off x="841248" y="3127248"/>
            <a:ext cx="3246120" cy="228600"/>
          </a:xfrm>
          <a:prstGeom prst="rect">
            <a:avLst/>
          </a:prstGeom>
          <a:noFill/>
          <a:ln/>
        </p:spPr>
        <p:txBody>
          <a:bodyPr wrap="square" rtlCol="0" anchor="ctr"/>
          <a:lstStyle/>
          <a:p>
            <a:pPr marL="0" indent="0">
              <a:buNone/>
            </a:pPr>
            <a:r>
              <a:rPr lang="en-US" sz="1100" dirty="0">
                <a:solidFill>
                  <a:srgbClr val="5A7080"/>
                </a:solidFill>
                <a:latin typeface="Calibri" pitchFamily="34" charset="0"/>
                <a:ea typeface="Calibri" pitchFamily="34" charset="-122"/>
                <a:cs typeface="Calibri" pitchFamily="34" charset="-120"/>
              </a:rPr>
              <a:t>Risks, side-effects, risk quantification</a:t>
            </a:r>
            <a:endParaRPr lang="en-US" sz="1100" dirty="0"/>
          </a:p>
        </p:txBody>
      </p:sp>
      <p:sp>
        <p:nvSpPr>
          <p:cNvPr id="22" name="Shape 20"/>
          <p:cNvSpPr/>
          <p:nvPr/>
        </p:nvSpPr>
        <p:spPr>
          <a:xfrm>
            <a:off x="457200" y="3520440"/>
            <a:ext cx="3749040" cy="566928"/>
          </a:xfrm>
          <a:prstGeom prst="rect">
            <a:avLst/>
          </a:prstGeom>
          <a:solidFill>
            <a:srgbClr val="D8EEF5"/>
          </a:solidFill>
          <a:ln w="6350">
            <a:solidFill>
              <a:srgbClr val="B8D4DF"/>
            </a:solidFill>
            <a:prstDash val="solid"/>
          </a:ln>
        </p:spPr>
        <p:txBody>
          <a:bodyPr/>
          <a:lstStyle/>
          <a:p>
            <a:endParaRPr lang="en-CN" sz="2000"/>
          </a:p>
        </p:txBody>
      </p:sp>
      <p:sp>
        <p:nvSpPr>
          <p:cNvPr id="23" name="Shape 21"/>
          <p:cNvSpPr/>
          <p:nvPr/>
        </p:nvSpPr>
        <p:spPr>
          <a:xfrm>
            <a:off x="493776" y="3566160"/>
            <a:ext cx="274320" cy="274320"/>
          </a:xfrm>
          <a:prstGeom prst="ellipse">
            <a:avLst/>
          </a:prstGeom>
          <a:solidFill>
            <a:srgbClr val="028090"/>
          </a:solidFill>
          <a:ln w="12700">
            <a:solidFill>
              <a:srgbClr val="028090"/>
            </a:solidFill>
            <a:prstDash val="solid"/>
          </a:ln>
        </p:spPr>
        <p:txBody>
          <a:bodyPr/>
          <a:lstStyle/>
          <a:p>
            <a:endParaRPr lang="en-CN" sz="2000"/>
          </a:p>
        </p:txBody>
      </p:sp>
      <p:sp>
        <p:nvSpPr>
          <p:cNvPr id="24" name="Text 22"/>
          <p:cNvSpPr/>
          <p:nvPr/>
        </p:nvSpPr>
        <p:spPr>
          <a:xfrm>
            <a:off x="493776" y="3566160"/>
            <a:ext cx="274320" cy="27432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25" name="Text 23"/>
          <p:cNvSpPr/>
          <p:nvPr/>
        </p:nvSpPr>
        <p:spPr>
          <a:xfrm>
            <a:off x="841248" y="3538728"/>
            <a:ext cx="3246120" cy="274320"/>
          </a:xfrm>
          <a:prstGeom prst="rect">
            <a:avLst/>
          </a:prstGeom>
          <a:noFill/>
          <a:ln/>
        </p:spPr>
        <p:txBody>
          <a:bodyPr wrap="square" rtlCol="0" anchor="ctr"/>
          <a:lstStyle/>
          <a:p>
            <a:pPr marL="0" indent="0">
              <a:buNone/>
            </a:pPr>
            <a:r>
              <a:rPr lang="en-US" sz="1400" b="1" dirty="0">
                <a:solidFill>
                  <a:srgbClr val="0D2137"/>
                </a:solidFill>
                <a:latin typeface="Calibri" pitchFamily="34" charset="0"/>
                <a:ea typeface="Calibri" pitchFamily="34" charset="-122"/>
                <a:cs typeface="Calibri" pitchFamily="34" charset="-120"/>
              </a:rPr>
              <a:t>Recovery &amp; outcomes</a:t>
            </a:r>
            <a:endParaRPr lang="en-US" sz="1400" dirty="0"/>
          </a:p>
        </p:txBody>
      </p:sp>
      <p:sp>
        <p:nvSpPr>
          <p:cNvPr id="26" name="Text 24"/>
          <p:cNvSpPr/>
          <p:nvPr/>
        </p:nvSpPr>
        <p:spPr>
          <a:xfrm>
            <a:off x="841248" y="3822192"/>
            <a:ext cx="3246120" cy="228600"/>
          </a:xfrm>
          <a:prstGeom prst="rect">
            <a:avLst/>
          </a:prstGeom>
          <a:noFill/>
          <a:ln/>
        </p:spPr>
        <p:txBody>
          <a:bodyPr wrap="square" rtlCol="0" anchor="ctr"/>
          <a:lstStyle/>
          <a:p>
            <a:pPr marL="0" indent="0">
              <a:buNone/>
            </a:pPr>
            <a:r>
              <a:rPr lang="en-US" sz="1100" dirty="0">
                <a:solidFill>
                  <a:srgbClr val="5A7080"/>
                </a:solidFill>
                <a:latin typeface="Calibri" pitchFamily="34" charset="0"/>
                <a:ea typeface="Calibri" pitchFamily="34" charset="-122"/>
                <a:cs typeface="Calibri" pitchFamily="34" charset="-120"/>
              </a:rPr>
              <a:t>Timelines, activity restrictions, healing</a:t>
            </a:r>
            <a:endParaRPr lang="en-US" sz="1100" dirty="0"/>
          </a:p>
        </p:txBody>
      </p:sp>
      <p:sp>
        <p:nvSpPr>
          <p:cNvPr id="27" name="Shape 25"/>
          <p:cNvSpPr/>
          <p:nvPr/>
        </p:nvSpPr>
        <p:spPr>
          <a:xfrm>
            <a:off x="457200" y="4215384"/>
            <a:ext cx="3749040" cy="566928"/>
          </a:xfrm>
          <a:prstGeom prst="rect">
            <a:avLst/>
          </a:prstGeom>
          <a:solidFill>
            <a:srgbClr val="E8F4F8"/>
          </a:solidFill>
          <a:ln w="6350">
            <a:solidFill>
              <a:srgbClr val="B8D4DF"/>
            </a:solidFill>
            <a:prstDash val="solid"/>
          </a:ln>
        </p:spPr>
        <p:txBody>
          <a:bodyPr/>
          <a:lstStyle/>
          <a:p>
            <a:endParaRPr lang="en-CN" sz="2000"/>
          </a:p>
        </p:txBody>
      </p:sp>
      <p:sp>
        <p:nvSpPr>
          <p:cNvPr id="28" name="Shape 26"/>
          <p:cNvSpPr/>
          <p:nvPr/>
        </p:nvSpPr>
        <p:spPr>
          <a:xfrm>
            <a:off x="493776" y="4261104"/>
            <a:ext cx="274320" cy="274320"/>
          </a:xfrm>
          <a:prstGeom prst="ellipse">
            <a:avLst/>
          </a:prstGeom>
          <a:solidFill>
            <a:srgbClr val="028090"/>
          </a:solidFill>
          <a:ln w="12700">
            <a:solidFill>
              <a:srgbClr val="028090"/>
            </a:solidFill>
            <a:prstDash val="solid"/>
          </a:ln>
        </p:spPr>
        <p:txBody>
          <a:bodyPr/>
          <a:lstStyle/>
          <a:p>
            <a:endParaRPr lang="en-CN" sz="2000"/>
          </a:p>
        </p:txBody>
      </p:sp>
      <p:sp>
        <p:nvSpPr>
          <p:cNvPr id="29" name="Text 27"/>
          <p:cNvSpPr/>
          <p:nvPr/>
        </p:nvSpPr>
        <p:spPr>
          <a:xfrm>
            <a:off x="493776" y="4261104"/>
            <a:ext cx="274320" cy="27432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30" name="Text 28"/>
          <p:cNvSpPr/>
          <p:nvPr/>
        </p:nvSpPr>
        <p:spPr>
          <a:xfrm>
            <a:off x="841248" y="4233672"/>
            <a:ext cx="3246120" cy="274320"/>
          </a:xfrm>
          <a:prstGeom prst="rect">
            <a:avLst/>
          </a:prstGeom>
          <a:noFill/>
          <a:ln/>
        </p:spPr>
        <p:txBody>
          <a:bodyPr wrap="square" rtlCol="0" anchor="ctr"/>
          <a:lstStyle/>
          <a:p>
            <a:pPr marL="0" indent="0">
              <a:buNone/>
            </a:pPr>
            <a:r>
              <a:rPr lang="en-US" sz="1400" b="1" dirty="0">
                <a:solidFill>
                  <a:srgbClr val="0D2137"/>
                </a:solidFill>
                <a:latin typeface="Calibri" pitchFamily="34" charset="0"/>
                <a:ea typeface="Calibri" pitchFamily="34" charset="-122"/>
                <a:cs typeface="Calibri" pitchFamily="34" charset="-120"/>
              </a:rPr>
              <a:t>Procedure comparisons</a:t>
            </a:r>
            <a:endParaRPr lang="en-US" sz="1400" dirty="0"/>
          </a:p>
        </p:txBody>
      </p:sp>
      <p:sp>
        <p:nvSpPr>
          <p:cNvPr id="31" name="Text 29"/>
          <p:cNvSpPr/>
          <p:nvPr/>
        </p:nvSpPr>
        <p:spPr>
          <a:xfrm>
            <a:off x="841248" y="4517136"/>
            <a:ext cx="3246120" cy="228600"/>
          </a:xfrm>
          <a:prstGeom prst="rect">
            <a:avLst/>
          </a:prstGeom>
          <a:noFill/>
          <a:ln/>
        </p:spPr>
        <p:txBody>
          <a:bodyPr wrap="square" rtlCol="0" anchor="ctr"/>
          <a:lstStyle/>
          <a:p>
            <a:pPr marL="0" indent="0">
              <a:buNone/>
            </a:pPr>
            <a:r>
              <a:rPr lang="en-US" sz="1100" dirty="0">
                <a:solidFill>
                  <a:srgbClr val="5A7080"/>
                </a:solidFill>
                <a:latin typeface="Calibri" pitchFamily="34" charset="0"/>
                <a:ea typeface="Calibri" pitchFamily="34" charset="-122"/>
                <a:cs typeface="Calibri" pitchFamily="34" charset="-120"/>
              </a:rPr>
              <a:t>LASIK vs PRK vs SMILE trade-offs</a:t>
            </a:r>
            <a:endParaRPr lang="en-US" sz="1100" dirty="0"/>
          </a:p>
        </p:txBody>
      </p:sp>
      <p:sp>
        <p:nvSpPr>
          <p:cNvPr id="32" name="Shape 30"/>
          <p:cNvSpPr/>
          <p:nvPr/>
        </p:nvSpPr>
        <p:spPr>
          <a:xfrm>
            <a:off x="4526280" y="932688"/>
            <a:ext cx="4270248" cy="4023360"/>
          </a:xfrm>
          <a:prstGeom prst="rect">
            <a:avLst/>
          </a:prstGeom>
          <a:solidFill>
            <a:srgbClr val="F0F6FA"/>
          </a:solidFill>
          <a:ln w="12700">
            <a:solidFill>
              <a:srgbClr val="D0E4EC"/>
            </a:solidFill>
            <a:prstDash val="solid"/>
          </a:ln>
          <a:effectLst>
            <a:outerShdw blurRad="76200" dist="25400" dir="8100000" algn="bl" rotWithShape="0">
              <a:srgbClr val="000000">
                <a:alpha val="12000"/>
              </a:srgbClr>
            </a:outerShdw>
          </a:effectLst>
        </p:spPr>
        <p:txBody>
          <a:bodyPr/>
          <a:lstStyle/>
          <a:p>
            <a:endParaRPr lang="en-CN" sz="2000"/>
          </a:p>
        </p:txBody>
      </p:sp>
      <p:sp>
        <p:nvSpPr>
          <p:cNvPr id="33" name="Shape 31"/>
          <p:cNvSpPr/>
          <p:nvPr/>
        </p:nvSpPr>
        <p:spPr>
          <a:xfrm>
            <a:off x="4526280" y="932688"/>
            <a:ext cx="4270248" cy="384048"/>
          </a:xfrm>
          <a:prstGeom prst="rect">
            <a:avLst/>
          </a:prstGeom>
          <a:solidFill>
            <a:srgbClr val="E76F51"/>
          </a:solidFill>
          <a:ln w="12700">
            <a:solidFill>
              <a:srgbClr val="E76F51"/>
            </a:solidFill>
            <a:prstDash val="solid"/>
          </a:ln>
        </p:spPr>
        <p:txBody>
          <a:bodyPr/>
          <a:lstStyle/>
          <a:p>
            <a:endParaRPr lang="en-CN" sz="2000"/>
          </a:p>
        </p:txBody>
      </p:sp>
      <p:sp>
        <p:nvSpPr>
          <p:cNvPr id="34" name="Text 32"/>
          <p:cNvSpPr/>
          <p:nvPr/>
        </p:nvSpPr>
        <p:spPr>
          <a:xfrm>
            <a:off x="4526280" y="950976"/>
            <a:ext cx="4270248" cy="347472"/>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Controlled Evaluation Design</a:t>
            </a:r>
            <a:endParaRPr lang="en-US" sz="1400" dirty="0"/>
          </a:p>
        </p:txBody>
      </p:sp>
      <p:sp>
        <p:nvSpPr>
          <p:cNvPr id="35" name="Shape 33"/>
          <p:cNvSpPr/>
          <p:nvPr/>
        </p:nvSpPr>
        <p:spPr>
          <a:xfrm>
            <a:off x="4645152" y="1435608"/>
            <a:ext cx="4023360" cy="749808"/>
          </a:xfrm>
          <a:prstGeom prst="rect">
            <a:avLst/>
          </a:prstGeom>
          <a:solidFill>
            <a:srgbClr val="E8F4F8"/>
          </a:solidFill>
          <a:ln w="6350">
            <a:solidFill>
              <a:srgbClr val="D0E4EC"/>
            </a:solidFill>
            <a:prstDash val="solid"/>
          </a:ln>
        </p:spPr>
        <p:txBody>
          <a:bodyPr/>
          <a:lstStyle/>
          <a:p>
            <a:endParaRPr lang="en-CN" sz="2000"/>
          </a:p>
        </p:txBody>
      </p:sp>
      <p:sp>
        <p:nvSpPr>
          <p:cNvPr id="36" name="Shape 34"/>
          <p:cNvSpPr/>
          <p:nvPr/>
        </p:nvSpPr>
        <p:spPr>
          <a:xfrm>
            <a:off x="4645152" y="1435608"/>
            <a:ext cx="91440" cy="749808"/>
          </a:xfrm>
          <a:prstGeom prst="rect">
            <a:avLst/>
          </a:prstGeom>
          <a:solidFill>
            <a:srgbClr val="5A7080"/>
          </a:solidFill>
          <a:ln w="12700">
            <a:solidFill>
              <a:srgbClr val="5A7080"/>
            </a:solidFill>
            <a:prstDash val="solid"/>
          </a:ln>
        </p:spPr>
        <p:txBody>
          <a:bodyPr/>
          <a:lstStyle/>
          <a:p>
            <a:endParaRPr lang="en-CN" sz="2000"/>
          </a:p>
        </p:txBody>
      </p:sp>
      <p:sp>
        <p:nvSpPr>
          <p:cNvPr id="37" name="Text 35"/>
          <p:cNvSpPr/>
          <p:nvPr/>
        </p:nvSpPr>
        <p:spPr>
          <a:xfrm>
            <a:off x="4800600" y="1481328"/>
            <a:ext cx="3794760" cy="274320"/>
          </a:xfrm>
          <a:prstGeom prst="rect">
            <a:avLst/>
          </a:prstGeom>
          <a:noFill/>
          <a:ln/>
        </p:spPr>
        <p:txBody>
          <a:bodyPr wrap="square" rtlCol="0" anchor="ctr"/>
          <a:lstStyle/>
          <a:p>
            <a:pPr marL="0" indent="0">
              <a:buNone/>
            </a:pPr>
            <a:r>
              <a:rPr lang="en-US" sz="1200" b="1" dirty="0">
                <a:solidFill>
                  <a:srgbClr val="0D2137"/>
                </a:solidFill>
                <a:latin typeface="Calibri" pitchFamily="34" charset="0"/>
                <a:ea typeface="Calibri" pitchFamily="34" charset="-122"/>
                <a:cs typeface="Calibri" pitchFamily="34" charset="-120"/>
              </a:rPr>
              <a:t>Condition A: Without RAG (Baseline)</a:t>
            </a:r>
            <a:endParaRPr lang="en-US" sz="1200" dirty="0"/>
          </a:p>
        </p:txBody>
      </p:sp>
      <p:sp>
        <p:nvSpPr>
          <p:cNvPr id="38" name="Text 36"/>
          <p:cNvSpPr/>
          <p:nvPr/>
        </p:nvSpPr>
        <p:spPr>
          <a:xfrm>
            <a:off x="4800600" y="1764792"/>
            <a:ext cx="3794760" cy="384048"/>
          </a:xfrm>
          <a:prstGeom prst="rect">
            <a:avLst/>
          </a:prstGeom>
          <a:noFill/>
          <a:ln/>
        </p:spPr>
        <p:txBody>
          <a:bodyPr wrap="square" rtlCol="0" anchor="ctr"/>
          <a:lstStyle/>
          <a:p>
            <a:pPr marL="0" indent="0">
              <a:buNone/>
            </a:pPr>
            <a:r>
              <a:rPr lang="en-US" sz="1100" dirty="0">
                <a:solidFill>
                  <a:srgbClr val="5A7080"/>
                </a:solidFill>
                <a:latin typeface="Calibri" pitchFamily="34" charset="0"/>
                <a:ea typeface="Calibri" pitchFamily="34" charset="-122"/>
                <a:cs typeface="Calibri" pitchFamily="34" charset="-120"/>
              </a:rPr>
              <a:t>LLM uses only parametric (training) knowledge — represents current common practice (patients using general-purpose LLMs)</a:t>
            </a:r>
            <a:endParaRPr lang="en-US" sz="1100" dirty="0"/>
          </a:p>
        </p:txBody>
      </p:sp>
      <p:sp>
        <p:nvSpPr>
          <p:cNvPr id="39" name="Shape 37"/>
          <p:cNvSpPr/>
          <p:nvPr/>
        </p:nvSpPr>
        <p:spPr>
          <a:xfrm>
            <a:off x="4645152" y="2304288"/>
            <a:ext cx="4023360" cy="749808"/>
          </a:xfrm>
          <a:prstGeom prst="rect">
            <a:avLst/>
          </a:prstGeom>
          <a:solidFill>
            <a:srgbClr val="E8F4F8"/>
          </a:solidFill>
          <a:ln w="6350">
            <a:solidFill>
              <a:srgbClr val="D0E4EC"/>
            </a:solidFill>
            <a:prstDash val="solid"/>
          </a:ln>
        </p:spPr>
        <p:txBody>
          <a:bodyPr/>
          <a:lstStyle/>
          <a:p>
            <a:endParaRPr lang="en-CN" sz="2000"/>
          </a:p>
        </p:txBody>
      </p:sp>
      <p:sp>
        <p:nvSpPr>
          <p:cNvPr id="40" name="Shape 38"/>
          <p:cNvSpPr/>
          <p:nvPr/>
        </p:nvSpPr>
        <p:spPr>
          <a:xfrm>
            <a:off x="4645152" y="2304288"/>
            <a:ext cx="91440" cy="749808"/>
          </a:xfrm>
          <a:prstGeom prst="rect">
            <a:avLst/>
          </a:prstGeom>
          <a:solidFill>
            <a:srgbClr val="028090"/>
          </a:solidFill>
          <a:ln w="12700">
            <a:solidFill>
              <a:srgbClr val="028090"/>
            </a:solidFill>
            <a:prstDash val="solid"/>
          </a:ln>
        </p:spPr>
        <p:txBody>
          <a:bodyPr/>
          <a:lstStyle/>
          <a:p>
            <a:endParaRPr lang="en-CN" sz="2000"/>
          </a:p>
        </p:txBody>
      </p:sp>
      <p:sp>
        <p:nvSpPr>
          <p:cNvPr id="41" name="Text 39"/>
          <p:cNvSpPr/>
          <p:nvPr/>
        </p:nvSpPr>
        <p:spPr>
          <a:xfrm>
            <a:off x="4800600" y="2350008"/>
            <a:ext cx="3794760" cy="274320"/>
          </a:xfrm>
          <a:prstGeom prst="rect">
            <a:avLst/>
          </a:prstGeom>
          <a:noFill/>
          <a:ln/>
        </p:spPr>
        <p:txBody>
          <a:bodyPr wrap="square" rtlCol="0" anchor="ctr"/>
          <a:lstStyle/>
          <a:p>
            <a:pPr marL="0" indent="0">
              <a:buNone/>
            </a:pPr>
            <a:r>
              <a:rPr lang="en-US" sz="1200" b="1" dirty="0">
                <a:solidFill>
                  <a:srgbClr val="0D2137"/>
                </a:solidFill>
                <a:latin typeface="Calibri" pitchFamily="34" charset="0"/>
                <a:ea typeface="Calibri" pitchFamily="34" charset="-122"/>
                <a:cs typeface="Calibri" pitchFamily="34" charset="-120"/>
              </a:rPr>
              <a:t>Condition B: With RAG</a:t>
            </a:r>
            <a:endParaRPr lang="en-US" sz="1200" dirty="0"/>
          </a:p>
        </p:txBody>
      </p:sp>
      <p:sp>
        <p:nvSpPr>
          <p:cNvPr id="42" name="Text 40"/>
          <p:cNvSpPr/>
          <p:nvPr/>
        </p:nvSpPr>
        <p:spPr>
          <a:xfrm>
            <a:off x="4800600" y="2633472"/>
            <a:ext cx="3794760" cy="384048"/>
          </a:xfrm>
          <a:prstGeom prst="rect">
            <a:avLst/>
          </a:prstGeom>
          <a:noFill/>
          <a:ln/>
        </p:spPr>
        <p:txBody>
          <a:bodyPr wrap="square" rtlCol="0" anchor="ctr"/>
          <a:lstStyle/>
          <a:p>
            <a:pPr marL="0" indent="0">
              <a:buNone/>
            </a:pPr>
            <a:r>
              <a:rPr lang="en-US" sz="1100" dirty="0">
                <a:solidFill>
                  <a:srgbClr val="5A7080"/>
                </a:solidFill>
                <a:latin typeface="Calibri" pitchFamily="34" charset="0"/>
                <a:ea typeface="Calibri" pitchFamily="34" charset="-122"/>
                <a:cs typeface="Calibri" pitchFamily="34" charset="-120"/>
              </a:rPr>
              <a:t>LLM conditioned on top-k=2 retrieved AAO medical documents — identical system prompt, only difference is knowledge grounding</a:t>
            </a:r>
            <a:endParaRPr lang="en-US" sz="1100" dirty="0"/>
          </a:p>
        </p:txBody>
      </p:sp>
      <p:sp>
        <p:nvSpPr>
          <p:cNvPr id="43" name="Shape 41"/>
          <p:cNvSpPr/>
          <p:nvPr/>
        </p:nvSpPr>
        <p:spPr>
          <a:xfrm>
            <a:off x="4645152" y="3172968"/>
            <a:ext cx="4023360" cy="749808"/>
          </a:xfrm>
          <a:prstGeom prst="rect">
            <a:avLst/>
          </a:prstGeom>
          <a:solidFill>
            <a:srgbClr val="EFF8F8"/>
          </a:solidFill>
          <a:ln w="6350">
            <a:solidFill>
              <a:srgbClr val="D0E4EC"/>
            </a:solidFill>
            <a:prstDash val="solid"/>
          </a:ln>
        </p:spPr>
        <p:txBody>
          <a:bodyPr/>
          <a:lstStyle/>
          <a:p>
            <a:endParaRPr lang="en-CN" sz="2000"/>
          </a:p>
        </p:txBody>
      </p:sp>
      <p:sp>
        <p:nvSpPr>
          <p:cNvPr id="44" name="Shape 42"/>
          <p:cNvSpPr/>
          <p:nvPr/>
        </p:nvSpPr>
        <p:spPr>
          <a:xfrm>
            <a:off x="4645152" y="3172968"/>
            <a:ext cx="91440" cy="749808"/>
          </a:xfrm>
          <a:prstGeom prst="rect">
            <a:avLst/>
          </a:prstGeom>
          <a:solidFill>
            <a:srgbClr val="0D2137"/>
          </a:solidFill>
          <a:ln w="12700">
            <a:solidFill>
              <a:srgbClr val="0D2137"/>
            </a:solidFill>
            <a:prstDash val="solid"/>
          </a:ln>
        </p:spPr>
        <p:txBody>
          <a:bodyPr/>
          <a:lstStyle/>
          <a:p>
            <a:endParaRPr lang="en-CN" sz="2000"/>
          </a:p>
        </p:txBody>
      </p:sp>
      <p:sp>
        <p:nvSpPr>
          <p:cNvPr id="45" name="Text 43"/>
          <p:cNvSpPr/>
          <p:nvPr/>
        </p:nvSpPr>
        <p:spPr>
          <a:xfrm>
            <a:off x="4800600" y="3218688"/>
            <a:ext cx="3794760" cy="274320"/>
          </a:xfrm>
          <a:prstGeom prst="rect">
            <a:avLst/>
          </a:prstGeom>
          <a:noFill/>
          <a:ln/>
        </p:spPr>
        <p:txBody>
          <a:bodyPr wrap="square" rtlCol="0" anchor="ctr"/>
          <a:lstStyle/>
          <a:p>
            <a:pPr marL="0" indent="0">
              <a:buNone/>
            </a:pPr>
            <a:r>
              <a:rPr lang="en-US" sz="1200" b="1" dirty="0">
                <a:solidFill>
                  <a:srgbClr val="0D2137"/>
                </a:solidFill>
                <a:latin typeface="Calibri" pitchFamily="34" charset="0"/>
                <a:ea typeface="Calibri" pitchFamily="34" charset="-122"/>
                <a:cs typeface="Calibri" pitchFamily="34" charset="-120"/>
              </a:rPr>
              <a:t>Controlled Variables</a:t>
            </a:r>
            <a:endParaRPr lang="en-US" sz="1200" dirty="0"/>
          </a:p>
        </p:txBody>
      </p:sp>
      <p:sp>
        <p:nvSpPr>
          <p:cNvPr id="46" name="Text 44"/>
          <p:cNvSpPr/>
          <p:nvPr/>
        </p:nvSpPr>
        <p:spPr>
          <a:xfrm>
            <a:off x="4800600" y="3502152"/>
            <a:ext cx="3794760" cy="384048"/>
          </a:xfrm>
          <a:prstGeom prst="rect">
            <a:avLst/>
          </a:prstGeom>
          <a:noFill/>
          <a:ln/>
        </p:spPr>
        <p:txBody>
          <a:bodyPr wrap="square" rtlCol="0" anchor="ctr"/>
          <a:lstStyle/>
          <a:p>
            <a:pPr marL="0" indent="0">
              <a:buNone/>
            </a:pPr>
            <a:r>
              <a:rPr lang="en-US" sz="1100" dirty="0">
                <a:solidFill>
                  <a:srgbClr val="5A7080"/>
                </a:solidFill>
                <a:latin typeface="Calibri" pitchFamily="34" charset="0"/>
                <a:ea typeface="Calibri" pitchFamily="34" charset="-122"/>
                <a:cs typeface="Calibri" pitchFamily="34" charset="-120"/>
              </a:rPr>
              <a:t>Same system prompt (compassionate ophthalmologist persona) · Same 25 questions · Physician blinded to condition during scoring</a:t>
            </a:r>
            <a:endParaRPr lang="en-US" sz="1100" dirty="0"/>
          </a:p>
        </p:txBody>
      </p:sp>
      <p:sp>
        <p:nvSpPr>
          <p:cNvPr id="47" name="Shape 45"/>
          <p:cNvSpPr/>
          <p:nvPr/>
        </p:nvSpPr>
        <p:spPr>
          <a:xfrm>
            <a:off x="4645152" y="4041648"/>
            <a:ext cx="4023360" cy="749808"/>
          </a:xfrm>
          <a:prstGeom prst="rect">
            <a:avLst/>
          </a:prstGeom>
          <a:solidFill>
            <a:srgbClr val="FBF0EE"/>
          </a:solidFill>
          <a:ln w="6350">
            <a:solidFill>
              <a:srgbClr val="D0E4EC"/>
            </a:solidFill>
            <a:prstDash val="solid"/>
          </a:ln>
        </p:spPr>
        <p:txBody>
          <a:bodyPr/>
          <a:lstStyle/>
          <a:p>
            <a:endParaRPr lang="en-CN" sz="2000"/>
          </a:p>
        </p:txBody>
      </p:sp>
      <p:sp>
        <p:nvSpPr>
          <p:cNvPr id="48" name="Shape 46"/>
          <p:cNvSpPr/>
          <p:nvPr/>
        </p:nvSpPr>
        <p:spPr>
          <a:xfrm>
            <a:off x="4645152" y="4041648"/>
            <a:ext cx="91440" cy="749808"/>
          </a:xfrm>
          <a:prstGeom prst="rect">
            <a:avLst/>
          </a:prstGeom>
          <a:solidFill>
            <a:srgbClr val="E76F51"/>
          </a:solidFill>
          <a:ln w="12700">
            <a:solidFill>
              <a:srgbClr val="E76F51"/>
            </a:solidFill>
            <a:prstDash val="solid"/>
          </a:ln>
        </p:spPr>
        <p:txBody>
          <a:bodyPr/>
          <a:lstStyle/>
          <a:p>
            <a:endParaRPr lang="en-CN" sz="2000"/>
          </a:p>
        </p:txBody>
      </p:sp>
      <p:sp>
        <p:nvSpPr>
          <p:cNvPr id="49" name="Text 47"/>
          <p:cNvSpPr/>
          <p:nvPr/>
        </p:nvSpPr>
        <p:spPr>
          <a:xfrm>
            <a:off x="4800600" y="4087368"/>
            <a:ext cx="3794760" cy="274320"/>
          </a:xfrm>
          <a:prstGeom prst="rect">
            <a:avLst/>
          </a:prstGeom>
          <a:noFill/>
          <a:ln/>
        </p:spPr>
        <p:txBody>
          <a:bodyPr wrap="square" rtlCol="0" anchor="ctr"/>
          <a:lstStyle/>
          <a:p>
            <a:pPr marL="0" indent="0">
              <a:buNone/>
            </a:pPr>
            <a:r>
              <a:rPr lang="en-US" sz="1200" b="1" dirty="0">
                <a:solidFill>
                  <a:srgbClr val="0D2137"/>
                </a:solidFill>
                <a:latin typeface="Calibri" pitchFamily="34" charset="0"/>
                <a:ea typeface="Calibri" pitchFamily="34" charset="-122"/>
                <a:cs typeface="Calibri" pitchFamily="34" charset="-120"/>
              </a:rPr>
              <a:t>5-Point Physician Scoring Rubric</a:t>
            </a:r>
            <a:endParaRPr lang="en-US" sz="1200" dirty="0"/>
          </a:p>
        </p:txBody>
      </p:sp>
      <p:sp>
        <p:nvSpPr>
          <p:cNvPr id="50" name="Text 48"/>
          <p:cNvSpPr/>
          <p:nvPr/>
        </p:nvSpPr>
        <p:spPr>
          <a:xfrm>
            <a:off x="4800600" y="4370832"/>
            <a:ext cx="3794760" cy="384048"/>
          </a:xfrm>
          <a:prstGeom prst="rect">
            <a:avLst/>
          </a:prstGeom>
          <a:noFill/>
          <a:ln/>
        </p:spPr>
        <p:txBody>
          <a:bodyPr wrap="square" rtlCol="0" anchor="ctr"/>
          <a:lstStyle/>
          <a:p>
            <a:pPr marL="0" indent="0">
              <a:buNone/>
            </a:pPr>
            <a:r>
              <a:rPr lang="en-US" sz="1100" dirty="0">
                <a:solidFill>
                  <a:srgbClr val="5A7080"/>
                </a:solidFill>
                <a:latin typeface="Calibri" pitchFamily="34" charset="0"/>
                <a:ea typeface="Calibri" pitchFamily="34" charset="-122"/>
                <a:cs typeface="Calibri" pitchFamily="34" charset="-120"/>
              </a:rPr>
              <a:t>1=Incorrect/dangerous  ·  2=Poor  ·  3=Adequate  ·  4=Good  ·  5=Accurate &amp; complete; based on factual correctness, completeness, safety &amp; appropriateness</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D08449-D74B-A4D2-E6CB-70986B7CEED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C9BFE1F-C2D4-80CF-FCB8-A6C59EF53FE1}"/>
              </a:ext>
            </a:extLst>
          </p:cNvPr>
          <p:cNvSpPr/>
          <p:nvPr/>
        </p:nvSpPr>
        <p:spPr>
          <a:xfrm>
            <a:off x="457199" y="73885"/>
            <a:ext cx="8229600" cy="315361"/>
          </a:xfrm>
          <a:prstGeom prst="rect">
            <a:avLst/>
          </a:prstGeom>
          <a:noFill/>
          <a:ln/>
        </p:spPr>
        <p:txBody>
          <a:bodyPr wrap="square" lIns="0" tIns="0" rIns="0" bIns="0" rtlCol="0" anchor="ctr"/>
          <a:lstStyle/>
          <a:p>
            <a:r>
              <a:rPr lang="en-US" sz="2400" b="1" dirty="0">
                <a:solidFill>
                  <a:srgbClr val="0D2137"/>
                </a:solidFill>
                <a:latin typeface="Calibri" pitchFamily="34" charset="0"/>
                <a:ea typeface="Calibri" pitchFamily="34" charset="-122"/>
                <a:cs typeface="Calibri" pitchFamily="34" charset="-120"/>
              </a:rPr>
              <a:t>PART 2 — EXAMPLES</a:t>
            </a:r>
            <a:endParaRPr lang="en-US" sz="2400" dirty="0"/>
          </a:p>
        </p:txBody>
      </p:sp>
      <p:sp>
        <p:nvSpPr>
          <p:cNvPr id="3" name="Shape 1">
            <a:extLst>
              <a:ext uri="{FF2B5EF4-FFF2-40B4-BE49-F238E27FC236}">
                <a16:creationId xmlns:a16="http://schemas.microsoft.com/office/drawing/2014/main" id="{3CC4B1DC-B4BC-BB83-D352-AA777FE56E78}"/>
              </a:ext>
            </a:extLst>
          </p:cNvPr>
          <p:cNvSpPr/>
          <p:nvPr/>
        </p:nvSpPr>
        <p:spPr>
          <a:xfrm>
            <a:off x="416124" y="351461"/>
            <a:ext cx="8229600" cy="0"/>
          </a:xfrm>
          <a:prstGeom prst="line">
            <a:avLst/>
          </a:prstGeom>
          <a:noFill/>
          <a:ln w="25400">
            <a:solidFill>
              <a:srgbClr val="028090"/>
            </a:solidFill>
            <a:prstDash val="solid"/>
          </a:ln>
        </p:spPr>
        <p:txBody>
          <a:bodyPr/>
          <a:lstStyle/>
          <a:p>
            <a:endParaRPr lang="en-CN"/>
          </a:p>
        </p:txBody>
      </p:sp>
      <p:graphicFrame>
        <p:nvGraphicFramePr>
          <p:cNvPr id="31" name="Table 30">
            <a:extLst>
              <a:ext uri="{FF2B5EF4-FFF2-40B4-BE49-F238E27FC236}">
                <a16:creationId xmlns:a16="http://schemas.microsoft.com/office/drawing/2014/main" id="{DCA4ACA4-0358-30FF-790C-E1D80F33B4BB}"/>
              </a:ext>
            </a:extLst>
          </p:cNvPr>
          <p:cNvGraphicFramePr>
            <a:graphicFrameLocks noGrp="1"/>
          </p:cNvGraphicFramePr>
          <p:nvPr>
            <p:extLst>
              <p:ext uri="{D42A27DB-BD31-4B8C-83A1-F6EECF244321}">
                <p14:modId xmlns:p14="http://schemas.microsoft.com/office/powerpoint/2010/main" val="3254517622"/>
              </p:ext>
            </p:extLst>
          </p:nvPr>
        </p:nvGraphicFramePr>
        <p:xfrm>
          <a:off x="45342" y="389246"/>
          <a:ext cx="9080693" cy="4754250"/>
        </p:xfrm>
        <a:graphic>
          <a:graphicData uri="http://schemas.openxmlformats.org/drawingml/2006/table">
            <a:tbl>
              <a:tblPr>
                <a:tableStyleId>{616DA210-FB5B-4158-B5E0-FEB733F419BA}</a:tableStyleId>
              </a:tblPr>
              <a:tblGrid>
                <a:gridCol w="551883">
                  <a:extLst>
                    <a:ext uri="{9D8B030D-6E8A-4147-A177-3AD203B41FA5}">
                      <a16:colId xmlns:a16="http://schemas.microsoft.com/office/drawing/2014/main" val="2583346485"/>
                    </a:ext>
                  </a:extLst>
                </a:gridCol>
                <a:gridCol w="2176508">
                  <a:extLst>
                    <a:ext uri="{9D8B030D-6E8A-4147-A177-3AD203B41FA5}">
                      <a16:colId xmlns:a16="http://schemas.microsoft.com/office/drawing/2014/main" val="2111596579"/>
                    </a:ext>
                  </a:extLst>
                </a:gridCol>
                <a:gridCol w="278351">
                  <a:extLst>
                    <a:ext uri="{9D8B030D-6E8A-4147-A177-3AD203B41FA5}">
                      <a16:colId xmlns:a16="http://schemas.microsoft.com/office/drawing/2014/main" val="1174196295"/>
                    </a:ext>
                  </a:extLst>
                </a:gridCol>
                <a:gridCol w="5706974">
                  <a:extLst>
                    <a:ext uri="{9D8B030D-6E8A-4147-A177-3AD203B41FA5}">
                      <a16:colId xmlns:a16="http://schemas.microsoft.com/office/drawing/2014/main" val="2079826011"/>
                    </a:ext>
                  </a:extLst>
                </a:gridCol>
                <a:gridCol w="366977">
                  <a:extLst>
                    <a:ext uri="{9D8B030D-6E8A-4147-A177-3AD203B41FA5}">
                      <a16:colId xmlns:a16="http://schemas.microsoft.com/office/drawing/2014/main" val="3618123863"/>
                    </a:ext>
                  </a:extLst>
                </a:gridCol>
              </a:tblGrid>
              <a:tr h="217626">
                <a:tc>
                  <a:txBody>
                    <a:bodyPr/>
                    <a:lstStyle/>
                    <a:p>
                      <a:pPr algn="ctr" fontAlgn="ctr">
                        <a:buNone/>
                      </a:pPr>
                      <a:r>
                        <a:rPr lang="en-US" sz="700" u="none" strike="noStrike" dirty="0">
                          <a:effectLst/>
                        </a:rPr>
                        <a:t>Question</a:t>
                      </a:r>
                      <a:endParaRPr lang="en-US" sz="700" b="1" i="0" u="none" strike="noStrike" dirty="0">
                        <a:solidFill>
                          <a:srgbClr val="FFFFFF"/>
                        </a:solidFill>
                        <a:effectLst/>
                        <a:latin typeface="Calibri" panose="020F0502020204030204" pitchFamily="34" charset="0"/>
                      </a:endParaRPr>
                    </a:p>
                  </a:txBody>
                  <a:tcPr marL="1841" marR="1841" marT="1841" marB="0" anchor="ctr"/>
                </a:tc>
                <a:tc>
                  <a:txBody>
                    <a:bodyPr/>
                    <a:lstStyle/>
                    <a:p>
                      <a:pPr algn="ctr" fontAlgn="ctr">
                        <a:buNone/>
                      </a:pPr>
                      <a:r>
                        <a:rPr lang="en-US" sz="700" u="none" strike="noStrike" dirty="0" err="1">
                          <a:effectLst/>
                        </a:rPr>
                        <a:t>Answer_NoRAG</a:t>
                      </a:r>
                      <a:endParaRPr lang="en-US" sz="700" b="1" i="0" u="none" strike="noStrike" dirty="0">
                        <a:solidFill>
                          <a:srgbClr val="FFFFFF"/>
                        </a:solidFill>
                        <a:effectLst/>
                        <a:latin typeface="Calibri" panose="020F0502020204030204" pitchFamily="34" charset="0"/>
                      </a:endParaRPr>
                    </a:p>
                  </a:txBody>
                  <a:tcPr marL="1841" marR="1841" marT="1841" marB="0" anchor="ctr"/>
                </a:tc>
                <a:tc>
                  <a:txBody>
                    <a:bodyPr/>
                    <a:lstStyle/>
                    <a:p>
                      <a:pPr algn="ctr" fontAlgn="ctr">
                        <a:buNone/>
                      </a:pPr>
                      <a:r>
                        <a:rPr lang="en-US" sz="700" u="none" strike="noStrike" dirty="0" err="1">
                          <a:effectLst/>
                        </a:rPr>
                        <a:t>Score_NoRAG</a:t>
                      </a:r>
                      <a:endParaRPr lang="en-US" sz="700" b="1" i="0" u="none" strike="noStrike" dirty="0">
                        <a:solidFill>
                          <a:srgbClr val="FFFFFF"/>
                        </a:solidFill>
                        <a:effectLst/>
                        <a:latin typeface="Calibri" panose="020F0502020204030204" pitchFamily="34" charset="0"/>
                      </a:endParaRPr>
                    </a:p>
                  </a:txBody>
                  <a:tcPr marL="1841" marR="1841" marT="1841" marB="0" anchor="ctr"/>
                </a:tc>
                <a:tc>
                  <a:txBody>
                    <a:bodyPr/>
                    <a:lstStyle/>
                    <a:p>
                      <a:pPr algn="ctr" fontAlgn="ctr">
                        <a:buNone/>
                      </a:pPr>
                      <a:r>
                        <a:rPr lang="en-US" sz="700" u="none" strike="noStrike" dirty="0" err="1">
                          <a:effectLst/>
                        </a:rPr>
                        <a:t>Answer_WithRAG</a:t>
                      </a:r>
                      <a:endParaRPr lang="en-US" sz="700" b="1" i="0" u="none" strike="noStrike" dirty="0">
                        <a:solidFill>
                          <a:srgbClr val="FFFFFF"/>
                        </a:solidFill>
                        <a:effectLst/>
                        <a:latin typeface="Calibri" panose="020F0502020204030204" pitchFamily="34" charset="0"/>
                      </a:endParaRPr>
                    </a:p>
                  </a:txBody>
                  <a:tcPr marL="1841" marR="1841" marT="1841" marB="0" anchor="ctr"/>
                </a:tc>
                <a:tc>
                  <a:txBody>
                    <a:bodyPr/>
                    <a:lstStyle/>
                    <a:p>
                      <a:pPr algn="ctr" fontAlgn="ctr">
                        <a:buNone/>
                      </a:pPr>
                      <a:r>
                        <a:rPr lang="en-US" sz="700" u="none" strike="noStrike" dirty="0" err="1">
                          <a:effectLst/>
                        </a:rPr>
                        <a:t>Score_WithRAG</a:t>
                      </a:r>
                      <a:endParaRPr lang="en-US" sz="700" b="1" i="0" u="none" strike="noStrike" dirty="0">
                        <a:solidFill>
                          <a:srgbClr val="FFFFFF"/>
                        </a:solidFill>
                        <a:effectLst/>
                        <a:latin typeface="Calibri" panose="020F0502020204030204" pitchFamily="34" charset="0"/>
                      </a:endParaRPr>
                    </a:p>
                  </a:txBody>
                  <a:tcPr marL="1841" marR="1841" marT="1841" marB="0" anchor="ctr"/>
                </a:tc>
                <a:extLst>
                  <a:ext uri="{0D108BD9-81ED-4DB2-BD59-A6C34878D82A}">
                    <a16:rowId xmlns:a16="http://schemas.microsoft.com/office/drawing/2014/main" val="3935060753"/>
                  </a:ext>
                </a:extLst>
              </a:tr>
              <a:tr h="1620090">
                <a:tc>
                  <a:txBody>
                    <a:bodyPr/>
                    <a:lstStyle/>
                    <a:p>
                      <a:pPr algn="ctr" fontAlgn="t">
                        <a:buNone/>
                      </a:pPr>
                      <a:r>
                        <a:rPr lang="en-US" sz="700" u="none" strike="noStrike" dirty="0">
                          <a:effectLst/>
                        </a:rPr>
                        <a:t>1. What is refractive surgery?</a:t>
                      </a:r>
                      <a:endParaRPr lang="en-US" sz="700" b="0" i="0" u="none" strike="noStrike" dirty="0">
                        <a:solidFill>
                          <a:srgbClr val="000000"/>
                        </a:solidFill>
                        <a:effectLst/>
                        <a:latin typeface="Calibri" panose="020F0502020204030204" pitchFamily="34" charset="0"/>
                      </a:endParaRPr>
                    </a:p>
                  </a:txBody>
                  <a:tcPr marL="1841" marR="1841" marT="1841" marB="0"/>
                </a:tc>
                <a:tc>
                  <a:txBody>
                    <a:bodyPr/>
                    <a:lstStyle/>
                    <a:p>
                      <a:pPr algn="l" fontAlgn="t">
                        <a:buNone/>
                      </a:pPr>
                      <a:r>
                        <a:rPr lang="en-US" sz="700" u="none" strike="noStrike" dirty="0">
                          <a:effectLst/>
                        </a:rPr>
                        <a:t>Refractive surgery is a specialized eye care procedure aimed at correcting vision by altering the shape of the eye's lens. It targets areas where light needs to be properly focused, often requiring significant restructuring or removal of tissue around prescriptions. This allows clear lenses to focus on all parts of the eye, enhancing vision without heavy use in sensitive areas. Typically done by optometrists, it can improve conditions like myopia, hyperopia, or presbyopia. It's recommended for those with complex prescriptions or limited near vision, providing a way to maintain clear vision while minimizing discomfort.</a:t>
                      </a:r>
                      <a:endParaRPr lang="en-US" sz="700" b="0" i="0" u="none" strike="noStrike" dirty="0">
                        <a:solidFill>
                          <a:srgbClr val="000000"/>
                        </a:solidFill>
                        <a:effectLst/>
                        <a:latin typeface="Calibri" panose="020F0502020204030204" pitchFamily="34" charset="0"/>
                      </a:endParaRPr>
                    </a:p>
                  </a:txBody>
                  <a:tcPr marL="1841" marR="1841" marT="1841" marB="0"/>
                </a:tc>
                <a:tc>
                  <a:txBody>
                    <a:bodyPr/>
                    <a:lstStyle/>
                    <a:p>
                      <a:pPr algn="ctr" fontAlgn="b">
                        <a:buNone/>
                      </a:pPr>
                      <a:r>
                        <a:rPr lang="en-CN" sz="700" u="none" strike="noStrike" dirty="0">
                          <a:effectLst/>
                        </a:rPr>
                        <a:t>3</a:t>
                      </a:r>
                      <a:endParaRPr lang="en-CN" sz="700" b="0" i="0" u="none" strike="noStrike" dirty="0">
                        <a:solidFill>
                          <a:srgbClr val="000000"/>
                        </a:solidFill>
                        <a:effectLst/>
                        <a:latin typeface="Calibri" panose="020F0502020204030204" pitchFamily="34" charset="0"/>
                      </a:endParaRPr>
                    </a:p>
                  </a:txBody>
                  <a:tcPr marL="1841" marR="1841" marT="1841" marB="0" anchor="b"/>
                </a:tc>
                <a:tc>
                  <a:txBody>
                    <a:bodyPr/>
                    <a:lstStyle/>
                    <a:p>
                      <a:pPr algn="l" fontAlgn="t">
                        <a:buNone/>
                      </a:pPr>
                      <a:r>
                        <a:rPr lang="en-US" sz="700" u="none" strike="noStrike" dirty="0">
                          <a:effectLst/>
                        </a:rPr>
                        <a:t>**Refraction Surgery Explained**</a:t>
                      </a:r>
                      <a:br>
                        <a:rPr lang="en-US" sz="700" u="none" strike="noStrike" dirty="0">
                          <a:effectLst/>
                        </a:rPr>
                      </a:br>
                      <a:r>
                        <a:rPr lang="en-US" sz="700" u="none" strike="noStrike" dirty="0">
                          <a:effectLst/>
                        </a:rPr>
                        <a:t>**What is Refraction Surgery?**  </a:t>
                      </a:r>
                      <a:br>
                        <a:rPr lang="en-US" sz="700" u="none" strike="noStrike" dirty="0">
                          <a:effectLst/>
                        </a:rPr>
                      </a:br>
                      <a:r>
                        <a:rPr lang="en-US" sz="700" u="none" strike="noStrike" dirty="0">
                          <a:effectLst/>
                        </a:rPr>
                        <a:t>Refraction surgery involves altering the shape of an eye to correct vision issues like myopia (nearsightedness), hyperopia (farsightedness), or astigmatism. It uses advanced technologies like corneal </a:t>
                      </a:r>
                      <a:r>
                        <a:rPr lang="en-US" sz="700" u="none" strike="noStrike" dirty="0" err="1">
                          <a:effectLst/>
                        </a:rPr>
                        <a:t>photocoherence</a:t>
                      </a:r>
                      <a:r>
                        <a:rPr lang="en-US" sz="700" u="none" strike="noStrike" dirty="0">
                          <a:effectLst/>
                        </a:rPr>
                        <a:t> to create artificial lenses.</a:t>
                      </a:r>
                      <a:br>
                        <a:rPr lang="en-US" sz="700" u="none" strike="noStrike" dirty="0">
                          <a:effectLst/>
                        </a:rPr>
                      </a:br>
                      <a:r>
                        <a:rPr lang="en-US" sz="700" u="none" strike="noStrike" dirty="0">
                          <a:effectLst/>
                        </a:rPr>
                        <a:t>**Risks and Considerations:**  </a:t>
                      </a:r>
                      <a:br>
                        <a:rPr lang="en-US" sz="700" u="none" strike="noStrike" dirty="0">
                          <a:effectLst/>
                        </a:rPr>
                      </a:br>
                      <a:r>
                        <a:rPr lang="en-US" sz="700" u="none" strike="noStrike" dirty="0">
                          <a:effectLst/>
                        </a:rPr>
                        <a:t>- **Side Effects:** Some patients may experience discomfort, nausea, or difficulty concentrating during surgery.</a:t>
                      </a:r>
                      <a:br>
                        <a:rPr lang="en-US" sz="700" u="none" strike="noStrike" dirty="0">
                          <a:effectLst/>
                        </a:rPr>
                      </a:br>
                      <a:r>
                        <a:rPr lang="en-US" sz="700" u="none" strike="noStrike" dirty="0">
                          <a:effectLst/>
                        </a:rPr>
                        <a:t>- **Post-Surgical Concerns:** If vision remains unclear after the procedure, further testing might be recommended. They’ll need clear glasses or contact lenses tailored to their needs.</a:t>
                      </a:r>
                      <a:br>
                        <a:rPr lang="en-US" sz="700" u="none" strike="noStrike" dirty="0">
                          <a:effectLst/>
                        </a:rPr>
                      </a:br>
                      <a:r>
                        <a:rPr lang="en-US" sz="700" u="none" strike="noStrike" dirty="0">
                          <a:effectLst/>
                        </a:rPr>
                        <a:t>**Types of Refraction Surgery:**</a:t>
                      </a:r>
                      <a:br>
                        <a:rPr lang="en-US" sz="700" u="none" strike="noStrike" dirty="0">
                          <a:effectLst/>
                        </a:rPr>
                      </a:br>
                      <a:r>
                        <a:rPr lang="en-US" sz="700" u="none" strike="noStrike" dirty="0">
                          <a:effectLst/>
                        </a:rPr>
                        <a:t>- **</a:t>
                      </a:r>
                      <a:r>
                        <a:rPr lang="en-US" sz="700" u="none" strike="noStrike" dirty="0" err="1">
                          <a:effectLst/>
                        </a:rPr>
                        <a:t>Keratoconstrictive</a:t>
                      </a:r>
                      <a:r>
                        <a:rPr lang="en-US" sz="700" u="none" strike="noStrike" dirty="0">
                          <a:effectLst/>
                        </a:rPr>
                        <a:t> Surgery:** Typically used for mild myopia or hyperopia.</a:t>
                      </a:r>
                      <a:br>
                        <a:rPr lang="en-US" sz="700" u="none" strike="noStrike" dirty="0">
                          <a:effectLst/>
                        </a:rPr>
                      </a:br>
                      <a:r>
                        <a:rPr lang="en-US" sz="700" u="none" strike="noStrike" dirty="0">
                          <a:effectLst/>
                        </a:rPr>
                        <a:t>- **</a:t>
                      </a:r>
                      <a:r>
                        <a:rPr lang="en-US" sz="700" u="none" strike="noStrike" dirty="0" err="1">
                          <a:effectLst/>
                        </a:rPr>
                        <a:t>Keratopraxia</a:t>
                      </a:r>
                      <a:r>
                        <a:rPr lang="en-US" sz="700" u="none" strike="noStrike" dirty="0">
                          <a:effectLst/>
                        </a:rPr>
                        <a:t> (Topical/Regional Anesthesia):** May provide a more comfortable experience by reducing discomfort but may require local anesthesia.</a:t>
                      </a:r>
                      <a:br>
                        <a:rPr lang="en-US" sz="700" u="none" strike="noStrike" dirty="0">
                          <a:effectLst/>
                        </a:rPr>
                      </a:br>
                      <a:r>
                        <a:rPr lang="en-US" sz="700" u="none" strike="noStrike" dirty="0">
                          <a:effectLst/>
                        </a:rPr>
                        <a:t>**What to Expect:**  </a:t>
                      </a:r>
                      <a:br>
                        <a:rPr lang="en-US" sz="700" u="none" strike="noStrike" dirty="0">
                          <a:effectLst/>
                        </a:rPr>
                      </a:br>
                      <a:r>
                        <a:rPr lang="en-US" sz="700" u="none" strike="noStrike" dirty="0">
                          <a:effectLst/>
                        </a:rPr>
                        <a:t>After surgery, patients may have difficulty concentrating. It’s essential to guide them through the recovery process and remind them to consult their eye care physician for personalized advice.</a:t>
                      </a:r>
                      <a:br>
                        <a:rPr lang="en-US" sz="700" u="none" strike="noStrike" dirty="0">
                          <a:effectLst/>
                        </a:rPr>
                      </a:br>
                      <a:r>
                        <a:rPr lang="en-US" sz="700" u="none" strike="noStrike" dirty="0">
                          <a:effectLst/>
                        </a:rPr>
                        <a:t>Letting your patient know that refractive surgery is a treatment option for vision correction can empower them.</a:t>
                      </a:r>
                      <a:endParaRPr lang="en-US" sz="700" b="0" i="0" u="none" strike="noStrike" dirty="0">
                        <a:solidFill>
                          <a:srgbClr val="000000"/>
                        </a:solidFill>
                        <a:effectLst/>
                        <a:latin typeface="Calibri" panose="020F0502020204030204" pitchFamily="34" charset="0"/>
                      </a:endParaRPr>
                    </a:p>
                  </a:txBody>
                  <a:tcPr marL="1841" marR="1841" marT="1841" marB="0"/>
                </a:tc>
                <a:tc>
                  <a:txBody>
                    <a:bodyPr/>
                    <a:lstStyle/>
                    <a:p>
                      <a:pPr algn="ctr" fontAlgn="b">
                        <a:buNone/>
                      </a:pPr>
                      <a:r>
                        <a:rPr lang="en-CN" sz="700" b="0" u="none" strike="noStrike" dirty="0">
                          <a:solidFill>
                            <a:srgbClr val="000000"/>
                          </a:solidFill>
                          <a:effectLst/>
                        </a:rPr>
                        <a:t>4</a:t>
                      </a:r>
                      <a:endParaRPr lang="en-CN" sz="700" b="0" i="0" u="none" strike="noStrike" dirty="0">
                        <a:solidFill>
                          <a:srgbClr val="000000"/>
                        </a:solidFill>
                        <a:effectLst/>
                        <a:latin typeface="Calibri" panose="020F0502020204030204" pitchFamily="34" charset="0"/>
                      </a:endParaRPr>
                    </a:p>
                  </a:txBody>
                  <a:tcPr marL="1841" marR="1841" marT="1841" marB="0" anchor="b"/>
                </a:tc>
                <a:extLst>
                  <a:ext uri="{0D108BD9-81ED-4DB2-BD59-A6C34878D82A}">
                    <a16:rowId xmlns:a16="http://schemas.microsoft.com/office/drawing/2014/main" val="4162634494"/>
                  </a:ext>
                </a:extLst>
              </a:tr>
              <a:tr h="864917">
                <a:tc>
                  <a:txBody>
                    <a:bodyPr/>
                    <a:lstStyle/>
                    <a:p>
                      <a:pPr algn="ctr" fontAlgn="t">
                        <a:buNone/>
                      </a:pPr>
                      <a:r>
                        <a:rPr lang="en-US" sz="700" u="none" strike="noStrike">
                          <a:effectLst/>
                        </a:rPr>
                        <a:t>2. Can I have both eyes treated at the same time?</a:t>
                      </a:r>
                      <a:endParaRPr lang="en-US" sz="700" b="0" i="0" u="none" strike="noStrike">
                        <a:solidFill>
                          <a:srgbClr val="000000"/>
                        </a:solidFill>
                        <a:effectLst/>
                        <a:latin typeface="Calibri" panose="020F0502020204030204" pitchFamily="34" charset="0"/>
                      </a:endParaRPr>
                    </a:p>
                  </a:txBody>
                  <a:tcPr marL="1841" marR="1841" marT="1841" marB="0"/>
                </a:tc>
                <a:tc>
                  <a:txBody>
                    <a:bodyPr/>
                    <a:lstStyle/>
                    <a:p>
                      <a:pPr algn="l" fontAlgn="t">
                        <a:buNone/>
                      </a:pPr>
                      <a:r>
                        <a:rPr lang="en-US" sz="700" u="none" strike="noStrike" dirty="0">
                          <a:effectLst/>
                        </a:rPr>
                        <a:t>Yes, certain ophthalmological treatments can indeed be performed on both eyes simultaneously. For example, laser therapy for glaucoma and </a:t>
                      </a:r>
                      <a:r>
                        <a:rPr lang="en-US" sz="700" u="none" strike="noStrike" dirty="0" err="1">
                          <a:effectLst/>
                        </a:rPr>
                        <a:t>photorenearctomy</a:t>
                      </a:r>
                      <a:r>
                        <a:rPr lang="en-US" sz="700" u="none" strike="noStrike" dirty="0">
                          <a:effectLst/>
                        </a:rPr>
                        <a:t> for cataracts often involve treating both eyes together to reduce the impact of these conditions. However, most treatments require patient cooperation due to complexity or extensive procedures, necessitating a coordinated approach with a healthcare provider.</a:t>
                      </a:r>
                      <a:endParaRPr lang="en-US" sz="700" b="0" i="0" u="none" strike="noStrike" dirty="0">
                        <a:solidFill>
                          <a:srgbClr val="000000"/>
                        </a:solidFill>
                        <a:effectLst/>
                        <a:latin typeface="Calibri" panose="020F0502020204030204" pitchFamily="34" charset="0"/>
                      </a:endParaRPr>
                    </a:p>
                  </a:txBody>
                  <a:tcPr marL="1841" marR="1841" marT="1841" marB="0"/>
                </a:tc>
                <a:tc>
                  <a:txBody>
                    <a:bodyPr/>
                    <a:lstStyle/>
                    <a:p>
                      <a:pPr algn="ctr" fontAlgn="b">
                        <a:buNone/>
                      </a:pPr>
                      <a:r>
                        <a:rPr lang="en-CN" sz="700" u="none" strike="noStrike" dirty="0">
                          <a:effectLst/>
                        </a:rPr>
                        <a:t>4</a:t>
                      </a:r>
                      <a:endParaRPr lang="en-CN" sz="700" b="0" i="0" u="none" strike="noStrike" dirty="0">
                        <a:solidFill>
                          <a:srgbClr val="000000"/>
                        </a:solidFill>
                        <a:effectLst/>
                        <a:latin typeface="Calibri" panose="020F0502020204030204" pitchFamily="34" charset="0"/>
                      </a:endParaRPr>
                    </a:p>
                  </a:txBody>
                  <a:tcPr marL="1841" marR="1841" marT="1841" marB="0" anchor="b"/>
                </a:tc>
                <a:tc>
                  <a:txBody>
                    <a:bodyPr/>
                    <a:lstStyle/>
                    <a:p>
                      <a:pPr algn="l" fontAlgn="t">
                        <a:buNone/>
                      </a:pPr>
                      <a:r>
                        <a:rPr lang="en-US" sz="700" u="none" strike="noStrike" dirty="0">
                          <a:effectLst/>
                        </a:rPr>
                        <a:t>Yes, you can have both eyes treated simultaneously, but the treatment may need to focus on specific areas of each eye that don't interfere with others. For instance, if an issue in the cornea or lens is resolved together with those affecting only one eye, they can be treated at the same time. However, defects in the retina and optic nerve require separate attention for both eyes due to their interconnected nature. It's generally better to treat each eye separately unless combined strategies are safe and effective. Always consult a professional eye doctor for personalized advice.</a:t>
                      </a:r>
                      <a:endParaRPr lang="en-US" sz="700" b="0" i="0" u="none" strike="noStrike" dirty="0">
                        <a:solidFill>
                          <a:srgbClr val="000000"/>
                        </a:solidFill>
                        <a:effectLst/>
                        <a:latin typeface="Calibri" panose="020F0502020204030204" pitchFamily="34" charset="0"/>
                      </a:endParaRPr>
                    </a:p>
                  </a:txBody>
                  <a:tcPr marL="1841" marR="1841" marT="1841" marB="0"/>
                </a:tc>
                <a:tc>
                  <a:txBody>
                    <a:bodyPr/>
                    <a:lstStyle/>
                    <a:p>
                      <a:pPr algn="ctr" fontAlgn="b">
                        <a:buNone/>
                      </a:pPr>
                      <a:r>
                        <a:rPr lang="en-CN" sz="700" u="none" strike="noStrike" dirty="0">
                          <a:effectLst/>
                        </a:rPr>
                        <a:t>5</a:t>
                      </a:r>
                      <a:endParaRPr lang="en-CN" sz="700" b="0" i="0" u="none" strike="noStrike" dirty="0">
                        <a:solidFill>
                          <a:srgbClr val="000000"/>
                        </a:solidFill>
                        <a:effectLst/>
                        <a:latin typeface="Calibri" panose="020F0502020204030204" pitchFamily="34" charset="0"/>
                      </a:endParaRPr>
                    </a:p>
                  </a:txBody>
                  <a:tcPr marL="1841" marR="1841" marT="1841" marB="0" anchor="b"/>
                </a:tc>
                <a:extLst>
                  <a:ext uri="{0D108BD9-81ED-4DB2-BD59-A6C34878D82A}">
                    <a16:rowId xmlns:a16="http://schemas.microsoft.com/office/drawing/2014/main" val="3743412224"/>
                  </a:ext>
                </a:extLst>
              </a:tr>
              <a:tr h="2051617">
                <a:tc>
                  <a:txBody>
                    <a:bodyPr/>
                    <a:lstStyle/>
                    <a:p>
                      <a:pPr algn="ctr" fontAlgn="t">
                        <a:buNone/>
                      </a:pPr>
                      <a:r>
                        <a:rPr lang="en-US" sz="700" u="none" strike="noStrike" dirty="0">
                          <a:effectLst/>
                        </a:rPr>
                        <a:t>3. What are the most common complications?</a:t>
                      </a:r>
                      <a:endParaRPr lang="en-US" sz="700" b="0" i="0" u="none" strike="noStrike" dirty="0">
                        <a:solidFill>
                          <a:srgbClr val="000000"/>
                        </a:solidFill>
                        <a:effectLst/>
                        <a:latin typeface="Calibri" panose="020F0502020204030204" pitchFamily="34" charset="0"/>
                      </a:endParaRPr>
                    </a:p>
                  </a:txBody>
                  <a:tcPr marL="1841" marR="1841" marT="1841" marB="0"/>
                </a:tc>
                <a:tc>
                  <a:txBody>
                    <a:bodyPr/>
                    <a:lstStyle/>
                    <a:p>
                      <a:pPr algn="l" fontAlgn="t">
                        <a:buNone/>
                      </a:pPr>
                      <a:r>
                        <a:rPr lang="en-US" sz="700" u="none" strike="noStrike" dirty="0">
                          <a:effectLst/>
                        </a:rPr>
                        <a:t>The most common complications of the eye include **cataracts**, which are a significant issue due to their frequent occurrence; **glaucoma**, another prevalent condition characterized by fluid retention inside the lens; **astigmatism** (also known as hyperopia), the most common form; **second degree of maculae damage**, responsible for vision loss later in life; **inherited or inherited eye conditions** such as age-related macular degeneration and cataracts due to genetic mutations; and **age-related changes in vision**, where the eyesight decreases with each year passing.</a:t>
                      </a:r>
                      <a:endParaRPr lang="en-US" sz="700" b="0" i="0" u="none" strike="noStrike" dirty="0">
                        <a:solidFill>
                          <a:srgbClr val="000000"/>
                        </a:solidFill>
                        <a:effectLst/>
                        <a:latin typeface="Calibri" panose="020F0502020204030204" pitchFamily="34" charset="0"/>
                      </a:endParaRPr>
                    </a:p>
                  </a:txBody>
                  <a:tcPr marL="1841" marR="1841" marT="1841" marB="0"/>
                </a:tc>
                <a:tc>
                  <a:txBody>
                    <a:bodyPr/>
                    <a:lstStyle/>
                    <a:p>
                      <a:pPr algn="ctr" fontAlgn="b">
                        <a:buNone/>
                      </a:pPr>
                      <a:r>
                        <a:rPr lang="en-CN" sz="700" u="none" strike="noStrike" dirty="0">
                          <a:effectLst/>
                        </a:rPr>
                        <a:t>2</a:t>
                      </a:r>
                      <a:endParaRPr lang="en-CN" sz="700" b="0" i="0" u="none" strike="noStrike" dirty="0">
                        <a:solidFill>
                          <a:srgbClr val="000000"/>
                        </a:solidFill>
                        <a:effectLst/>
                        <a:latin typeface="Calibri" panose="020F0502020204030204" pitchFamily="34" charset="0"/>
                      </a:endParaRPr>
                    </a:p>
                  </a:txBody>
                  <a:tcPr marL="1841" marR="1841" marT="1841" marB="0" anchor="b"/>
                </a:tc>
                <a:tc>
                  <a:txBody>
                    <a:bodyPr/>
                    <a:lstStyle/>
                    <a:p>
                      <a:pPr algn="l" fontAlgn="t">
                        <a:buNone/>
                      </a:pPr>
                      <a:r>
                        <a:rPr lang="en-US" sz="700" u="none" strike="noStrike" dirty="0">
                          <a:effectLst/>
                        </a:rPr>
                        <a:t>The most common complications of corneal refractive issues include:</a:t>
                      </a:r>
                      <a:br>
                        <a:rPr lang="en-US" sz="700" u="none" strike="noStrike" dirty="0">
                          <a:effectLst/>
                        </a:rPr>
                      </a:br>
                      <a:r>
                        <a:rPr lang="en-US" sz="700" u="none" strike="noStrike" dirty="0">
                          <a:effectLst/>
                        </a:rPr>
                        <a:t>1. **Dry Eyes**: Inadequate fluids entering the eye due to dryness or excessive sweating.</a:t>
                      </a:r>
                      <a:br>
                        <a:rPr lang="en-US" sz="700" u="none" strike="noStrike" dirty="0">
                          <a:effectLst/>
                        </a:rPr>
                      </a:br>
                      <a:r>
                        <a:rPr lang="en-US" sz="700" u="none" strike="noStrike" dirty="0">
                          <a:effectLst/>
                        </a:rPr>
                        <a:t>2. **Scarring (Edema)**: From sunburns, allergies, or infections, leading to redness and sensitivity in the area.</a:t>
                      </a:r>
                      <a:br>
                        <a:rPr lang="en-US" sz="700" u="none" strike="noStrike" dirty="0">
                          <a:effectLst/>
                        </a:rPr>
                      </a:br>
                      <a:r>
                        <a:rPr lang="en-US" sz="700" u="none" strike="noStrike" dirty="0">
                          <a:effectLst/>
                        </a:rPr>
                        <a:t>3. **Dehydration**: Inadequate fluids moving within the eye, often caused by sunlight or excessive sweating.</a:t>
                      </a:r>
                      <a:br>
                        <a:rPr lang="en-US" sz="700" u="none" strike="noStrike" dirty="0">
                          <a:effectLst/>
                        </a:rPr>
                      </a:br>
                      <a:r>
                        <a:rPr lang="en-US" sz="700" u="none" strike="noStrike" dirty="0">
                          <a:effectLst/>
                        </a:rPr>
                        <a:t>4. **Lubrication Issues**: From skin Scratches or infections that affect fluid movement.</a:t>
                      </a:r>
                      <a:br>
                        <a:rPr lang="en-US" sz="700" u="none" strike="noStrike" dirty="0">
                          <a:effectLst/>
                        </a:rPr>
                      </a:br>
                      <a:r>
                        <a:rPr lang="en-US" sz="700" u="none" strike="noStrike" dirty="0">
                          <a:effectLst/>
                        </a:rPr>
                        <a:t>5. **Cataract Formation/Changes**: Development of cataracts due to pressure on the corneum surfaces.</a:t>
                      </a:r>
                      <a:br>
                        <a:rPr lang="en-US" sz="700" u="none" strike="noStrike" dirty="0">
                          <a:effectLst/>
                        </a:rPr>
                      </a:br>
                      <a:r>
                        <a:rPr lang="en-US" sz="700" u="none" strike="noStrike" dirty="0">
                          <a:effectLst/>
                        </a:rPr>
                        <a:t>6. **Acute Corneal Damage (Keratopathy)**: Pressure on the back surfaces causing vision issues and discoloration.</a:t>
                      </a:r>
                      <a:br>
                        <a:rPr lang="en-US" sz="700" u="none" strike="noStrike" dirty="0">
                          <a:effectLst/>
                        </a:rPr>
                      </a:br>
                      <a:r>
                        <a:rPr lang="en-US" sz="700" u="none" strike="noStrike" dirty="0">
                          <a:effectLst/>
                        </a:rPr>
                        <a:t>7. **Prolonged Use or Injury**: Causing severe changes in corneal structure, often leading to cataracts or other complications.</a:t>
                      </a:r>
                      <a:br>
                        <a:rPr lang="en-US" sz="700" u="none" strike="noStrike" dirty="0">
                          <a:effectLst/>
                        </a:rPr>
                      </a:br>
                      <a:r>
                        <a:rPr lang="en-US" sz="700" u="none" strike="noStrike" dirty="0">
                          <a:effectLst/>
                        </a:rPr>
                        <a:t>8. **Atrus/Atoria**: Slowed eye movement, impacting reading and life functions.</a:t>
                      </a:r>
                      <a:br>
                        <a:rPr lang="en-US" sz="700" u="none" strike="noStrike" dirty="0">
                          <a:effectLst/>
                        </a:rPr>
                      </a:br>
                      <a:r>
                        <a:rPr lang="en-US" sz="700" u="none" strike="noStrike" dirty="0">
                          <a:effectLst/>
                        </a:rPr>
                        <a:t>9. **Anomalous Corneal Surface**: Affects cataract formation and may lead to sensitivity in the back surfaces.</a:t>
                      </a:r>
                      <a:br>
                        <a:rPr lang="en-US" sz="700" u="none" strike="noStrike" dirty="0">
                          <a:effectLst/>
                        </a:rPr>
                      </a:br>
                      <a:r>
                        <a:rPr lang="en-US" sz="700" u="none" strike="noStrike" dirty="0">
                          <a:effectLst/>
                        </a:rPr>
                        <a:t>10. **</a:t>
                      </a:r>
                      <a:r>
                        <a:rPr lang="en-US" sz="700" u="none" strike="noStrike" dirty="0" err="1">
                          <a:effectLst/>
                        </a:rPr>
                        <a:t>Pseudorhabesphenoid</a:t>
                      </a:r>
                      <a:r>
                        <a:rPr lang="en-US" sz="700" u="none" strike="noStrike" dirty="0">
                          <a:effectLst/>
                        </a:rPr>
                        <a:t>**: Commonly associated with genetic mutations affecting the epidermis or cornea.</a:t>
                      </a:r>
                      <a:br>
                        <a:rPr lang="en-US" sz="700" u="none" strike="noStrike" dirty="0">
                          <a:effectLst/>
                        </a:rPr>
                      </a:br>
                      <a:r>
                        <a:rPr lang="en-US" sz="700" u="none" strike="noStrike" dirty="0">
                          <a:effectLst/>
                        </a:rPr>
                        <a:t>11. **Dry Eyes in Others**: In rare cases, even in patients without eye problems, dryness can manifest elsewhere.</a:t>
                      </a:r>
                      <a:br>
                        <a:rPr lang="en-US" sz="700" u="none" strike="noStrike" dirty="0">
                          <a:effectLst/>
                        </a:rPr>
                      </a:br>
                      <a:r>
                        <a:rPr lang="en-US" sz="700" u="none" strike="noStrike" dirty="0">
                          <a:effectLst/>
                        </a:rPr>
                        <a:t>12. **</a:t>
                      </a:r>
                      <a:r>
                        <a:rPr lang="en-US" sz="700" u="none" strike="noStrike" dirty="0" err="1">
                          <a:effectLst/>
                        </a:rPr>
                        <a:t>Lacrimofacial</a:t>
                      </a:r>
                      <a:r>
                        <a:rPr lang="en-US" sz="700" u="none" strike="noStrike" dirty="0">
                          <a:effectLst/>
                        </a:rPr>
                        <a:t> Nucleus Mutation**: A genetic condition that may contribute to corneal changes.</a:t>
                      </a:r>
                      <a:br>
                        <a:rPr lang="en-US" sz="700" u="none" strike="noStrike" dirty="0">
                          <a:effectLst/>
                        </a:rPr>
                      </a:br>
                      <a:r>
                        <a:rPr lang="en-US" sz="700" u="none" strike="noStrike" dirty="0">
                          <a:effectLst/>
                        </a:rPr>
                        <a:t>Additional rare complications include:</a:t>
                      </a:r>
                      <a:br>
                        <a:rPr lang="en-US" sz="700" u="none" strike="noStrike" dirty="0">
                          <a:effectLst/>
                        </a:rPr>
                      </a:br>
                      <a:r>
                        <a:rPr lang="en-US" sz="700" u="none" strike="noStrike" dirty="0">
                          <a:effectLst/>
                        </a:rPr>
                        <a:t>- **Atrus/Atoria**: Slowed eye movement, impacting life functions.</a:t>
                      </a:r>
                      <a:br>
                        <a:rPr lang="en-US" sz="700" u="none" strike="noStrike" dirty="0">
                          <a:effectLst/>
                        </a:rPr>
                      </a:br>
                      <a:r>
                        <a:rPr lang="en-US" sz="700" u="none" strike="noStrike" dirty="0">
                          <a:effectLst/>
                        </a:rPr>
                        <a:t>- **Cataract Formation/Changes** (rare).</a:t>
                      </a:r>
                      <a:br>
                        <a:rPr lang="en-US" sz="700" u="none" strike="noStrike" dirty="0">
                          <a:effectLst/>
                        </a:rPr>
                      </a:br>
                      <a:r>
                        <a:rPr lang="en-US" sz="700" u="none" strike="noStrike" dirty="0">
                          <a:effectLst/>
                        </a:rPr>
                        <a:t>- **Chromophore Dysfunction**: Leading to cataracts and vision changes.</a:t>
                      </a:r>
                      <a:br>
                        <a:rPr lang="en-US" sz="700" u="none" strike="noStrike" dirty="0">
                          <a:effectLst/>
                        </a:rPr>
                      </a:br>
                      <a:r>
                        <a:rPr lang="en-US" sz="700" u="none" strike="noStrike" dirty="0">
                          <a:effectLst/>
                        </a:rPr>
                        <a:t>- **Acute </a:t>
                      </a:r>
                      <a:r>
                        <a:rPr lang="en-US" sz="700" u="none" strike="noStrike" dirty="0" err="1">
                          <a:effectLst/>
                        </a:rPr>
                        <a:t>Chorioretia</a:t>
                      </a:r>
                      <a:r>
                        <a:rPr lang="en-US" sz="700" u="none" strike="noStrike" dirty="0">
                          <a:effectLst/>
                        </a:rPr>
                        <a:t> Syndrome**: Severe back surface pressure causing severe eye damage.</a:t>
                      </a:r>
                      <a:br>
                        <a:rPr lang="en-US" sz="700" u="none" strike="noStrike" dirty="0">
                          <a:effectLst/>
                        </a:rPr>
                      </a:br>
                      <a:r>
                        <a:rPr lang="en-US" sz="700" u="none" strike="noStrike" dirty="0">
                          <a:effectLst/>
                        </a:rPr>
                        <a:t>These conditions often stem from genetic mutations or structural abnormalities in the cornea. Always consult a ophthalmologist for personalized advice.</a:t>
                      </a:r>
                      <a:endParaRPr lang="en-US" sz="700" b="0" i="0" u="none" strike="noStrike" dirty="0">
                        <a:solidFill>
                          <a:srgbClr val="000000"/>
                        </a:solidFill>
                        <a:effectLst/>
                        <a:latin typeface="Calibri" panose="020F0502020204030204" pitchFamily="34" charset="0"/>
                      </a:endParaRPr>
                    </a:p>
                  </a:txBody>
                  <a:tcPr marL="1841" marR="1841" marT="1841" marB="0"/>
                </a:tc>
                <a:tc>
                  <a:txBody>
                    <a:bodyPr/>
                    <a:lstStyle/>
                    <a:p>
                      <a:pPr algn="ctr" fontAlgn="b">
                        <a:buNone/>
                      </a:pPr>
                      <a:r>
                        <a:rPr lang="en-CN" sz="700" u="none" strike="noStrike" dirty="0">
                          <a:effectLst/>
                        </a:rPr>
                        <a:t>5</a:t>
                      </a:r>
                      <a:endParaRPr lang="en-CN" sz="700" b="0" i="0" u="none" strike="noStrike" dirty="0">
                        <a:solidFill>
                          <a:srgbClr val="000000"/>
                        </a:solidFill>
                        <a:effectLst/>
                        <a:latin typeface="Calibri" panose="020F0502020204030204" pitchFamily="34" charset="0"/>
                      </a:endParaRPr>
                    </a:p>
                  </a:txBody>
                  <a:tcPr marL="1841" marR="1841" marT="1841" marB="0" anchor="b"/>
                </a:tc>
                <a:extLst>
                  <a:ext uri="{0D108BD9-81ED-4DB2-BD59-A6C34878D82A}">
                    <a16:rowId xmlns:a16="http://schemas.microsoft.com/office/drawing/2014/main" val="4155559391"/>
                  </a:ext>
                </a:extLst>
              </a:tr>
            </a:tbl>
          </a:graphicData>
        </a:graphic>
      </p:graphicFrame>
    </p:spTree>
    <p:extLst>
      <p:ext uri="{BB962C8B-B14F-4D97-AF65-F5344CB8AC3E}">
        <p14:creationId xmlns:p14="http://schemas.microsoft.com/office/powerpoint/2010/main" val="4969116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66928"/>
          </a:xfrm>
          <a:prstGeom prst="rect">
            <a:avLst/>
          </a:prstGeom>
          <a:noFill/>
          <a:ln/>
        </p:spPr>
        <p:txBody>
          <a:bodyPr wrap="square" lIns="0" tIns="0" rIns="0" bIns="0" rtlCol="0" anchor="ctr"/>
          <a:lstStyle/>
          <a:p>
            <a:pPr marL="0" indent="0">
              <a:buNone/>
            </a:pPr>
            <a:r>
              <a:rPr lang="en-US" sz="2300" b="1" dirty="0">
                <a:solidFill>
                  <a:srgbClr val="0D2137"/>
                </a:solidFill>
                <a:latin typeface="Calibri" pitchFamily="34" charset="0"/>
                <a:ea typeface="Calibri" pitchFamily="34" charset="-122"/>
                <a:cs typeface="Calibri" pitchFamily="34" charset="-120"/>
              </a:rPr>
              <a:t>Part 2 — Physician Scoring Results</a:t>
            </a:r>
            <a:endParaRPr lang="en-US" sz="2300" dirty="0"/>
          </a:p>
        </p:txBody>
      </p:sp>
      <p:sp>
        <p:nvSpPr>
          <p:cNvPr id="3" name="Shape 1"/>
          <p:cNvSpPr/>
          <p:nvPr/>
        </p:nvSpPr>
        <p:spPr>
          <a:xfrm>
            <a:off x="457200" y="795528"/>
            <a:ext cx="8229600" cy="0"/>
          </a:xfrm>
          <a:prstGeom prst="line">
            <a:avLst/>
          </a:prstGeom>
          <a:noFill/>
          <a:ln w="25400">
            <a:solidFill>
              <a:srgbClr val="028090"/>
            </a:solidFill>
            <a:prstDash val="solid"/>
          </a:ln>
        </p:spPr>
        <p:txBody>
          <a:bodyPr/>
          <a:lstStyle/>
          <a:p>
            <a:endParaRPr lang="en-CN"/>
          </a:p>
        </p:txBody>
      </p:sp>
      <p:sp>
        <p:nvSpPr>
          <p:cNvPr id="4" name="Shape 2"/>
          <p:cNvSpPr/>
          <p:nvPr/>
        </p:nvSpPr>
        <p:spPr>
          <a:xfrm>
            <a:off x="347472" y="932688"/>
            <a:ext cx="8449056" cy="804672"/>
          </a:xfrm>
          <a:prstGeom prst="rect">
            <a:avLst/>
          </a:prstGeom>
          <a:solidFill>
            <a:srgbClr val="E8F4F8"/>
          </a:solidFill>
          <a:ln w="12700">
            <a:solidFill>
              <a:srgbClr val="D0E4EC"/>
            </a:solidFill>
            <a:prstDash val="solid"/>
          </a:ln>
          <a:effectLst>
            <a:outerShdw blurRad="76200" dist="25400" dir="8100000" algn="bl" rotWithShape="0">
              <a:srgbClr val="000000">
                <a:alpha val="12000"/>
              </a:srgbClr>
            </a:outerShdw>
          </a:effectLst>
        </p:spPr>
        <p:txBody>
          <a:bodyPr/>
          <a:lstStyle/>
          <a:p>
            <a:endParaRPr lang="en-CN"/>
          </a:p>
        </p:txBody>
      </p:sp>
      <p:sp>
        <p:nvSpPr>
          <p:cNvPr id="5" name="Text 3"/>
          <p:cNvSpPr/>
          <p:nvPr/>
        </p:nvSpPr>
        <p:spPr>
          <a:xfrm>
            <a:off x="502920" y="960120"/>
            <a:ext cx="8229600" cy="731520"/>
          </a:xfrm>
          <a:prstGeom prst="rect">
            <a:avLst/>
          </a:prstGeom>
          <a:noFill/>
          <a:ln/>
        </p:spPr>
        <p:txBody>
          <a:bodyPr wrap="square" rtlCol="0" anchor="ctr"/>
          <a:lstStyle/>
          <a:p>
            <a:pPr marL="0" indent="0" algn="ctr">
              <a:buNone/>
            </a:pPr>
            <a:r>
              <a:rPr lang="en-US" sz="2800" b="1" dirty="0">
                <a:solidFill>
                  <a:srgbClr val="E76F51"/>
                </a:solidFill>
                <a:latin typeface="Calibri" pitchFamily="34" charset="0"/>
                <a:ea typeface="Calibri" pitchFamily="34" charset="-122"/>
                <a:cs typeface="Calibri" pitchFamily="34" charset="-120"/>
              </a:rPr>
              <a:t>3.04 </a:t>
            </a:r>
            <a:r>
              <a:rPr lang="en-US" sz="2400" b="1" dirty="0">
                <a:solidFill>
                  <a:srgbClr val="5A7080"/>
                </a:solidFill>
                <a:latin typeface="Calibri" pitchFamily="34" charset="0"/>
                <a:ea typeface="Calibri" pitchFamily="34" charset="-122"/>
                <a:cs typeface="Calibri" pitchFamily="34" charset="-120"/>
              </a:rPr>
              <a:t>→ </a:t>
            </a:r>
            <a:r>
              <a:rPr lang="en-US" sz="2800" b="1" dirty="0">
                <a:solidFill>
                  <a:srgbClr val="028090"/>
                </a:solidFill>
                <a:latin typeface="Calibri" pitchFamily="34" charset="0"/>
                <a:ea typeface="Calibri" pitchFamily="34" charset="-122"/>
                <a:cs typeface="Calibri" pitchFamily="34" charset="-120"/>
              </a:rPr>
              <a:t>4.36 </a:t>
            </a:r>
            <a:r>
              <a:rPr lang="en-US" sz="1600" dirty="0">
                <a:solidFill>
                  <a:srgbClr val="0D2137"/>
                </a:solidFill>
                <a:latin typeface="Calibri" pitchFamily="34" charset="0"/>
                <a:ea typeface="Calibri" pitchFamily="34" charset="-122"/>
                <a:cs typeface="Calibri" pitchFamily="34" charset="-120"/>
              </a:rPr>
              <a:t>Mean Physician Score </a:t>
            </a:r>
            <a:r>
              <a:rPr lang="en-US" b="1" dirty="0">
                <a:solidFill>
                  <a:srgbClr val="02C39A"/>
                </a:solidFill>
                <a:latin typeface="Calibri" pitchFamily="34" charset="0"/>
                <a:ea typeface="Calibri" pitchFamily="34" charset="-122"/>
                <a:cs typeface="Calibri" pitchFamily="34" charset="-120"/>
              </a:rPr>
              <a:t>(+1.32 pts · +43.4%)</a:t>
            </a:r>
            <a:r>
              <a:rPr lang="en-US" sz="1200" dirty="0">
                <a:solidFill>
                  <a:srgbClr val="5A7080"/>
                </a:solidFill>
                <a:latin typeface="Calibri" pitchFamily="34" charset="0"/>
                <a:ea typeface="Calibri" pitchFamily="34" charset="-122"/>
                <a:cs typeface="Calibri" pitchFamily="34" charset="-120"/>
              </a:rPr>
              <a:t>   |   Median: 3.0 → 4.0   |   Range: [2,4] → [3,5]   |   Zero dangerous responses (1/5) in either condition</a:t>
            </a:r>
            <a:endParaRPr lang="en-US" sz="28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347472" y="1920240"/>
          <a:ext cx="4206240" cy="2852928"/>
        </p:xfrm>
        <a:graphic>
          <a:graphicData uri="http://schemas.openxmlformats.org/drawingml/2006/table">
            <a:tbl>
              <a:tblPr/>
              <a:tblGrid>
                <a:gridCol w="169164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234440">
                  <a:extLst>
                    <a:ext uri="{9D8B030D-6E8A-4147-A177-3AD203B41FA5}">
                      <a16:colId xmlns:a16="http://schemas.microsoft.com/office/drawing/2014/main" val="20002"/>
                    </a:ext>
                  </a:extLst>
                </a:gridCol>
              </a:tblGrid>
              <a:tr h="475488">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Score Level</a:t>
                      </a:r>
                      <a:endParaRPr lang="en-US" sz="1200" dirty="0">
                        <a:latin typeface="Calibri" charset="0"/>
                        <a:ea typeface="Calibri" charset="0"/>
                        <a:cs typeface="Calibri" charset="0"/>
                      </a:endParaRPr>
                    </a:p>
                  </a:txBody>
                  <a:tcPr>
                    <a:lnL w="6350" cap="flat" cmpd="sng" algn="ctr">
                      <a:solidFill>
                        <a:srgbClr val="C8DCE8"/>
                      </a:solidFill>
                      <a:prstDash val="solid"/>
                      <a:round/>
                      <a:headEnd type="none" w="med" len="med"/>
                      <a:tailEnd type="none" w="med" len="med"/>
                    </a:lnL>
                    <a:lnR w="6350" cap="flat" cmpd="sng" algn="ctr">
                      <a:solidFill>
                        <a:srgbClr val="C8DCE8"/>
                      </a:solidFill>
                      <a:prstDash val="solid"/>
                      <a:round/>
                      <a:headEnd type="none" w="med" len="med"/>
                      <a:tailEnd type="none" w="med" len="med"/>
                    </a:lnR>
                    <a:lnT w="6350" cap="flat" cmpd="sng" algn="ctr">
                      <a:solidFill>
                        <a:srgbClr val="C8DCE8"/>
                      </a:solidFill>
                      <a:prstDash val="solid"/>
                      <a:round/>
                      <a:headEnd type="none" w="med" len="med"/>
                      <a:tailEnd type="none" w="med" len="med"/>
                    </a:lnT>
                    <a:lnB w="6350" cap="flat" cmpd="sng" algn="ctr">
                      <a:solidFill>
                        <a:srgbClr val="C8DCE8"/>
                      </a:solidFill>
                      <a:prstDash val="solid"/>
                      <a:round/>
                      <a:headEnd type="none" w="med" len="med"/>
                      <a:tailEnd type="none" w="med" len="med"/>
                    </a:lnB>
                    <a:solidFill>
                      <a:srgbClr val="0D2137"/>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Without RAG</a:t>
                      </a:r>
                      <a:endParaRPr lang="en-US" sz="1200" dirty="0">
                        <a:latin typeface="Calibri" charset="0"/>
                        <a:ea typeface="Calibri" charset="0"/>
                        <a:cs typeface="Calibri" charset="0"/>
                      </a:endParaRPr>
                    </a:p>
                  </a:txBody>
                  <a:tcPr>
                    <a:lnL w="6350" cap="flat" cmpd="sng" algn="ctr">
                      <a:solidFill>
                        <a:srgbClr val="C8DCE8"/>
                      </a:solidFill>
                      <a:prstDash val="solid"/>
                      <a:round/>
                      <a:headEnd type="none" w="med" len="med"/>
                      <a:tailEnd type="none" w="med" len="med"/>
                    </a:lnL>
                    <a:lnR w="6350" cap="flat" cmpd="sng" algn="ctr">
                      <a:solidFill>
                        <a:srgbClr val="C8DCE8"/>
                      </a:solidFill>
                      <a:prstDash val="solid"/>
                      <a:round/>
                      <a:headEnd type="none" w="med" len="med"/>
                      <a:tailEnd type="none" w="med" len="med"/>
                    </a:lnR>
                    <a:lnT w="6350" cap="flat" cmpd="sng" algn="ctr">
                      <a:solidFill>
                        <a:srgbClr val="C8DCE8"/>
                      </a:solidFill>
                      <a:prstDash val="solid"/>
                      <a:round/>
                      <a:headEnd type="none" w="med" len="med"/>
                      <a:tailEnd type="none" w="med" len="med"/>
                    </a:lnT>
                    <a:lnB w="6350" cap="flat" cmpd="sng" algn="ctr">
                      <a:solidFill>
                        <a:srgbClr val="C8DCE8"/>
                      </a:solidFill>
                      <a:prstDash val="solid"/>
                      <a:round/>
                      <a:headEnd type="none" w="med" len="med"/>
                      <a:tailEnd type="none" w="med" len="med"/>
                    </a:lnB>
                    <a:solidFill>
                      <a:srgbClr val="E76F51"/>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With RAG</a:t>
                      </a:r>
                      <a:endParaRPr lang="en-US" sz="1200" dirty="0">
                        <a:latin typeface="Calibri" charset="0"/>
                        <a:ea typeface="Calibri" charset="0"/>
                        <a:cs typeface="Calibri" charset="0"/>
                      </a:endParaRPr>
                    </a:p>
                  </a:txBody>
                  <a:tcPr>
                    <a:lnL w="6350" cap="flat" cmpd="sng" algn="ctr">
                      <a:solidFill>
                        <a:srgbClr val="C8DCE8"/>
                      </a:solidFill>
                      <a:prstDash val="solid"/>
                      <a:round/>
                      <a:headEnd type="none" w="med" len="med"/>
                      <a:tailEnd type="none" w="med" len="med"/>
                    </a:lnL>
                    <a:lnR w="6350" cap="flat" cmpd="sng" algn="ctr">
                      <a:solidFill>
                        <a:srgbClr val="C8DCE8"/>
                      </a:solidFill>
                      <a:prstDash val="solid"/>
                      <a:round/>
                      <a:headEnd type="none" w="med" len="med"/>
                      <a:tailEnd type="none" w="med" len="med"/>
                    </a:lnR>
                    <a:lnT w="6350" cap="flat" cmpd="sng" algn="ctr">
                      <a:solidFill>
                        <a:srgbClr val="C8DCE8"/>
                      </a:solidFill>
                      <a:prstDash val="solid"/>
                      <a:round/>
                      <a:headEnd type="none" w="med" len="med"/>
                      <a:tailEnd type="none" w="med" len="med"/>
                    </a:lnT>
                    <a:lnB w="6350" cap="flat" cmpd="sng" algn="ctr">
                      <a:solidFill>
                        <a:srgbClr val="C8DCE8"/>
                      </a:solidFill>
                      <a:prstDash val="solid"/>
                      <a:round/>
                      <a:headEnd type="none" w="med" len="med"/>
                      <a:tailEnd type="none" w="med" len="med"/>
                    </a:lnB>
                    <a:solidFill>
                      <a:srgbClr val="028090"/>
                    </a:solidFill>
                  </a:tcPr>
                </a:tc>
                <a:extLst>
                  <a:ext uri="{0D108BD9-81ED-4DB2-BD59-A6C34878D82A}">
                    <a16:rowId xmlns:a16="http://schemas.microsoft.com/office/drawing/2014/main" val="10000"/>
                  </a:ext>
                </a:extLst>
              </a:tr>
              <a:tr h="475488">
                <a:tc>
                  <a:txBody>
                    <a:bodyPr/>
                    <a:lstStyle/>
                    <a:p>
                      <a:pPr marL="0" indent="0" algn="l">
                        <a:buNone/>
                      </a:pPr>
                      <a:r>
                        <a:rPr lang="en-US" sz="1200" b="1" dirty="0">
                          <a:solidFill>
                            <a:srgbClr val="000000"/>
                          </a:solidFill>
                          <a:latin typeface="Calibri" pitchFamily="34" charset="0"/>
                          <a:ea typeface="Calibri" pitchFamily="34" charset="-122"/>
                          <a:cs typeface="Calibri" pitchFamily="34" charset="-120"/>
                        </a:rPr>
                        <a:t>Excellent (5)</a:t>
                      </a:r>
                      <a:endParaRPr lang="en-US" sz="1200" dirty="0">
                        <a:latin typeface="Calibri" charset="0"/>
                        <a:ea typeface="Calibri" charset="0"/>
                        <a:cs typeface="Calibri" charset="0"/>
                      </a:endParaRPr>
                    </a:p>
                  </a:txBody>
                  <a:tcPr>
                    <a:lnL w="6350" cap="flat" cmpd="sng" algn="ctr">
                      <a:solidFill>
                        <a:srgbClr val="C8DCE8"/>
                      </a:solidFill>
                      <a:prstDash val="solid"/>
                      <a:round/>
                      <a:headEnd type="none" w="med" len="med"/>
                      <a:tailEnd type="none" w="med" len="med"/>
                    </a:lnL>
                    <a:lnR w="6350" cap="flat" cmpd="sng" algn="ctr">
                      <a:solidFill>
                        <a:srgbClr val="C8DCE8"/>
                      </a:solidFill>
                      <a:prstDash val="solid"/>
                      <a:round/>
                      <a:headEnd type="none" w="med" len="med"/>
                      <a:tailEnd type="none" w="med" len="med"/>
                    </a:lnR>
                    <a:lnT w="6350" cap="flat" cmpd="sng" algn="ctr">
                      <a:solidFill>
                        <a:srgbClr val="C8DCE8"/>
                      </a:solidFill>
                      <a:prstDash val="solid"/>
                      <a:round/>
                      <a:headEnd type="none" w="med" len="med"/>
                      <a:tailEnd type="none" w="med" len="med"/>
                    </a:lnT>
                    <a:lnB w="6350" cap="flat" cmpd="sng" algn="ctr">
                      <a:solidFill>
                        <a:srgbClr val="C8DCE8"/>
                      </a:solidFill>
                      <a:prstDash val="solid"/>
                      <a:round/>
                      <a:headEnd type="none" w="med" len="med"/>
                      <a:tailEnd type="none" w="med" len="med"/>
                    </a:lnB>
                  </a:tcPr>
                </a:tc>
                <a:tc>
                  <a:txBody>
                    <a:bodyPr/>
                    <a:lstStyle/>
                    <a:p>
                      <a:pPr marL="0" indent="0" algn="ctr">
                        <a:buNone/>
                      </a:pPr>
                      <a:r>
                        <a:rPr lang="en-US" sz="1200" dirty="0">
                          <a:solidFill>
                            <a:srgbClr val="E76F51"/>
                          </a:solidFill>
                          <a:latin typeface="Calibri" pitchFamily="34" charset="0"/>
                          <a:ea typeface="Calibri" pitchFamily="34" charset="-122"/>
                          <a:cs typeface="Calibri" pitchFamily="34" charset="-120"/>
                        </a:rPr>
                        <a:t>0 questions</a:t>
                      </a:r>
                      <a:endParaRPr lang="en-US" sz="1200" dirty="0">
                        <a:latin typeface="Calibri" charset="0"/>
                        <a:ea typeface="Calibri" charset="0"/>
                        <a:cs typeface="Calibri" charset="0"/>
                      </a:endParaRPr>
                    </a:p>
                  </a:txBody>
                  <a:tcPr>
                    <a:lnL w="6350" cap="flat" cmpd="sng" algn="ctr">
                      <a:solidFill>
                        <a:srgbClr val="C8DCE8"/>
                      </a:solidFill>
                      <a:prstDash val="solid"/>
                      <a:round/>
                      <a:headEnd type="none" w="med" len="med"/>
                      <a:tailEnd type="none" w="med" len="med"/>
                    </a:lnL>
                    <a:lnR w="6350" cap="flat" cmpd="sng" algn="ctr">
                      <a:solidFill>
                        <a:srgbClr val="C8DCE8"/>
                      </a:solidFill>
                      <a:prstDash val="solid"/>
                      <a:round/>
                      <a:headEnd type="none" w="med" len="med"/>
                      <a:tailEnd type="none" w="med" len="med"/>
                    </a:lnR>
                    <a:lnT w="6350" cap="flat" cmpd="sng" algn="ctr">
                      <a:solidFill>
                        <a:srgbClr val="C8DCE8"/>
                      </a:solidFill>
                      <a:prstDash val="solid"/>
                      <a:round/>
                      <a:headEnd type="none" w="med" len="med"/>
                      <a:tailEnd type="none" w="med" len="med"/>
                    </a:lnT>
                    <a:lnB w="6350" cap="flat" cmpd="sng" algn="ctr">
                      <a:solidFill>
                        <a:srgbClr val="C8DCE8"/>
                      </a:solidFill>
                      <a:prstDash val="solid"/>
                      <a:round/>
                      <a:headEnd type="none" w="med" len="med"/>
                      <a:tailEnd type="none" w="med" len="med"/>
                    </a:lnB>
                  </a:tcPr>
                </a:tc>
                <a:tc>
                  <a:txBody>
                    <a:bodyPr/>
                    <a:lstStyle/>
                    <a:p>
                      <a:pPr marL="0" indent="0" algn="ctr">
                        <a:buNone/>
                      </a:pPr>
                      <a:r>
                        <a:rPr lang="en-US" sz="1200" b="1" dirty="0">
                          <a:solidFill>
                            <a:srgbClr val="028090"/>
                          </a:solidFill>
                          <a:latin typeface="Calibri" pitchFamily="34" charset="0"/>
                          <a:ea typeface="Calibri" pitchFamily="34" charset="-122"/>
                          <a:cs typeface="Calibri" pitchFamily="34" charset="-120"/>
                        </a:rPr>
                        <a:t>12 questions ▲</a:t>
                      </a:r>
                      <a:endParaRPr lang="en-US" sz="1200" dirty="0">
                        <a:latin typeface="Calibri" charset="0"/>
                        <a:ea typeface="Calibri" charset="0"/>
                        <a:cs typeface="Calibri" charset="0"/>
                      </a:endParaRPr>
                    </a:p>
                  </a:txBody>
                  <a:tcPr>
                    <a:lnL w="6350" cap="flat" cmpd="sng" algn="ctr">
                      <a:solidFill>
                        <a:srgbClr val="C8DCE8"/>
                      </a:solidFill>
                      <a:prstDash val="solid"/>
                      <a:round/>
                      <a:headEnd type="none" w="med" len="med"/>
                      <a:tailEnd type="none" w="med" len="med"/>
                    </a:lnL>
                    <a:lnR w="6350" cap="flat" cmpd="sng" algn="ctr">
                      <a:solidFill>
                        <a:srgbClr val="C8DCE8"/>
                      </a:solidFill>
                      <a:prstDash val="solid"/>
                      <a:round/>
                      <a:headEnd type="none" w="med" len="med"/>
                      <a:tailEnd type="none" w="med" len="med"/>
                    </a:lnR>
                    <a:lnT w="6350" cap="flat" cmpd="sng" algn="ctr">
                      <a:solidFill>
                        <a:srgbClr val="C8DCE8"/>
                      </a:solidFill>
                      <a:prstDash val="solid"/>
                      <a:round/>
                      <a:headEnd type="none" w="med" len="med"/>
                      <a:tailEnd type="none" w="med" len="med"/>
                    </a:lnT>
                    <a:lnB w="6350" cap="flat" cmpd="sng" algn="ctr">
                      <a:solidFill>
                        <a:srgbClr val="C8DCE8"/>
                      </a:solidFill>
                      <a:prstDash val="solid"/>
                      <a:round/>
                      <a:headEnd type="none" w="med" len="med"/>
                      <a:tailEnd type="none" w="med" len="med"/>
                    </a:lnB>
                  </a:tcPr>
                </a:tc>
                <a:extLst>
                  <a:ext uri="{0D108BD9-81ED-4DB2-BD59-A6C34878D82A}">
                    <a16:rowId xmlns:a16="http://schemas.microsoft.com/office/drawing/2014/main" val="10001"/>
                  </a:ext>
                </a:extLst>
              </a:tr>
              <a:tr h="475488">
                <a:tc>
                  <a:txBody>
                    <a:bodyPr/>
                    <a:lstStyle/>
                    <a:p>
                      <a:pPr marL="0" indent="0" algn="l">
                        <a:buNone/>
                      </a:pPr>
                      <a:r>
                        <a:rPr lang="en-US" sz="1200" b="1" dirty="0">
                          <a:solidFill>
                            <a:srgbClr val="000000"/>
                          </a:solidFill>
                          <a:latin typeface="Calibri" pitchFamily="34" charset="0"/>
                          <a:ea typeface="Calibri" pitchFamily="34" charset="-122"/>
                          <a:cs typeface="Calibri" pitchFamily="34" charset="-120"/>
                        </a:rPr>
                        <a:t>Good (4)</a:t>
                      </a:r>
                      <a:endParaRPr lang="en-US" sz="1200" dirty="0">
                        <a:latin typeface="Calibri" charset="0"/>
                        <a:ea typeface="Calibri" charset="0"/>
                        <a:cs typeface="Calibri" charset="0"/>
                      </a:endParaRPr>
                    </a:p>
                  </a:txBody>
                  <a:tcPr>
                    <a:lnL w="6350" cap="flat" cmpd="sng" algn="ctr">
                      <a:solidFill>
                        <a:srgbClr val="C8DCE8"/>
                      </a:solidFill>
                      <a:prstDash val="solid"/>
                      <a:round/>
                      <a:headEnd type="none" w="med" len="med"/>
                      <a:tailEnd type="none" w="med" len="med"/>
                    </a:lnL>
                    <a:lnR w="6350" cap="flat" cmpd="sng" algn="ctr">
                      <a:solidFill>
                        <a:srgbClr val="C8DCE8"/>
                      </a:solidFill>
                      <a:prstDash val="solid"/>
                      <a:round/>
                      <a:headEnd type="none" w="med" len="med"/>
                      <a:tailEnd type="none" w="med" len="med"/>
                    </a:lnR>
                    <a:lnT w="6350" cap="flat" cmpd="sng" algn="ctr">
                      <a:solidFill>
                        <a:srgbClr val="C8DCE8"/>
                      </a:solidFill>
                      <a:prstDash val="solid"/>
                      <a:round/>
                      <a:headEnd type="none" w="med" len="med"/>
                      <a:tailEnd type="none" w="med" len="med"/>
                    </a:lnT>
                    <a:lnB w="6350" cap="flat" cmpd="sng" algn="ctr">
                      <a:solidFill>
                        <a:srgbClr val="C8DCE8"/>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6 questions</a:t>
                      </a:r>
                      <a:endParaRPr lang="en-US" sz="1200" dirty="0">
                        <a:latin typeface="Calibri" charset="0"/>
                        <a:ea typeface="Calibri" charset="0"/>
                        <a:cs typeface="Calibri" charset="0"/>
                      </a:endParaRPr>
                    </a:p>
                  </a:txBody>
                  <a:tcPr>
                    <a:lnL w="6350" cap="flat" cmpd="sng" algn="ctr">
                      <a:solidFill>
                        <a:srgbClr val="C8DCE8"/>
                      </a:solidFill>
                      <a:prstDash val="solid"/>
                      <a:round/>
                      <a:headEnd type="none" w="med" len="med"/>
                      <a:tailEnd type="none" w="med" len="med"/>
                    </a:lnL>
                    <a:lnR w="6350" cap="flat" cmpd="sng" algn="ctr">
                      <a:solidFill>
                        <a:srgbClr val="C8DCE8"/>
                      </a:solidFill>
                      <a:prstDash val="solid"/>
                      <a:round/>
                      <a:headEnd type="none" w="med" len="med"/>
                      <a:tailEnd type="none" w="med" len="med"/>
                    </a:lnR>
                    <a:lnT w="6350" cap="flat" cmpd="sng" algn="ctr">
                      <a:solidFill>
                        <a:srgbClr val="C8DCE8"/>
                      </a:solidFill>
                      <a:prstDash val="solid"/>
                      <a:round/>
                      <a:headEnd type="none" w="med" len="med"/>
                      <a:tailEnd type="none" w="med" len="med"/>
                    </a:lnT>
                    <a:lnB w="6350" cap="flat" cmpd="sng" algn="ctr">
                      <a:solidFill>
                        <a:srgbClr val="C8DCE8"/>
                      </a:solidFill>
                      <a:prstDash val="solid"/>
                      <a:round/>
                      <a:headEnd type="none" w="med" len="med"/>
                      <a:tailEnd type="none" w="med" len="med"/>
                    </a:lnB>
                  </a:tcPr>
                </a:tc>
                <a:tc>
                  <a:txBody>
                    <a:bodyPr/>
                    <a:lstStyle/>
                    <a:p>
                      <a:pPr marL="0" indent="0" algn="ctr">
                        <a:buNone/>
                      </a:pPr>
                      <a:r>
                        <a:rPr lang="en-US" sz="1200" dirty="0">
                          <a:solidFill>
                            <a:srgbClr val="028090"/>
                          </a:solidFill>
                          <a:latin typeface="Calibri" pitchFamily="34" charset="0"/>
                          <a:ea typeface="Calibri" pitchFamily="34" charset="-122"/>
                          <a:cs typeface="Calibri" pitchFamily="34" charset="-120"/>
                        </a:rPr>
                        <a:t>10 questions</a:t>
                      </a:r>
                      <a:endParaRPr lang="en-US" sz="1200" dirty="0">
                        <a:latin typeface="Calibri" charset="0"/>
                        <a:ea typeface="Calibri" charset="0"/>
                        <a:cs typeface="Calibri" charset="0"/>
                      </a:endParaRPr>
                    </a:p>
                  </a:txBody>
                  <a:tcPr>
                    <a:lnL w="6350" cap="flat" cmpd="sng" algn="ctr">
                      <a:solidFill>
                        <a:srgbClr val="C8DCE8"/>
                      </a:solidFill>
                      <a:prstDash val="solid"/>
                      <a:round/>
                      <a:headEnd type="none" w="med" len="med"/>
                      <a:tailEnd type="none" w="med" len="med"/>
                    </a:lnL>
                    <a:lnR w="6350" cap="flat" cmpd="sng" algn="ctr">
                      <a:solidFill>
                        <a:srgbClr val="C8DCE8"/>
                      </a:solidFill>
                      <a:prstDash val="solid"/>
                      <a:round/>
                      <a:headEnd type="none" w="med" len="med"/>
                      <a:tailEnd type="none" w="med" len="med"/>
                    </a:lnR>
                    <a:lnT w="6350" cap="flat" cmpd="sng" algn="ctr">
                      <a:solidFill>
                        <a:srgbClr val="C8DCE8"/>
                      </a:solidFill>
                      <a:prstDash val="solid"/>
                      <a:round/>
                      <a:headEnd type="none" w="med" len="med"/>
                      <a:tailEnd type="none" w="med" len="med"/>
                    </a:lnT>
                    <a:lnB w="6350" cap="flat" cmpd="sng" algn="ctr">
                      <a:solidFill>
                        <a:srgbClr val="C8DCE8"/>
                      </a:solidFill>
                      <a:prstDash val="solid"/>
                      <a:round/>
                      <a:headEnd type="none" w="med" len="med"/>
                      <a:tailEnd type="none" w="med" len="med"/>
                    </a:lnB>
                  </a:tcPr>
                </a:tc>
                <a:extLst>
                  <a:ext uri="{0D108BD9-81ED-4DB2-BD59-A6C34878D82A}">
                    <a16:rowId xmlns:a16="http://schemas.microsoft.com/office/drawing/2014/main" val="10002"/>
                  </a:ext>
                </a:extLst>
              </a:tr>
              <a:tr h="475488">
                <a:tc>
                  <a:txBody>
                    <a:bodyPr/>
                    <a:lstStyle/>
                    <a:p>
                      <a:pPr marL="0" indent="0" algn="l">
                        <a:buNone/>
                      </a:pPr>
                      <a:r>
                        <a:rPr lang="en-US" sz="1200" b="1" dirty="0">
                          <a:solidFill>
                            <a:srgbClr val="000000"/>
                          </a:solidFill>
                          <a:latin typeface="Calibri" pitchFamily="34" charset="0"/>
                          <a:ea typeface="Calibri" pitchFamily="34" charset="-122"/>
                          <a:cs typeface="Calibri" pitchFamily="34" charset="-120"/>
                        </a:rPr>
                        <a:t>Adequate (3)</a:t>
                      </a:r>
                      <a:endParaRPr lang="en-US" sz="1200" dirty="0">
                        <a:latin typeface="Calibri" charset="0"/>
                        <a:ea typeface="Calibri" charset="0"/>
                        <a:cs typeface="Calibri" charset="0"/>
                      </a:endParaRPr>
                    </a:p>
                  </a:txBody>
                  <a:tcPr>
                    <a:lnL w="6350" cap="flat" cmpd="sng" algn="ctr">
                      <a:solidFill>
                        <a:srgbClr val="C8DCE8"/>
                      </a:solidFill>
                      <a:prstDash val="solid"/>
                      <a:round/>
                      <a:headEnd type="none" w="med" len="med"/>
                      <a:tailEnd type="none" w="med" len="med"/>
                    </a:lnL>
                    <a:lnR w="6350" cap="flat" cmpd="sng" algn="ctr">
                      <a:solidFill>
                        <a:srgbClr val="C8DCE8"/>
                      </a:solidFill>
                      <a:prstDash val="solid"/>
                      <a:round/>
                      <a:headEnd type="none" w="med" len="med"/>
                      <a:tailEnd type="none" w="med" len="med"/>
                    </a:lnR>
                    <a:lnT w="6350" cap="flat" cmpd="sng" algn="ctr">
                      <a:solidFill>
                        <a:srgbClr val="C8DCE8"/>
                      </a:solidFill>
                      <a:prstDash val="solid"/>
                      <a:round/>
                      <a:headEnd type="none" w="med" len="med"/>
                      <a:tailEnd type="none" w="med" len="med"/>
                    </a:lnT>
                    <a:lnB w="6350" cap="flat" cmpd="sng" algn="ctr">
                      <a:solidFill>
                        <a:srgbClr val="C8DCE8"/>
                      </a:solidFill>
                      <a:prstDash val="solid"/>
                      <a:round/>
                      <a:headEnd type="none" w="med" len="med"/>
                      <a:tailEnd type="none" w="med" len="med"/>
                    </a:lnB>
                  </a:tcPr>
                </a:tc>
                <a:tc>
                  <a:txBody>
                    <a:bodyPr/>
                    <a:lstStyle/>
                    <a:p>
                      <a:pPr marL="0" indent="0" algn="ctr">
                        <a:buNone/>
                      </a:pPr>
                      <a:r>
                        <a:rPr lang="en-US" sz="1200" dirty="0">
                          <a:solidFill>
                            <a:srgbClr val="E76F51"/>
                          </a:solidFill>
                          <a:latin typeface="Calibri" pitchFamily="34" charset="0"/>
                          <a:ea typeface="Calibri" pitchFamily="34" charset="-122"/>
                          <a:cs typeface="Calibri" pitchFamily="34" charset="-120"/>
                        </a:rPr>
                        <a:t>14 questions</a:t>
                      </a:r>
                      <a:endParaRPr lang="en-US" sz="1200" dirty="0">
                        <a:latin typeface="Calibri" charset="0"/>
                        <a:ea typeface="Calibri" charset="0"/>
                        <a:cs typeface="Calibri" charset="0"/>
                      </a:endParaRPr>
                    </a:p>
                  </a:txBody>
                  <a:tcPr>
                    <a:lnL w="6350" cap="flat" cmpd="sng" algn="ctr">
                      <a:solidFill>
                        <a:srgbClr val="C8DCE8"/>
                      </a:solidFill>
                      <a:prstDash val="solid"/>
                      <a:round/>
                      <a:headEnd type="none" w="med" len="med"/>
                      <a:tailEnd type="none" w="med" len="med"/>
                    </a:lnL>
                    <a:lnR w="6350" cap="flat" cmpd="sng" algn="ctr">
                      <a:solidFill>
                        <a:srgbClr val="C8DCE8"/>
                      </a:solidFill>
                      <a:prstDash val="solid"/>
                      <a:round/>
                      <a:headEnd type="none" w="med" len="med"/>
                      <a:tailEnd type="none" w="med" len="med"/>
                    </a:lnR>
                    <a:lnT w="6350" cap="flat" cmpd="sng" algn="ctr">
                      <a:solidFill>
                        <a:srgbClr val="C8DCE8"/>
                      </a:solidFill>
                      <a:prstDash val="solid"/>
                      <a:round/>
                      <a:headEnd type="none" w="med" len="med"/>
                      <a:tailEnd type="none" w="med" len="med"/>
                    </a:lnT>
                    <a:lnB w="6350" cap="flat" cmpd="sng" algn="ctr">
                      <a:solidFill>
                        <a:srgbClr val="C8DCE8"/>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3 questions</a:t>
                      </a:r>
                      <a:endParaRPr lang="en-US" sz="1200" dirty="0">
                        <a:latin typeface="Calibri" charset="0"/>
                        <a:ea typeface="Calibri" charset="0"/>
                        <a:cs typeface="Calibri" charset="0"/>
                      </a:endParaRPr>
                    </a:p>
                  </a:txBody>
                  <a:tcPr>
                    <a:lnL w="6350" cap="flat" cmpd="sng" algn="ctr">
                      <a:solidFill>
                        <a:srgbClr val="C8DCE8"/>
                      </a:solidFill>
                      <a:prstDash val="solid"/>
                      <a:round/>
                      <a:headEnd type="none" w="med" len="med"/>
                      <a:tailEnd type="none" w="med" len="med"/>
                    </a:lnL>
                    <a:lnR w="6350" cap="flat" cmpd="sng" algn="ctr">
                      <a:solidFill>
                        <a:srgbClr val="C8DCE8"/>
                      </a:solidFill>
                      <a:prstDash val="solid"/>
                      <a:round/>
                      <a:headEnd type="none" w="med" len="med"/>
                      <a:tailEnd type="none" w="med" len="med"/>
                    </a:lnR>
                    <a:lnT w="6350" cap="flat" cmpd="sng" algn="ctr">
                      <a:solidFill>
                        <a:srgbClr val="C8DCE8"/>
                      </a:solidFill>
                      <a:prstDash val="solid"/>
                      <a:round/>
                      <a:headEnd type="none" w="med" len="med"/>
                      <a:tailEnd type="none" w="med" len="med"/>
                    </a:lnT>
                    <a:lnB w="6350" cap="flat" cmpd="sng" algn="ctr">
                      <a:solidFill>
                        <a:srgbClr val="C8DCE8"/>
                      </a:solidFill>
                      <a:prstDash val="solid"/>
                      <a:round/>
                      <a:headEnd type="none" w="med" len="med"/>
                      <a:tailEnd type="none" w="med" len="med"/>
                    </a:lnB>
                  </a:tcPr>
                </a:tc>
                <a:extLst>
                  <a:ext uri="{0D108BD9-81ED-4DB2-BD59-A6C34878D82A}">
                    <a16:rowId xmlns:a16="http://schemas.microsoft.com/office/drawing/2014/main" val="10003"/>
                  </a:ext>
                </a:extLst>
              </a:tr>
              <a:tr h="475488">
                <a:tc>
                  <a:txBody>
                    <a:bodyPr/>
                    <a:lstStyle/>
                    <a:p>
                      <a:pPr marL="0" indent="0" algn="l">
                        <a:buNone/>
                      </a:pPr>
                      <a:r>
                        <a:rPr lang="en-US" sz="1200" b="1" dirty="0">
                          <a:solidFill>
                            <a:srgbClr val="000000"/>
                          </a:solidFill>
                          <a:latin typeface="Calibri" pitchFamily="34" charset="0"/>
                          <a:ea typeface="Calibri" pitchFamily="34" charset="-122"/>
                          <a:cs typeface="Calibri" pitchFamily="34" charset="-120"/>
                        </a:rPr>
                        <a:t>Poor (2)</a:t>
                      </a:r>
                      <a:endParaRPr lang="en-US" sz="1200" dirty="0">
                        <a:latin typeface="Calibri" charset="0"/>
                        <a:ea typeface="Calibri" charset="0"/>
                        <a:cs typeface="Calibri" charset="0"/>
                      </a:endParaRPr>
                    </a:p>
                  </a:txBody>
                  <a:tcPr>
                    <a:lnL w="6350" cap="flat" cmpd="sng" algn="ctr">
                      <a:solidFill>
                        <a:srgbClr val="C8DCE8"/>
                      </a:solidFill>
                      <a:prstDash val="solid"/>
                      <a:round/>
                      <a:headEnd type="none" w="med" len="med"/>
                      <a:tailEnd type="none" w="med" len="med"/>
                    </a:lnL>
                    <a:lnR w="6350" cap="flat" cmpd="sng" algn="ctr">
                      <a:solidFill>
                        <a:srgbClr val="C8DCE8"/>
                      </a:solidFill>
                      <a:prstDash val="solid"/>
                      <a:round/>
                      <a:headEnd type="none" w="med" len="med"/>
                      <a:tailEnd type="none" w="med" len="med"/>
                    </a:lnR>
                    <a:lnT w="6350" cap="flat" cmpd="sng" algn="ctr">
                      <a:solidFill>
                        <a:srgbClr val="C8DCE8"/>
                      </a:solidFill>
                      <a:prstDash val="solid"/>
                      <a:round/>
                      <a:headEnd type="none" w="med" len="med"/>
                      <a:tailEnd type="none" w="med" len="med"/>
                    </a:lnT>
                    <a:lnB w="6350" cap="flat" cmpd="sng" algn="ctr">
                      <a:solidFill>
                        <a:srgbClr val="C8DCE8"/>
                      </a:solidFill>
                      <a:prstDash val="solid"/>
                      <a:round/>
                      <a:headEnd type="none" w="med" len="med"/>
                      <a:tailEnd type="none" w="med" len="med"/>
                    </a:lnB>
                  </a:tcPr>
                </a:tc>
                <a:tc>
                  <a:txBody>
                    <a:bodyPr/>
                    <a:lstStyle/>
                    <a:p>
                      <a:pPr marL="0" indent="0" algn="ctr">
                        <a:buNone/>
                      </a:pPr>
                      <a:r>
                        <a:rPr lang="en-US" sz="1200" b="1" dirty="0">
                          <a:solidFill>
                            <a:srgbClr val="E76F51"/>
                          </a:solidFill>
                          <a:latin typeface="Calibri" pitchFamily="34" charset="0"/>
                          <a:ea typeface="Calibri" pitchFamily="34" charset="-122"/>
                          <a:cs typeface="Calibri" pitchFamily="34" charset="-120"/>
                        </a:rPr>
                        <a:t>5 questions</a:t>
                      </a:r>
                      <a:endParaRPr lang="en-US" sz="1200" dirty="0">
                        <a:latin typeface="Calibri" charset="0"/>
                        <a:ea typeface="Calibri" charset="0"/>
                        <a:cs typeface="Calibri" charset="0"/>
                      </a:endParaRPr>
                    </a:p>
                  </a:txBody>
                  <a:tcPr>
                    <a:lnL w="6350" cap="flat" cmpd="sng" algn="ctr">
                      <a:solidFill>
                        <a:srgbClr val="C8DCE8"/>
                      </a:solidFill>
                      <a:prstDash val="solid"/>
                      <a:round/>
                      <a:headEnd type="none" w="med" len="med"/>
                      <a:tailEnd type="none" w="med" len="med"/>
                    </a:lnL>
                    <a:lnR w="6350" cap="flat" cmpd="sng" algn="ctr">
                      <a:solidFill>
                        <a:srgbClr val="C8DCE8"/>
                      </a:solidFill>
                      <a:prstDash val="solid"/>
                      <a:round/>
                      <a:headEnd type="none" w="med" len="med"/>
                      <a:tailEnd type="none" w="med" len="med"/>
                    </a:lnR>
                    <a:lnT w="6350" cap="flat" cmpd="sng" algn="ctr">
                      <a:solidFill>
                        <a:srgbClr val="C8DCE8"/>
                      </a:solidFill>
                      <a:prstDash val="solid"/>
                      <a:round/>
                      <a:headEnd type="none" w="med" len="med"/>
                      <a:tailEnd type="none" w="med" len="med"/>
                    </a:lnT>
                    <a:lnB w="6350" cap="flat" cmpd="sng" algn="ctr">
                      <a:solidFill>
                        <a:srgbClr val="C8DCE8"/>
                      </a:solidFill>
                      <a:prstDash val="solid"/>
                      <a:round/>
                      <a:headEnd type="none" w="med" len="med"/>
                      <a:tailEnd type="none" w="med" len="med"/>
                    </a:lnB>
                  </a:tcPr>
                </a:tc>
                <a:tc>
                  <a:txBody>
                    <a:bodyPr/>
                    <a:lstStyle/>
                    <a:p>
                      <a:pPr marL="0" indent="0" algn="ctr">
                        <a:buNone/>
                      </a:pPr>
                      <a:r>
                        <a:rPr lang="en-US" sz="1200" b="1" dirty="0">
                          <a:solidFill>
                            <a:srgbClr val="028090"/>
                          </a:solidFill>
                          <a:latin typeface="Calibri" pitchFamily="34" charset="0"/>
                          <a:ea typeface="Calibri" pitchFamily="34" charset="-122"/>
                          <a:cs typeface="Calibri" pitchFamily="34" charset="-120"/>
                        </a:rPr>
                        <a:t>0 questions ▲</a:t>
                      </a:r>
                      <a:endParaRPr lang="en-US" sz="1200" dirty="0">
                        <a:latin typeface="Calibri" charset="0"/>
                        <a:ea typeface="Calibri" charset="0"/>
                        <a:cs typeface="Calibri" charset="0"/>
                      </a:endParaRPr>
                    </a:p>
                  </a:txBody>
                  <a:tcPr>
                    <a:lnL w="6350" cap="flat" cmpd="sng" algn="ctr">
                      <a:solidFill>
                        <a:srgbClr val="C8DCE8"/>
                      </a:solidFill>
                      <a:prstDash val="solid"/>
                      <a:round/>
                      <a:headEnd type="none" w="med" len="med"/>
                      <a:tailEnd type="none" w="med" len="med"/>
                    </a:lnL>
                    <a:lnR w="6350" cap="flat" cmpd="sng" algn="ctr">
                      <a:solidFill>
                        <a:srgbClr val="C8DCE8"/>
                      </a:solidFill>
                      <a:prstDash val="solid"/>
                      <a:round/>
                      <a:headEnd type="none" w="med" len="med"/>
                      <a:tailEnd type="none" w="med" len="med"/>
                    </a:lnR>
                    <a:lnT w="6350" cap="flat" cmpd="sng" algn="ctr">
                      <a:solidFill>
                        <a:srgbClr val="C8DCE8"/>
                      </a:solidFill>
                      <a:prstDash val="solid"/>
                      <a:round/>
                      <a:headEnd type="none" w="med" len="med"/>
                      <a:tailEnd type="none" w="med" len="med"/>
                    </a:lnT>
                    <a:lnB w="6350" cap="flat" cmpd="sng" algn="ctr">
                      <a:solidFill>
                        <a:srgbClr val="C8DCE8"/>
                      </a:solidFill>
                      <a:prstDash val="solid"/>
                      <a:round/>
                      <a:headEnd type="none" w="med" len="med"/>
                      <a:tailEnd type="none" w="med" len="med"/>
                    </a:lnB>
                  </a:tcPr>
                </a:tc>
                <a:extLst>
                  <a:ext uri="{0D108BD9-81ED-4DB2-BD59-A6C34878D82A}">
                    <a16:rowId xmlns:a16="http://schemas.microsoft.com/office/drawing/2014/main" val="10004"/>
                  </a:ext>
                </a:extLst>
              </a:tr>
              <a:tr h="475488">
                <a:tc>
                  <a:txBody>
                    <a:bodyPr/>
                    <a:lstStyle/>
                    <a:p>
                      <a:pPr marL="0" indent="0" algn="l">
                        <a:buNone/>
                      </a:pPr>
                      <a:r>
                        <a:rPr lang="en-US" sz="1200" b="1" dirty="0">
                          <a:solidFill>
                            <a:srgbClr val="000000"/>
                          </a:solidFill>
                          <a:latin typeface="Calibri" pitchFamily="34" charset="0"/>
                          <a:ea typeface="Calibri" pitchFamily="34" charset="-122"/>
                          <a:cs typeface="Calibri" pitchFamily="34" charset="-120"/>
                        </a:rPr>
                        <a:t>Dangerous (1)</a:t>
                      </a:r>
                      <a:endParaRPr lang="en-US" sz="1200" dirty="0">
                        <a:latin typeface="Calibri" charset="0"/>
                        <a:ea typeface="Calibri" charset="0"/>
                        <a:cs typeface="Calibri" charset="0"/>
                      </a:endParaRPr>
                    </a:p>
                  </a:txBody>
                  <a:tcPr>
                    <a:lnL w="6350" cap="flat" cmpd="sng" algn="ctr">
                      <a:solidFill>
                        <a:srgbClr val="C8DCE8"/>
                      </a:solidFill>
                      <a:prstDash val="solid"/>
                      <a:round/>
                      <a:headEnd type="none" w="med" len="med"/>
                      <a:tailEnd type="none" w="med" len="med"/>
                    </a:lnL>
                    <a:lnR w="6350" cap="flat" cmpd="sng" algn="ctr">
                      <a:solidFill>
                        <a:srgbClr val="C8DCE8"/>
                      </a:solidFill>
                      <a:prstDash val="solid"/>
                      <a:round/>
                      <a:headEnd type="none" w="med" len="med"/>
                      <a:tailEnd type="none" w="med" len="med"/>
                    </a:lnR>
                    <a:lnT w="6350" cap="flat" cmpd="sng" algn="ctr">
                      <a:solidFill>
                        <a:srgbClr val="C8DCE8"/>
                      </a:solidFill>
                      <a:prstDash val="solid"/>
                      <a:round/>
                      <a:headEnd type="none" w="med" len="med"/>
                      <a:tailEnd type="none" w="med" len="med"/>
                    </a:lnT>
                    <a:lnB w="6350" cap="flat" cmpd="sng" algn="ctr">
                      <a:solidFill>
                        <a:srgbClr val="C8DCE8"/>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0 questions</a:t>
                      </a:r>
                      <a:endParaRPr lang="en-US" sz="1200" dirty="0">
                        <a:latin typeface="Calibri" charset="0"/>
                        <a:ea typeface="Calibri" charset="0"/>
                        <a:cs typeface="Calibri" charset="0"/>
                      </a:endParaRPr>
                    </a:p>
                  </a:txBody>
                  <a:tcPr>
                    <a:lnL w="6350" cap="flat" cmpd="sng" algn="ctr">
                      <a:solidFill>
                        <a:srgbClr val="C8DCE8"/>
                      </a:solidFill>
                      <a:prstDash val="solid"/>
                      <a:round/>
                      <a:headEnd type="none" w="med" len="med"/>
                      <a:tailEnd type="none" w="med" len="med"/>
                    </a:lnL>
                    <a:lnR w="6350" cap="flat" cmpd="sng" algn="ctr">
                      <a:solidFill>
                        <a:srgbClr val="C8DCE8"/>
                      </a:solidFill>
                      <a:prstDash val="solid"/>
                      <a:round/>
                      <a:headEnd type="none" w="med" len="med"/>
                      <a:tailEnd type="none" w="med" len="med"/>
                    </a:lnR>
                    <a:lnT w="6350" cap="flat" cmpd="sng" algn="ctr">
                      <a:solidFill>
                        <a:srgbClr val="C8DCE8"/>
                      </a:solidFill>
                      <a:prstDash val="solid"/>
                      <a:round/>
                      <a:headEnd type="none" w="med" len="med"/>
                      <a:tailEnd type="none" w="med" len="med"/>
                    </a:lnT>
                    <a:lnB w="6350" cap="flat" cmpd="sng" algn="ctr">
                      <a:solidFill>
                        <a:srgbClr val="C8DCE8"/>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0 questions</a:t>
                      </a:r>
                      <a:endParaRPr lang="en-US" sz="1200" dirty="0">
                        <a:latin typeface="Calibri" charset="0"/>
                        <a:ea typeface="Calibri" charset="0"/>
                        <a:cs typeface="Calibri" charset="0"/>
                      </a:endParaRPr>
                    </a:p>
                  </a:txBody>
                  <a:tcPr>
                    <a:lnL w="6350" cap="flat" cmpd="sng" algn="ctr">
                      <a:solidFill>
                        <a:srgbClr val="C8DCE8"/>
                      </a:solidFill>
                      <a:prstDash val="solid"/>
                      <a:round/>
                      <a:headEnd type="none" w="med" len="med"/>
                      <a:tailEnd type="none" w="med" len="med"/>
                    </a:lnL>
                    <a:lnR w="6350" cap="flat" cmpd="sng" algn="ctr">
                      <a:solidFill>
                        <a:srgbClr val="C8DCE8"/>
                      </a:solidFill>
                      <a:prstDash val="solid"/>
                      <a:round/>
                      <a:headEnd type="none" w="med" len="med"/>
                      <a:tailEnd type="none" w="med" len="med"/>
                    </a:lnR>
                    <a:lnT w="6350" cap="flat" cmpd="sng" algn="ctr">
                      <a:solidFill>
                        <a:srgbClr val="C8DCE8"/>
                      </a:solidFill>
                      <a:prstDash val="solid"/>
                      <a:round/>
                      <a:headEnd type="none" w="med" len="med"/>
                      <a:tailEnd type="none" w="med" len="med"/>
                    </a:lnT>
                    <a:lnB w="6350" cap="flat" cmpd="sng" algn="ctr">
                      <a:solidFill>
                        <a:srgbClr val="C8DCE8"/>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7" name="Text 4"/>
          <p:cNvSpPr/>
          <p:nvPr/>
        </p:nvSpPr>
        <p:spPr>
          <a:xfrm>
            <a:off x="4649843" y="1782926"/>
            <a:ext cx="4114800" cy="329184"/>
          </a:xfrm>
          <a:prstGeom prst="rect">
            <a:avLst/>
          </a:prstGeom>
          <a:noFill/>
          <a:ln/>
        </p:spPr>
        <p:txBody>
          <a:bodyPr wrap="square" rtlCol="0" anchor="ctr"/>
          <a:lstStyle/>
          <a:p>
            <a:pPr marL="0" indent="0">
              <a:buNone/>
            </a:pPr>
            <a:r>
              <a:rPr lang="en-US" sz="1300" b="1" dirty="0">
                <a:solidFill>
                  <a:srgbClr val="0D2137"/>
                </a:solidFill>
                <a:latin typeface="Calibri" pitchFamily="34" charset="0"/>
                <a:ea typeface="Calibri" pitchFamily="34" charset="-122"/>
                <a:cs typeface="Calibri" pitchFamily="34" charset="-120"/>
              </a:rPr>
              <a:t>Performance by Question Category</a:t>
            </a:r>
            <a:endParaRPr lang="en-US" sz="1300" dirty="0"/>
          </a:p>
        </p:txBody>
      </p:sp>
      <p:grpSp>
        <p:nvGrpSpPr>
          <p:cNvPr id="30" name="Group 29">
            <a:extLst>
              <a:ext uri="{FF2B5EF4-FFF2-40B4-BE49-F238E27FC236}">
                <a16:creationId xmlns:a16="http://schemas.microsoft.com/office/drawing/2014/main" id="{9DA28ECA-D61D-2CB2-F6FB-9A2F8C43EE58}"/>
              </a:ext>
            </a:extLst>
          </p:cNvPr>
          <p:cNvGrpSpPr/>
          <p:nvPr/>
        </p:nvGrpSpPr>
        <p:grpSpPr>
          <a:xfrm>
            <a:off x="4736592" y="2117830"/>
            <a:ext cx="4228504" cy="2569464"/>
            <a:chOff x="4736592" y="2340864"/>
            <a:chExt cx="4228504" cy="2569464"/>
          </a:xfrm>
        </p:grpSpPr>
        <p:sp>
          <p:nvSpPr>
            <p:cNvPr id="8" name="Text 5"/>
            <p:cNvSpPr/>
            <p:nvPr/>
          </p:nvSpPr>
          <p:spPr>
            <a:xfrm>
              <a:off x="4736592" y="2340864"/>
              <a:ext cx="2468880" cy="274320"/>
            </a:xfrm>
            <a:prstGeom prst="rect">
              <a:avLst/>
            </a:prstGeom>
            <a:noFill/>
            <a:ln/>
          </p:spPr>
          <p:txBody>
            <a:bodyPr wrap="square" rtlCol="0" anchor="ctr"/>
            <a:lstStyle/>
            <a:p>
              <a:pPr marL="0" indent="0">
                <a:buNone/>
              </a:pPr>
              <a:r>
                <a:rPr lang="en-US" sz="1100" dirty="0">
                  <a:solidFill>
                    <a:srgbClr val="1A2B3C"/>
                  </a:solidFill>
                  <a:latin typeface="Calibri" pitchFamily="34" charset="0"/>
                  <a:ea typeface="Calibri" pitchFamily="34" charset="-122"/>
                  <a:cs typeface="Calibri" pitchFamily="34" charset="-120"/>
                </a:rPr>
                <a:t>Safety / Complications</a:t>
              </a:r>
              <a:endParaRPr lang="en-US" sz="1100" dirty="0"/>
            </a:p>
          </p:txBody>
        </p:sp>
        <p:sp>
          <p:nvSpPr>
            <p:cNvPr id="9" name="Text 6"/>
            <p:cNvSpPr/>
            <p:nvPr/>
          </p:nvSpPr>
          <p:spPr>
            <a:xfrm>
              <a:off x="7269480" y="2340864"/>
              <a:ext cx="914400" cy="274320"/>
            </a:xfrm>
            <a:prstGeom prst="rect">
              <a:avLst/>
            </a:prstGeom>
            <a:noFill/>
            <a:ln/>
          </p:spPr>
          <p:txBody>
            <a:bodyPr wrap="square" rtlCol="0" anchor="ctr"/>
            <a:lstStyle/>
            <a:p>
              <a:pPr marL="0" indent="0" algn="r">
                <a:buNone/>
              </a:pPr>
              <a:r>
                <a:rPr lang="en-US" sz="1000" dirty="0">
                  <a:solidFill>
                    <a:srgbClr val="5A7080"/>
                  </a:solidFill>
                  <a:latin typeface="Calibri" pitchFamily="34" charset="0"/>
                  <a:ea typeface="Calibri" pitchFamily="34" charset="-122"/>
                  <a:cs typeface="Calibri" pitchFamily="34" charset="-120"/>
                </a:rPr>
                <a:t>2.75→4.55</a:t>
              </a:r>
              <a:endParaRPr lang="en-US" sz="1000" dirty="0"/>
            </a:p>
          </p:txBody>
        </p:sp>
        <p:sp>
          <p:nvSpPr>
            <p:cNvPr id="10" name="Shape 7"/>
            <p:cNvSpPr/>
            <p:nvPr/>
          </p:nvSpPr>
          <p:spPr>
            <a:xfrm>
              <a:off x="4736592" y="2615184"/>
              <a:ext cx="3566160" cy="182880"/>
            </a:xfrm>
            <a:prstGeom prst="rect">
              <a:avLst/>
            </a:prstGeom>
            <a:solidFill>
              <a:srgbClr val="028090"/>
            </a:solidFill>
            <a:ln w="12700">
              <a:solidFill>
                <a:srgbClr val="028090"/>
              </a:solidFill>
              <a:prstDash val="solid"/>
            </a:ln>
          </p:spPr>
          <p:txBody>
            <a:bodyPr/>
            <a:lstStyle/>
            <a:p>
              <a:endParaRPr lang="en-CN"/>
            </a:p>
          </p:txBody>
        </p:sp>
        <p:sp>
          <p:nvSpPr>
            <p:cNvPr id="11" name="Text 8"/>
            <p:cNvSpPr/>
            <p:nvPr/>
          </p:nvSpPr>
          <p:spPr>
            <a:xfrm>
              <a:off x="8375904" y="2587752"/>
              <a:ext cx="589192" cy="210312"/>
            </a:xfrm>
            <a:prstGeom prst="rect">
              <a:avLst/>
            </a:prstGeom>
            <a:noFill/>
            <a:ln/>
          </p:spPr>
          <p:txBody>
            <a:bodyPr wrap="square" rtlCol="0" anchor="ctr"/>
            <a:lstStyle/>
            <a:p>
              <a:pPr marL="0" indent="0">
                <a:buNone/>
              </a:pPr>
              <a:r>
                <a:rPr lang="en-US" sz="1150" b="1" dirty="0">
                  <a:solidFill>
                    <a:srgbClr val="028090"/>
                  </a:solidFill>
                  <a:latin typeface="Calibri" pitchFamily="34" charset="0"/>
                  <a:ea typeface="Calibri" pitchFamily="34" charset="-122"/>
                  <a:cs typeface="Calibri" pitchFamily="34" charset="-120"/>
                </a:rPr>
                <a:t>+1.80</a:t>
              </a:r>
              <a:endParaRPr lang="en-US" sz="1150" dirty="0"/>
            </a:p>
          </p:txBody>
        </p:sp>
        <p:sp>
          <p:nvSpPr>
            <p:cNvPr id="12" name="Text 9"/>
            <p:cNvSpPr/>
            <p:nvPr/>
          </p:nvSpPr>
          <p:spPr>
            <a:xfrm>
              <a:off x="4736592" y="2852928"/>
              <a:ext cx="2468880" cy="274320"/>
            </a:xfrm>
            <a:prstGeom prst="rect">
              <a:avLst/>
            </a:prstGeom>
            <a:noFill/>
            <a:ln/>
          </p:spPr>
          <p:txBody>
            <a:bodyPr wrap="square" rtlCol="0" anchor="ctr"/>
            <a:lstStyle/>
            <a:p>
              <a:pPr marL="0" indent="0">
                <a:buNone/>
              </a:pPr>
              <a:r>
                <a:rPr lang="en-US" sz="1100" dirty="0">
                  <a:solidFill>
                    <a:srgbClr val="1A2B3C"/>
                  </a:solidFill>
                  <a:latin typeface="Calibri" pitchFamily="34" charset="0"/>
                  <a:ea typeface="Calibri" pitchFamily="34" charset="-122"/>
                  <a:cs typeface="Calibri" pitchFamily="34" charset="-120"/>
                </a:rPr>
                <a:t>Recovery Timelines</a:t>
              </a:r>
              <a:endParaRPr lang="en-US" sz="1100" dirty="0"/>
            </a:p>
          </p:txBody>
        </p:sp>
        <p:sp>
          <p:nvSpPr>
            <p:cNvPr id="13" name="Text 10"/>
            <p:cNvSpPr/>
            <p:nvPr/>
          </p:nvSpPr>
          <p:spPr>
            <a:xfrm>
              <a:off x="7269480" y="2852928"/>
              <a:ext cx="914400" cy="274320"/>
            </a:xfrm>
            <a:prstGeom prst="rect">
              <a:avLst/>
            </a:prstGeom>
            <a:noFill/>
            <a:ln/>
          </p:spPr>
          <p:txBody>
            <a:bodyPr wrap="square" rtlCol="0" anchor="ctr"/>
            <a:lstStyle/>
            <a:p>
              <a:pPr marL="0" indent="0" algn="r">
                <a:buNone/>
              </a:pPr>
              <a:r>
                <a:rPr lang="en-US" sz="1000" dirty="0">
                  <a:solidFill>
                    <a:srgbClr val="5A7080"/>
                  </a:solidFill>
                  <a:latin typeface="Calibri" pitchFamily="34" charset="0"/>
                  <a:ea typeface="Calibri" pitchFamily="34" charset="-122"/>
                  <a:cs typeface="Calibri" pitchFamily="34" charset="-120"/>
                </a:rPr>
                <a:t>3.00→4.55</a:t>
              </a:r>
              <a:endParaRPr lang="en-US" sz="1000" dirty="0"/>
            </a:p>
          </p:txBody>
        </p:sp>
        <p:sp>
          <p:nvSpPr>
            <p:cNvPr id="6" name="Shape 11"/>
            <p:cNvSpPr/>
            <p:nvPr/>
          </p:nvSpPr>
          <p:spPr>
            <a:xfrm>
              <a:off x="4736592" y="3127248"/>
              <a:ext cx="3066898" cy="182880"/>
            </a:xfrm>
            <a:prstGeom prst="rect">
              <a:avLst/>
            </a:prstGeom>
            <a:solidFill>
              <a:srgbClr val="028090"/>
            </a:solidFill>
            <a:ln w="12700">
              <a:solidFill>
                <a:srgbClr val="028090"/>
              </a:solidFill>
              <a:prstDash val="solid"/>
            </a:ln>
          </p:spPr>
          <p:txBody>
            <a:bodyPr/>
            <a:lstStyle/>
            <a:p>
              <a:endParaRPr lang="en-CN"/>
            </a:p>
          </p:txBody>
        </p:sp>
        <p:sp>
          <p:nvSpPr>
            <p:cNvPr id="15" name="Text 12"/>
            <p:cNvSpPr/>
            <p:nvPr/>
          </p:nvSpPr>
          <p:spPr>
            <a:xfrm>
              <a:off x="7876642" y="3099816"/>
              <a:ext cx="810158" cy="256186"/>
            </a:xfrm>
            <a:prstGeom prst="rect">
              <a:avLst/>
            </a:prstGeom>
            <a:noFill/>
            <a:ln/>
          </p:spPr>
          <p:txBody>
            <a:bodyPr wrap="square" rtlCol="0" anchor="ctr"/>
            <a:lstStyle/>
            <a:p>
              <a:pPr marL="0" indent="0">
                <a:buNone/>
              </a:pPr>
              <a:r>
                <a:rPr lang="en-US" sz="1150" b="1" dirty="0">
                  <a:solidFill>
                    <a:srgbClr val="028090"/>
                  </a:solidFill>
                  <a:latin typeface="Calibri" pitchFamily="34" charset="0"/>
                  <a:ea typeface="Calibri" pitchFamily="34" charset="-122"/>
                  <a:cs typeface="Calibri" pitchFamily="34" charset="-120"/>
                </a:rPr>
                <a:t>+1.55</a:t>
              </a:r>
              <a:endParaRPr lang="en-US" sz="1150" dirty="0"/>
            </a:p>
          </p:txBody>
        </p:sp>
        <p:sp>
          <p:nvSpPr>
            <p:cNvPr id="16" name="Text 13"/>
            <p:cNvSpPr/>
            <p:nvPr/>
          </p:nvSpPr>
          <p:spPr>
            <a:xfrm>
              <a:off x="4736592" y="3364992"/>
              <a:ext cx="2468880" cy="274320"/>
            </a:xfrm>
            <a:prstGeom prst="rect">
              <a:avLst/>
            </a:prstGeom>
            <a:noFill/>
            <a:ln/>
          </p:spPr>
          <p:txBody>
            <a:bodyPr wrap="square" rtlCol="0" anchor="ctr"/>
            <a:lstStyle/>
            <a:p>
              <a:pPr marL="0" indent="0">
                <a:buNone/>
              </a:pPr>
              <a:r>
                <a:rPr lang="en-US" sz="1100" dirty="0">
                  <a:solidFill>
                    <a:srgbClr val="1A2B3C"/>
                  </a:solidFill>
                  <a:latin typeface="Calibri" pitchFamily="34" charset="0"/>
                  <a:ea typeface="Calibri" pitchFamily="34" charset="-122"/>
                  <a:cs typeface="Calibri" pitchFamily="34" charset="-120"/>
                </a:rPr>
                <a:t>Eligibility Criteria</a:t>
              </a:r>
              <a:endParaRPr lang="en-US" sz="1100" dirty="0"/>
            </a:p>
          </p:txBody>
        </p:sp>
        <p:sp>
          <p:nvSpPr>
            <p:cNvPr id="17" name="Text 14"/>
            <p:cNvSpPr/>
            <p:nvPr/>
          </p:nvSpPr>
          <p:spPr>
            <a:xfrm>
              <a:off x="7269480" y="3364992"/>
              <a:ext cx="914400" cy="274320"/>
            </a:xfrm>
            <a:prstGeom prst="rect">
              <a:avLst/>
            </a:prstGeom>
            <a:noFill/>
            <a:ln/>
          </p:spPr>
          <p:txBody>
            <a:bodyPr wrap="square" rtlCol="0" anchor="ctr"/>
            <a:lstStyle/>
            <a:p>
              <a:pPr marL="0" indent="0" algn="r">
                <a:buNone/>
              </a:pPr>
              <a:r>
                <a:rPr lang="en-US" sz="1000" dirty="0">
                  <a:solidFill>
                    <a:srgbClr val="5A7080"/>
                  </a:solidFill>
                  <a:latin typeface="Calibri" pitchFamily="34" charset="0"/>
                  <a:ea typeface="Calibri" pitchFamily="34" charset="-122"/>
                  <a:cs typeface="Calibri" pitchFamily="34" charset="-120"/>
                </a:rPr>
                <a:t>2.67→4.17</a:t>
              </a:r>
              <a:endParaRPr lang="en-US" sz="1000" dirty="0"/>
            </a:p>
          </p:txBody>
        </p:sp>
        <p:sp>
          <p:nvSpPr>
            <p:cNvPr id="18" name="Shape 15"/>
            <p:cNvSpPr/>
            <p:nvPr/>
          </p:nvSpPr>
          <p:spPr>
            <a:xfrm>
              <a:off x="4736592" y="3639312"/>
              <a:ext cx="2959913" cy="182880"/>
            </a:xfrm>
            <a:prstGeom prst="rect">
              <a:avLst/>
            </a:prstGeom>
            <a:solidFill>
              <a:srgbClr val="028090"/>
            </a:solidFill>
            <a:ln w="12700">
              <a:solidFill>
                <a:srgbClr val="028090"/>
              </a:solidFill>
              <a:prstDash val="solid"/>
            </a:ln>
          </p:spPr>
          <p:txBody>
            <a:bodyPr/>
            <a:lstStyle/>
            <a:p>
              <a:endParaRPr lang="en-CN"/>
            </a:p>
          </p:txBody>
        </p:sp>
        <p:sp>
          <p:nvSpPr>
            <p:cNvPr id="19" name="Text 16"/>
            <p:cNvSpPr/>
            <p:nvPr/>
          </p:nvSpPr>
          <p:spPr>
            <a:xfrm>
              <a:off x="7769656" y="3611880"/>
              <a:ext cx="914399" cy="210312"/>
            </a:xfrm>
            <a:prstGeom prst="rect">
              <a:avLst/>
            </a:prstGeom>
            <a:noFill/>
            <a:ln/>
          </p:spPr>
          <p:txBody>
            <a:bodyPr wrap="square" rtlCol="0" anchor="ctr"/>
            <a:lstStyle/>
            <a:p>
              <a:pPr marL="0" indent="0">
                <a:buNone/>
              </a:pPr>
              <a:r>
                <a:rPr lang="en-US" sz="1150" b="1" dirty="0">
                  <a:solidFill>
                    <a:srgbClr val="028090"/>
                  </a:solidFill>
                  <a:latin typeface="Calibri" pitchFamily="34" charset="0"/>
                  <a:ea typeface="Calibri" pitchFamily="34" charset="-122"/>
                  <a:cs typeface="Calibri" pitchFamily="34" charset="-120"/>
                </a:rPr>
                <a:t>+1.50</a:t>
              </a:r>
              <a:endParaRPr lang="en-US" sz="1150" dirty="0"/>
            </a:p>
          </p:txBody>
        </p:sp>
        <p:sp>
          <p:nvSpPr>
            <p:cNvPr id="20" name="Text 17"/>
            <p:cNvSpPr/>
            <p:nvPr/>
          </p:nvSpPr>
          <p:spPr>
            <a:xfrm>
              <a:off x="4736592" y="3877056"/>
              <a:ext cx="2468880" cy="274320"/>
            </a:xfrm>
            <a:prstGeom prst="rect">
              <a:avLst/>
            </a:prstGeom>
            <a:noFill/>
            <a:ln/>
          </p:spPr>
          <p:txBody>
            <a:bodyPr wrap="square" rtlCol="0" anchor="ctr"/>
            <a:lstStyle/>
            <a:p>
              <a:pPr marL="0" indent="0">
                <a:buNone/>
              </a:pPr>
              <a:r>
                <a:rPr lang="en-US" sz="1100" dirty="0">
                  <a:solidFill>
                    <a:srgbClr val="1A2B3C"/>
                  </a:solidFill>
                  <a:latin typeface="Calibri" pitchFamily="34" charset="0"/>
                  <a:ea typeface="Calibri" pitchFamily="34" charset="-122"/>
                  <a:cs typeface="Calibri" pitchFamily="34" charset="-120"/>
                </a:rPr>
                <a:t>Procedure Comparison</a:t>
              </a:r>
              <a:endParaRPr lang="en-US" sz="1100" dirty="0"/>
            </a:p>
          </p:txBody>
        </p:sp>
        <p:sp>
          <p:nvSpPr>
            <p:cNvPr id="21" name="Text 18"/>
            <p:cNvSpPr/>
            <p:nvPr/>
          </p:nvSpPr>
          <p:spPr>
            <a:xfrm>
              <a:off x="7269480" y="3877056"/>
              <a:ext cx="914400" cy="274320"/>
            </a:xfrm>
            <a:prstGeom prst="rect">
              <a:avLst/>
            </a:prstGeom>
            <a:noFill/>
            <a:ln/>
          </p:spPr>
          <p:txBody>
            <a:bodyPr wrap="square" rtlCol="0" anchor="ctr"/>
            <a:lstStyle/>
            <a:p>
              <a:pPr marL="0" indent="0" algn="r">
                <a:buNone/>
              </a:pPr>
              <a:r>
                <a:rPr lang="en-US" sz="1000" dirty="0">
                  <a:solidFill>
                    <a:srgbClr val="5A7080"/>
                  </a:solidFill>
                  <a:latin typeface="Calibri" pitchFamily="34" charset="0"/>
                  <a:ea typeface="Calibri" pitchFamily="34" charset="-122"/>
                  <a:cs typeface="Calibri" pitchFamily="34" charset="-120"/>
                </a:rPr>
                <a:t>3.00→3.88</a:t>
              </a:r>
              <a:endParaRPr lang="en-US" sz="1000" dirty="0"/>
            </a:p>
          </p:txBody>
        </p:sp>
        <p:sp>
          <p:nvSpPr>
            <p:cNvPr id="22" name="Shape 19"/>
            <p:cNvSpPr/>
            <p:nvPr/>
          </p:nvSpPr>
          <p:spPr>
            <a:xfrm>
              <a:off x="4736592" y="4151376"/>
              <a:ext cx="1747418" cy="182880"/>
            </a:xfrm>
            <a:prstGeom prst="rect">
              <a:avLst/>
            </a:prstGeom>
            <a:solidFill>
              <a:srgbClr val="028090"/>
            </a:solidFill>
            <a:ln w="12700">
              <a:solidFill>
                <a:srgbClr val="028090"/>
              </a:solidFill>
              <a:prstDash val="solid"/>
            </a:ln>
          </p:spPr>
          <p:txBody>
            <a:bodyPr/>
            <a:lstStyle/>
            <a:p>
              <a:endParaRPr lang="en-CN"/>
            </a:p>
          </p:txBody>
        </p:sp>
        <p:sp>
          <p:nvSpPr>
            <p:cNvPr id="23" name="Text 20"/>
            <p:cNvSpPr/>
            <p:nvPr/>
          </p:nvSpPr>
          <p:spPr>
            <a:xfrm>
              <a:off x="6557162" y="4123944"/>
              <a:ext cx="914400" cy="238296"/>
            </a:xfrm>
            <a:prstGeom prst="rect">
              <a:avLst/>
            </a:prstGeom>
            <a:noFill/>
            <a:ln/>
          </p:spPr>
          <p:txBody>
            <a:bodyPr wrap="square" rtlCol="0" anchor="ctr"/>
            <a:lstStyle/>
            <a:p>
              <a:pPr marL="0" indent="0">
                <a:buNone/>
              </a:pPr>
              <a:r>
                <a:rPr lang="en-US" sz="1150" b="1" dirty="0">
                  <a:solidFill>
                    <a:srgbClr val="028090"/>
                  </a:solidFill>
                  <a:latin typeface="Calibri" pitchFamily="34" charset="0"/>
                  <a:ea typeface="Calibri" pitchFamily="34" charset="-122"/>
                  <a:cs typeface="Calibri" pitchFamily="34" charset="-120"/>
                </a:rPr>
                <a:t>+0.88</a:t>
              </a:r>
              <a:endParaRPr lang="en-US" sz="1150" dirty="0"/>
            </a:p>
          </p:txBody>
        </p:sp>
        <p:sp>
          <p:nvSpPr>
            <p:cNvPr id="24" name="Text 21"/>
            <p:cNvSpPr/>
            <p:nvPr/>
          </p:nvSpPr>
          <p:spPr>
            <a:xfrm>
              <a:off x="4736592" y="4389120"/>
              <a:ext cx="2468880" cy="274320"/>
            </a:xfrm>
            <a:prstGeom prst="rect">
              <a:avLst/>
            </a:prstGeom>
            <a:noFill/>
            <a:ln/>
          </p:spPr>
          <p:txBody>
            <a:bodyPr wrap="square" rtlCol="0" anchor="ctr"/>
            <a:lstStyle/>
            <a:p>
              <a:pPr marL="0" indent="0">
                <a:buNone/>
              </a:pPr>
              <a:r>
                <a:rPr lang="en-US" sz="1100" dirty="0">
                  <a:solidFill>
                    <a:srgbClr val="1A2B3C"/>
                  </a:solidFill>
                  <a:latin typeface="Calibri" pitchFamily="34" charset="0"/>
                  <a:ea typeface="Calibri" pitchFamily="34" charset="-122"/>
                  <a:cs typeface="Calibri" pitchFamily="34" charset="-120"/>
                </a:rPr>
                <a:t>Procedure Basics</a:t>
              </a:r>
              <a:endParaRPr lang="en-US" sz="1100" dirty="0"/>
            </a:p>
          </p:txBody>
        </p:sp>
        <p:sp>
          <p:nvSpPr>
            <p:cNvPr id="25" name="Text 22"/>
            <p:cNvSpPr/>
            <p:nvPr/>
          </p:nvSpPr>
          <p:spPr>
            <a:xfrm>
              <a:off x="7269480" y="4389120"/>
              <a:ext cx="914400" cy="274320"/>
            </a:xfrm>
            <a:prstGeom prst="rect">
              <a:avLst/>
            </a:prstGeom>
            <a:noFill/>
            <a:ln/>
          </p:spPr>
          <p:txBody>
            <a:bodyPr wrap="square" rtlCol="0" anchor="ctr"/>
            <a:lstStyle/>
            <a:p>
              <a:pPr marL="0" indent="0" algn="r">
                <a:buNone/>
              </a:pPr>
              <a:r>
                <a:rPr lang="en-US" sz="1000" dirty="0">
                  <a:solidFill>
                    <a:srgbClr val="5A7080"/>
                  </a:solidFill>
                  <a:latin typeface="Calibri" pitchFamily="34" charset="0"/>
                  <a:ea typeface="Calibri" pitchFamily="34" charset="-122"/>
                  <a:cs typeface="Calibri" pitchFamily="34" charset="-120"/>
                </a:rPr>
                <a:t>3.33→4.13</a:t>
              </a:r>
              <a:endParaRPr lang="en-US" sz="1000" dirty="0"/>
            </a:p>
          </p:txBody>
        </p:sp>
        <p:sp>
          <p:nvSpPr>
            <p:cNvPr id="26" name="Shape 23"/>
            <p:cNvSpPr/>
            <p:nvPr/>
          </p:nvSpPr>
          <p:spPr>
            <a:xfrm>
              <a:off x="4736592" y="4663440"/>
              <a:ext cx="1569110" cy="182880"/>
            </a:xfrm>
            <a:prstGeom prst="rect">
              <a:avLst/>
            </a:prstGeom>
            <a:solidFill>
              <a:srgbClr val="028090"/>
            </a:solidFill>
            <a:ln w="12700">
              <a:solidFill>
                <a:srgbClr val="028090"/>
              </a:solidFill>
              <a:prstDash val="solid"/>
            </a:ln>
          </p:spPr>
          <p:txBody>
            <a:bodyPr/>
            <a:lstStyle/>
            <a:p>
              <a:endParaRPr lang="en-CN"/>
            </a:p>
          </p:txBody>
        </p:sp>
        <p:sp>
          <p:nvSpPr>
            <p:cNvPr id="27" name="Text 24"/>
            <p:cNvSpPr/>
            <p:nvPr/>
          </p:nvSpPr>
          <p:spPr>
            <a:xfrm>
              <a:off x="6378854" y="4636008"/>
              <a:ext cx="914400" cy="274320"/>
            </a:xfrm>
            <a:prstGeom prst="rect">
              <a:avLst/>
            </a:prstGeom>
            <a:noFill/>
            <a:ln/>
          </p:spPr>
          <p:txBody>
            <a:bodyPr wrap="square" rtlCol="0" anchor="ctr"/>
            <a:lstStyle/>
            <a:p>
              <a:pPr marL="0" indent="0">
                <a:buNone/>
              </a:pPr>
              <a:r>
                <a:rPr lang="en-US" sz="1150" b="1" dirty="0">
                  <a:solidFill>
                    <a:srgbClr val="028090"/>
                  </a:solidFill>
                  <a:latin typeface="Calibri" pitchFamily="34" charset="0"/>
                  <a:ea typeface="Calibri" pitchFamily="34" charset="-122"/>
                  <a:cs typeface="Calibri" pitchFamily="34" charset="-120"/>
                </a:rPr>
                <a:t>+0.80</a:t>
              </a:r>
              <a:endParaRPr lang="en-US" sz="1150" dirty="0"/>
            </a:p>
          </p:txBody>
        </p:sp>
      </p:grpSp>
      <p:sp>
        <p:nvSpPr>
          <p:cNvPr id="28" name="Shape 25"/>
          <p:cNvSpPr/>
          <p:nvPr/>
        </p:nvSpPr>
        <p:spPr>
          <a:xfrm>
            <a:off x="347472" y="4873906"/>
            <a:ext cx="8490204" cy="255325"/>
          </a:xfrm>
          <a:prstGeom prst="rect">
            <a:avLst/>
          </a:prstGeom>
          <a:solidFill>
            <a:srgbClr val="FFF3E0"/>
          </a:solidFill>
          <a:ln w="12700">
            <a:solidFill>
              <a:srgbClr val="F4A261"/>
            </a:solidFill>
            <a:prstDash val="solid"/>
          </a:ln>
        </p:spPr>
        <p:txBody>
          <a:bodyPr/>
          <a:lstStyle/>
          <a:p>
            <a:endParaRPr lang="en-CN"/>
          </a:p>
        </p:txBody>
      </p:sp>
      <p:sp>
        <p:nvSpPr>
          <p:cNvPr id="29" name="Text 26"/>
          <p:cNvSpPr/>
          <p:nvPr/>
        </p:nvSpPr>
        <p:spPr>
          <a:xfrm>
            <a:off x="0" y="4828032"/>
            <a:ext cx="8736951" cy="310189"/>
          </a:xfrm>
          <a:prstGeom prst="rect">
            <a:avLst/>
          </a:prstGeom>
          <a:noFill/>
          <a:ln/>
        </p:spPr>
        <p:txBody>
          <a:bodyPr wrap="square" rtlCol="0" anchor="ctr"/>
          <a:lstStyle/>
          <a:p>
            <a:pPr marL="0" indent="0" algn="ctr">
              <a:buNone/>
            </a:pPr>
            <a:r>
              <a:rPr lang="en-US" sz="1600" dirty="0">
                <a:solidFill>
                  <a:srgbClr val="7A4000"/>
                </a:solidFill>
                <a:latin typeface="Calibri" pitchFamily="34" charset="0"/>
                <a:ea typeface="Calibri" pitchFamily="34" charset="-122"/>
                <a:cs typeface="Calibri" pitchFamily="34" charset="-120"/>
              </a:rPr>
              <a:t>RAG had greatest benefit for questions requiring specific clinical criteria &amp; risk quantification</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2327"/>
            <a:ext cx="8229600" cy="566928"/>
          </a:xfrm>
          <a:prstGeom prst="rect">
            <a:avLst/>
          </a:prstGeom>
          <a:noFill/>
          <a:ln/>
        </p:spPr>
        <p:txBody>
          <a:bodyPr wrap="square" lIns="0" tIns="0" rIns="0" bIns="0" rtlCol="0" anchor="ctr"/>
          <a:lstStyle/>
          <a:p>
            <a:pPr marL="0" indent="0">
              <a:buNone/>
            </a:pPr>
            <a:r>
              <a:rPr lang="en-US" sz="2400" b="1" dirty="0">
                <a:solidFill>
                  <a:srgbClr val="0D2137"/>
                </a:solidFill>
                <a:latin typeface="Calibri" pitchFamily="34" charset="0"/>
                <a:ea typeface="Calibri" pitchFamily="34" charset="-122"/>
                <a:cs typeface="Calibri" pitchFamily="34" charset="-120"/>
              </a:rPr>
              <a:t>PART 2 — Visual Analysis: 6-Chart Performance Dashboard</a:t>
            </a:r>
            <a:endParaRPr lang="en-US" sz="2400" dirty="0"/>
          </a:p>
        </p:txBody>
      </p:sp>
      <p:sp>
        <p:nvSpPr>
          <p:cNvPr id="3" name="Shape 1"/>
          <p:cNvSpPr/>
          <p:nvPr/>
        </p:nvSpPr>
        <p:spPr>
          <a:xfrm>
            <a:off x="457200" y="527175"/>
            <a:ext cx="8229600" cy="0"/>
          </a:xfrm>
          <a:prstGeom prst="line">
            <a:avLst/>
          </a:prstGeom>
          <a:noFill/>
          <a:ln w="25400">
            <a:solidFill>
              <a:srgbClr val="028090"/>
            </a:solidFill>
            <a:prstDash val="solid"/>
          </a:ln>
        </p:spPr>
        <p:txBody>
          <a:bodyPr/>
          <a:lstStyle/>
          <a:p>
            <a:endParaRPr lang="en-CN" sz="2000"/>
          </a:p>
        </p:txBody>
      </p:sp>
      <p:grpSp>
        <p:nvGrpSpPr>
          <p:cNvPr id="29" name="Group 28">
            <a:extLst>
              <a:ext uri="{FF2B5EF4-FFF2-40B4-BE49-F238E27FC236}">
                <a16:creationId xmlns:a16="http://schemas.microsoft.com/office/drawing/2014/main" id="{0B1CDE03-B89E-7520-F501-822E596F3176}"/>
              </a:ext>
            </a:extLst>
          </p:cNvPr>
          <p:cNvGrpSpPr/>
          <p:nvPr/>
        </p:nvGrpSpPr>
        <p:grpSpPr>
          <a:xfrm>
            <a:off x="529624" y="4380095"/>
            <a:ext cx="7999012" cy="751078"/>
            <a:chOff x="347472" y="3364992"/>
            <a:chExt cx="8503920" cy="886959"/>
          </a:xfrm>
        </p:grpSpPr>
        <p:sp>
          <p:nvSpPr>
            <p:cNvPr id="5" name="Shape 2"/>
            <p:cNvSpPr/>
            <p:nvPr/>
          </p:nvSpPr>
          <p:spPr>
            <a:xfrm>
              <a:off x="347472" y="3364992"/>
              <a:ext cx="2798064" cy="374904"/>
            </a:xfrm>
            <a:prstGeom prst="rect">
              <a:avLst/>
            </a:prstGeom>
            <a:solidFill>
              <a:srgbClr val="F8FCFD"/>
            </a:solidFill>
            <a:ln w="15240">
              <a:solidFill>
                <a:srgbClr val="028090"/>
              </a:solidFill>
              <a:prstDash val="solid"/>
            </a:ln>
          </p:spPr>
          <p:txBody>
            <a:bodyPr/>
            <a:lstStyle/>
            <a:p>
              <a:endParaRPr lang="en-CN" sz="3200"/>
            </a:p>
          </p:txBody>
        </p:sp>
        <p:sp>
          <p:nvSpPr>
            <p:cNvPr id="6" name="Shape 3"/>
            <p:cNvSpPr/>
            <p:nvPr/>
          </p:nvSpPr>
          <p:spPr>
            <a:xfrm>
              <a:off x="347472" y="3364992"/>
              <a:ext cx="91440" cy="374904"/>
            </a:xfrm>
            <a:prstGeom prst="rect">
              <a:avLst/>
            </a:prstGeom>
            <a:solidFill>
              <a:srgbClr val="028090"/>
            </a:solidFill>
            <a:ln w="12700">
              <a:solidFill>
                <a:srgbClr val="028090"/>
              </a:solidFill>
              <a:prstDash val="solid"/>
            </a:ln>
          </p:spPr>
          <p:txBody>
            <a:bodyPr/>
            <a:lstStyle/>
            <a:p>
              <a:endParaRPr lang="en-CN" sz="3200"/>
            </a:p>
          </p:txBody>
        </p:sp>
        <p:sp>
          <p:nvSpPr>
            <p:cNvPr id="7" name="Text 4"/>
            <p:cNvSpPr/>
            <p:nvPr/>
          </p:nvSpPr>
          <p:spPr>
            <a:xfrm>
              <a:off x="493776" y="3401568"/>
              <a:ext cx="2606040" cy="237744"/>
            </a:xfrm>
            <a:prstGeom prst="rect">
              <a:avLst/>
            </a:prstGeom>
            <a:noFill/>
            <a:ln/>
          </p:spPr>
          <p:txBody>
            <a:bodyPr wrap="square" rtlCol="0" anchor="ctr"/>
            <a:lstStyle/>
            <a:p>
              <a:pPr marL="0" indent="0">
                <a:buNone/>
              </a:pPr>
              <a:r>
                <a:rPr lang="en-US" sz="1400" b="1" dirty="0">
                  <a:solidFill>
                    <a:srgbClr val="0D2137"/>
                  </a:solidFill>
                  <a:latin typeface="Calibri" pitchFamily="34" charset="0"/>
                  <a:ea typeface="Calibri" pitchFamily="34" charset="-122"/>
                  <a:cs typeface="Calibri" pitchFamily="34" charset="-120"/>
                </a:rPr>
                <a:t>① Overall Performance</a:t>
              </a:r>
              <a:endParaRPr lang="en-US" sz="1400" dirty="0"/>
            </a:p>
          </p:txBody>
        </p:sp>
        <p:sp>
          <p:nvSpPr>
            <p:cNvPr id="8" name="Text 5"/>
            <p:cNvSpPr/>
            <p:nvPr/>
          </p:nvSpPr>
          <p:spPr>
            <a:xfrm>
              <a:off x="493776" y="3639312"/>
              <a:ext cx="2606040" cy="475488"/>
            </a:xfrm>
            <a:prstGeom prst="rect">
              <a:avLst/>
            </a:prstGeom>
            <a:noFill/>
            <a:ln/>
          </p:spPr>
          <p:txBody>
            <a:bodyPr wrap="square" rtlCol="0" anchor="ctr"/>
            <a:lstStyle/>
            <a:p>
              <a:pPr marL="0" indent="0">
                <a:buNone/>
              </a:pPr>
              <a:endParaRPr lang="en-US" sz="1200" dirty="0"/>
            </a:p>
          </p:txBody>
        </p:sp>
        <p:sp>
          <p:nvSpPr>
            <p:cNvPr id="9" name="Shape 6"/>
            <p:cNvSpPr/>
            <p:nvPr/>
          </p:nvSpPr>
          <p:spPr>
            <a:xfrm>
              <a:off x="3200400" y="3364992"/>
              <a:ext cx="2798064" cy="374898"/>
            </a:xfrm>
            <a:prstGeom prst="rect">
              <a:avLst/>
            </a:prstGeom>
            <a:solidFill>
              <a:srgbClr val="F8FCFD"/>
            </a:solidFill>
            <a:ln w="15240">
              <a:solidFill>
                <a:srgbClr val="0D2137"/>
              </a:solidFill>
              <a:prstDash val="solid"/>
            </a:ln>
          </p:spPr>
          <p:txBody>
            <a:bodyPr/>
            <a:lstStyle/>
            <a:p>
              <a:endParaRPr lang="en-CN" sz="3200"/>
            </a:p>
          </p:txBody>
        </p:sp>
        <p:sp>
          <p:nvSpPr>
            <p:cNvPr id="10" name="Shape 7"/>
            <p:cNvSpPr/>
            <p:nvPr/>
          </p:nvSpPr>
          <p:spPr>
            <a:xfrm>
              <a:off x="3200400" y="3364992"/>
              <a:ext cx="91440" cy="374898"/>
            </a:xfrm>
            <a:prstGeom prst="rect">
              <a:avLst/>
            </a:prstGeom>
            <a:solidFill>
              <a:srgbClr val="0D2137"/>
            </a:solidFill>
            <a:ln w="12700">
              <a:solidFill>
                <a:srgbClr val="0D2137"/>
              </a:solidFill>
              <a:prstDash val="solid"/>
            </a:ln>
          </p:spPr>
          <p:txBody>
            <a:bodyPr/>
            <a:lstStyle/>
            <a:p>
              <a:endParaRPr lang="en-CN" sz="3200"/>
            </a:p>
          </p:txBody>
        </p:sp>
        <p:sp>
          <p:nvSpPr>
            <p:cNvPr id="11" name="Text 8"/>
            <p:cNvSpPr/>
            <p:nvPr/>
          </p:nvSpPr>
          <p:spPr>
            <a:xfrm>
              <a:off x="3346704" y="3401568"/>
              <a:ext cx="2606040" cy="237744"/>
            </a:xfrm>
            <a:prstGeom prst="rect">
              <a:avLst/>
            </a:prstGeom>
            <a:noFill/>
            <a:ln/>
          </p:spPr>
          <p:txBody>
            <a:bodyPr wrap="square" rtlCol="0" anchor="ctr"/>
            <a:lstStyle/>
            <a:p>
              <a:pPr marL="0" indent="0">
                <a:buNone/>
              </a:pPr>
              <a:r>
                <a:rPr lang="en-US" sz="1400" b="1" dirty="0">
                  <a:solidFill>
                    <a:srgbClr val="0D2137"/>
                  </a:solidFill>
                  <a:latin typeface="Calibri" pitchFamily="34" charset="0"/>
                  <a:ea typeface="Calibri" pitchFamily="34" charset="-122"/>
                  <a:cs typeface="Calibri" pitchFamily="34" charset="-120"/>
                </a:rPr>
                <a:t>② Score Distribution</a:t>
              </a:r>
              <a:endParaRPr lang="en-US" sz="1400" dirty="0"/>
            </a:p>
          </p:txBody>
        </p:sp>
        <p:sp>
          <p:nvSpPr>
            <p:cNvPr id="13" name="Shape 10"/>
            <p:cNvSpPr/>
            <p:nvPr/>
          </p:nvSpPr>
          <p:spPr>
            <a:xfrm>
              <a:off x="6053328" y="3364992"/>
              <a:ext cx="2798064" cy="374895"/>
            </a:xfrm>
            <a:prstGeom prst="rect">
              <a:avLst/>
            </a:prstGeom>
            <a:solidFill>
              <a:srgbClr val="F8FCFD"/>
            </a:solidFill>
            <a:ln w="15240">
              <a:solidFill>
                <a:srgbClr val="E76F51"/>
              </a:solidFill>
              <a:prstDash val="solid"/>
            </a:ln>
          </p:spPr>
          <p:txBody>
            <a:bodyPr/>
            <a:lstStyle/>
            <a:p>
              <a:endParaRPr lang="en-CN" sz="3200"/>
            </a:p>
          </p:txBody>
        </p:sp>
        <p:sp>
          <p:nvSpPr>
            <p:cNvPr id="14" name="Shape 11"/>
            <p:cNvSpPr/>
            <p:nvPr/>
          </p:nvSpPr>
          <p:spPr>
            <a:xfrm>
              <a:off x="6053328" y="3364992"/>
              <a:ext cx="91440" cy="374895"/>
            </a:xfrm>
            <a:prstGeom prst="rect">
              <a:avLst/>
            </a:prstGeom>
            <a:solidFill>
              <a:srgbClr val="E76F51"/>
            </a:solidFill>
            <a:ln w="12700">
              <a:solidFill>
                <a:srgbClr val="E76F51"/>
              </a:solidFill>
              <a:prstDash val="solid"/>
            </a:ln>
          </p:spPr>
          <p:txBody>
            <a:bodyPr/>
            <a:lstStyle/>
            <a:p>
              <a:endParaRPr lang="en-CN" sz="3200"/>
            </a:p>
          </p:txBody>
        </p:sp>
        <p:sp>
          <p:nvSpPr>
            <p:cNvPr id="15" name="Text 12"/>
            <p:cNvSpPr/>
            <p:nvPr/>
          </p:nvSpPr>
          <p:spPr>
            <a:xfrm>
              <a:off x="6199632" y="3401568"/>
              <a:ext cx="2606040" cy="237744"/>
            </a:xfrm>
            <a:prstGeom prst="rect">
              <a:avLst/>
            </a:prstGeom>
            <a:noFill/>
            <a:ln/>
          </p:spPr>
          <p:txBody>
            <a:bodyPr wrap="square" rtlCol="0" anchor="ctr"/>
            <a:lstStyle/>
            <a:p>
              <a:pPr marL="0" indent="0">
                <a:buNone/>
              </a:pPr>
              <a:r>
                <a:rPr lang="en-US" sz="1400" b="1" dirty="0">
                  <a:solidFill>
                    <a:srgbClr val="0D2137"/>
                  </a:solidFill>
                  <a:latin typeface="Calibri" pitchFamily="34" charset="0"/>
                  <a:ea typeface="Calibri" pitchFamily="34" charset="-122"/>
                  <a:cs typeface="Calibri" pitchFamily="34" charset="-120"/>
                </a:rPr>
                <a:t>③ Score Trajectory</a:t>
              </a:r>
              <a:endParaRPr lang="en-US" sz="1400" dirty="0"/>
            </a:p>
          </p:txBody>
        </p:sp>
        <p:sp>
          <p:nvSpPr>
            <p:cNvPr id="17" name="Shape 14"/>
            <p:cNvSpPr/>
            <p:nvPr/>
          </p:nvSpPr>
          <p:spPr>
            <a:xfrm>
              <a:off x="347472" y="3877056"/>
              <a:ext cx="2798064" cy="374895"/>
            </a:xfrm>
            <a:prstGeom prst="rect">
              <a:avLst/>
            </a:prstGeom>
            <a:solidFill>
              <a:srgbClr val="F8FCFD"/>
            </a:solidFill>
            <a:ln w="15240">
              <a:solidFill>
                <a:srgbClr val="F4A261"/>
              </a:solidFill>
              <a:prstDash val="solid"/>
            </a:ln>
          </p:spPr>
          <p:txBody>
            <a:bodyPr/>
            <a:lstStyle/>
            <a:p>
              <a:endParaRPr lang="en-CN" sz="3200"/>
            </a:p>
          </p:txBody>
        </p:sp>
        <p:sp>
          <p:nvSpPr>
            <p:cNvPr id="18" name="Shape 15"/>
            <p:cNvSpPr/>
            <p:nvPr/>
          </p:nvSpPr>
          <p:spPr>
            <a:xfrm>
              <a:off x="347472" y="3877056"/>
              <a:ext cx="91440" cy="374895"/>
            </a:xfrm>
            <a:prstGeom prst="rect">
              <a:avLst/>
            </a:prstGeom>
            <a:solidFill>
              <a:srgbClr val="F4A261"/>
            </a:solidFill>
            <a:ln w="12700">
              <a:solidFill>
                <a:srgbClr val="F4A261"/>
              </a:solidFill>
              <a:prstDash val="solid"/>
            </a:ln>
          </p:spPr>
          <p:txBody>
            <a:bodyPr/>
            <a:lstStyle/>
            <a:p>
              <a:endParaRPr lang="en-CN" sz="3200"/>
            </a:p>
          </p:txBody>
        </p:sp>
        <p:sp>
          <p:nvSpPr>
            <p:cNvPr id="19" name="Text 16"/>
            <p:cNvSpPr/>
            <p:nvPr/>
          </p:nvSpPr>
          <p:spPr>
            <a:xfrm>
              <a:off x="493776" y="3913632"/>
              <a:ext cx="2606040" cy="237744"/>
            </a:xfrm>
            <a:prstGeom prst="rect">
              <a:avLst/>
            </a:prstGeom>
            <a:noFill/>
            <a:ln/>
          </p:spPr>
          <p:txBody>
            <a:bodyPr wrap="square" rtlCol="0" anchor="ctr"/>
            <a:lstStyle/>
            <a:p>
              <a:pPr marL="0" indent="0">
                <a:buNone/>
              </a:pPr>
              <a:r>
                <a:rPr lang="en-US" sz="1400" b="1" dirty="0">
                  <a:solidFill>
                    <a:srgbClr val="0D2137"/>
                  </a:solidFill>
                  <a:latin typeface="Calibri" pitchFamily="34" charset="0"/>
                  <a:ea typeface="Calibri" pitchFamily="34" charset="-122"/>
                  <a:cs typeface="Calibri" pitchFamily="34" charset="-120"/>
                </a:rPr>
                <a:t>④ Improvement Distribution</a:t>
              </a:r>
              <a:endParaRPr lang="en-US" sz="1400" dirty="0"/>
            </a:p>
          </p:txBody>
        </p:sp>
        <p:sp>
          <p:nvSpPr>
            <p:cNvPr id="21" name="Shape 18"/>
            <p:cNvSpPr/>
            <p:nvPr/>
          </p:nvSpPr>
          <p:spPr>
            <a:xfrm>
              <a:off x="3200400" y="3877056"/>
              <a:ext cx="2798064" cy="374895"/>
            </a:xfrm>
            <a:prstGeom prst="rect">
              <a:avLst/>
            </a:prstGeom>
            <a:solidFill>
              <a:srgbClr val="F8FCFD"/>
            </a:solidFill>
            <a:ln w="15240">
              <a:solidFill>
                <a:srgbClr val="5A7080"/>
              </a:solidFill>
              <a:prstDash val="solid"/>
            </a:ln>
          </p:spPr>
          <p:txBody>
            <a:bodyPr/>
            <a:lstStyle/>
            <a:p>
              <a:endParaRPr lang="en-CN" sz="3200"/>
            </a:p>
          </p:txBody>
        </p:sp>
        <p:sp>
          <p:nvSpPr>
            <p:cNvPr id="22" name="Shape 19"/>
            <p:cNvSpPr/>
            <p:nvPr/>
          </p:nvSpPr>
          <p:spPr>
            <a:xfrm>
              <a:off x="3200400" y="3877056"/>
              <a:ext cx="91440" cy="374895"/>
            </a:xfrm>
            <a:prstGeom prst="rect">
              <a:avLst/>
            </a:prstGeom>
            <a:solidFill>
              <a:srgbClr val="5A7080"/>
            </a:solidFill>
            <a:ln w="12700">
              <a:solidFill>
                <a:srgbClr val="5A7080"/>
              </a:solidFill>
              <a:prstDash val="solid"/>
            </a:ln>
          </p:spPr>
          <p:txBody>
            <a:bodyPr/>
            <a:lstStyle/>
            <a:p>
              <a:endParaRPr lang="en-CN" sz="3200"/>
            </a:p>
          </p:txBody>
        </p:sp>
        <p:sp>
          <p:nvSpPr>
            <p:cNvPr id="23" name="Text 20"/>
            <p:cNvSpPr/>
            <p:nvPr/>
          </p:nvSpPr>
          <p:spPr>
            <a:xfrm>
              <a:off x="3346704" y="3913632"/>
              <a:ext cx="2606040" cy="237744"/>
            </a:xfrm>
            <a:prstGeom prst="rect">
              <a:avLst/>
            </a:prstGeom>
            <a:noFill/>
            <a:ln/>
          </p:spPr>
          <p:txBody>
            <a:bodyPr wrap="square" rtlCol="0" anchor="ctr"/>
            <a:lstStyle/>
            <a:p>
              <a:pPr marL="0" indent="0">
                <a:buNone/>
              </a:pPr>
              <a:r>
                <a:rPr lang="en-US" sz="1400" b="1" dirty="0">
                  <a:solidFill>
                    <a:srgbClr val="0D2137"/>
                  </a:solidFill>
                  <a:latin typeface="Calibri" pitchFamily="34" charset="0"/>
                  <a:ea typeface="Calibri" pitchFamily="34" charset="-122"/>
                  <a:cs typeface="Calibri" pitchFamily="34" charset="-120"/>
                </a:rPr>
                <a:t>⑤ Box Plot Comparison</a:t>
              </a:r>
              <a:endParaRPr lang="en-US" sz="1400" dirty="0"/>
            </a:p>
          </p:txBody>
        </p:sp>
        <p:sp>
          <p:nvSpPr>
            <p:cNvPr id="25" name="Shape 22"/>
            <p:cNvSpPr/>
            <p:nvPr/>
          </p:nvSpPr>
          <p:spPr>
            <a:xfrm>
              <a:off x="6053328" y="3877056"/>
              <a:ext cx="2798064" cy="374895"/>
            </a:xfrm>
            <a:prstGeom prst="rect">
              <a:avLst/>
            </a:prstGeom>
            <a:solidFill>
              <a:srgbClr val="F8FCFD"/>
            </a:solidFill>
            <a:ln w="15240">
              <a:solidFill>
                <a:srgbClr val="02C39A"/>
              </a:solidFill>
              <a:prstDash val="solid"/>
            </a:ln>
          </p:spPr>
          <p:txBody>
            <a:bodyPr/>
            <a:lstStyle/>
            <a:p>
              <a:endParaRPr lang="en-CN" sz="3200"/>
            </a:p>
          </p:txBody>
        </p:sp>
        <p:sp>
          <p:nvSpPr>
            <p:cNvPr id="26" name="Shape 23"/>
            <p:cNvSpPr/>
            <p:nvPr/>
          </p:nvSpPr>
          <p:spPr>
            <a:xfrm>
              <a:off x="6053328" y="3877056"/>
              <a:ext cx="91440" cy="374895"/>
            </a:xfrm>
            <a:prstGeom prst="rect">
              <a:avLst/>
            </a:prstGeom>
            <a:solidFill>
              <a:srgbClr val="02C39A"/>
            </a:solidFill>
            <a:ln w="12700">
              <a:solidFill>
                <a:srgbClr val="02C39A"/>
              </a:solidFill>
              <a:prstDash val="solid"/>
            </a:ln>
          </p:spPr>
          <p:txBody>
            <a:bodyPr/>
            <a:lstStyle/>
            <a:p>
              <a:endParaRPr lang="en-CN" sz="3200"/>
            </a:p>
          </p:txBody>
        </p:sp>
        <p:sp>
          <p:nvSpPr>
            <p:cNvPr id="27" name="Text 24"/>
            <p:cNvSpPr/>
            <p:nvPr/>
          </p:nvSpPr>
          <p:spPr>
            <a:xfrm>
              <a:off x="6199632" y="3913632"/>
              <a:ext cx="2606040" cy="237744"/>
            </a:xfrm>
            <a:prstGeom prst="rect">
              <a:avLst/>
            </a:prstGeom>
            <a:noFill/>
            <a:ln/>
          </p:spPr>
          <p:txBody>
            <a:bodyPr wrap="square" rtlCol="0" anchor="ctr"/>
            <a:lstStyle/>
            <a:p>
              <a:pPr marL="0" indent="0">
                <a:buNone/>
              </a:pPr>
              <a:r>
                <a:rPr lang="en-US" sz="1400" b="1" dirty="0">
                  <a:solidFill>
                    <a:srgbClr val="0D2137"/>
                  </a:solidFill>
                  <a:latin typeface="Calibri" pitchFamily="34" charset="0"/>
                  <a:ea typeface="Calibri" pitchFamily="34" charset="-122"/>
                  <a:cs typeface="Calibri" pitchFamily="34" charset="-120"/>
                </a:rPr>
                <a:t>⑥ Performance by Category</a:t>
              </a:r>
              <a:endParaRPr lang="en-US" sz="1400" dirty="0"/>
            </a:p>
          </p:txBody>
        </p:sp>
      </p:grpSp>
      <p:pic>
        <p:nvPicPr>
          <p:cNvPr id="31" name="Picture 30">
            <a:extLst>
              <a:ext uri="{FF2B5EF4-FFF2-40B4-BE49-F238E27FC236}">
                <a16:creationId xmlns:a16="http://schemas.microsoft.com/office/drawing/2014/main" id="{CAEA09F6-B44E-86F6-4869-13F2729103AD}"/>
              </a:ext>
            </a:extLst>
          </p:cNvPr>
          <p:cNvPicPr>
            <a:picLocks noChangeAspect="1"/>
          </p:cNvPicPr>
          <p:nvPr/>
        </p:nvPicPr>
        <p:blipFill>
          <a:blip r:embed="rId3"/>
          <a:stretch>
            <a:fillRect/>
          </a:stretch>
        </p:blipFill>
        <p:spPr>
          <a:xfrm>
            <a:off x="1345580" y="545935"/>
            <a:ext cx="5676285" cy="3770959"/>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D0407E-9759-6382-7E26-3EDADF3A2219}"/>
            </a:ext>
          </a:extLst>
        </p:cNvPr>
        <p:cNvGrpSpPr/>
        <p:nvPr/>
      </p:nvGrpSpPr>
      <p:grpSpPr>
        <a:xfrm>
          <a:off x="0" y="0"/>
          <a:ext cx="0" cy="0"/>
          <a:chOff x="0" y="0"/>
          <a:chExt cx="0" cy="0"/>
        </a:xfrm>
      </p:grpSpPr>
      <p:sp>
        <p:nvSpPr>
          <p:cNvPr id="3" name="직사각형 2">
            <a:extLst>
              <a:ext uri="{FF2B5EF4-FFF2-40B4-BE49-F238E27FC236}">
                <a16:creationId xmlns:a16="http://schemas.microsoft.com/office/drawing/2014/main" id="{31DCECD8-D0BF-60B8-5D83-ACC12894F178}"/>
              </a:ext>
            </a:extLst>
          </p:cNvPr>
          <p:cNvSpPr/>
          <p:nvPr/>
        </p:nvSpPr>
        <p:spPr>
          <a:xfrm>
            <a:off x="-3" y="1"/>
            <a:ext cx="9144003" cy="5143500"/>
          </a:xfrm>
          <a:prstGeom prst="rect">
            <a:avLst/>
          </a:prstGeom>
          <a:solidFill>
            <a:srgbClr val="0F3A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ore-KR" altLang="en-US" sz="1350"/>
          </a:p>
        </p:txBody>
      </p:sp>
      <p:sp>
        <p:nvSpPr>
          <p:cNvPr id="9" name="TextBox 8">
            <a:extLst>
              <a:ext uri="{FF2B5EF4-FFF2-40B4-BE49-F238E27FC236}">
                <a16:creationId xmlns:a16="http://schemas.microsoft.com/office/drawing/2014/main" id="{911DF85D-74B7-8185-FFAD-4C3BF72D8E72}"/>
              </a:ext>
            </a:extLst>
          </p:cNvPr>
          <p:cNvSpPr txBox="1"/>
          <p:nvPr/>
        </p:nvSpPr>
        <p:spPr>
          <a:xfrm>
            <a:off x="628651" y="2130275"/>
            <a:ext cx="8289563" cy="553998"/>
          </a:xfrm>
          <a:prstGeom prst="rect">
            <a:avLst/>
          </a:prstGeom>
          <a:noFill/>
        </p:spPr>
        <p:txBody>
          <a:bodyPr wrap="square" rtlCol="0">
            <a:spAutoFit/>
          </a:bodyPr>
          <a:lstStyle/>
          <a:p>
            <a:r>
              <a:rPr kumimoji="1" lang="en-US" altLang="ko-KR" sz="3000" b="1" dirty="0">
                <a:solidFill>
                  <a:schemeClr val="bg1"/>
                </a:solidFill>
                <a:latin typeface="Arial" panose="020B0604020202020204" pitchFamily="34" charset="0"/>
                <a:ea typeface="Noto Sans KR" panose="020B0500000000000000" pitchFamily="34" charset="-127"/>
                <a:cs typeface="Arial" panose="020B0604020202020204" pitchFamily="34" charset="0"/>
              </a:rPr>
              <a:t>Thank you for attention!</a:t>
            </a:r>
          </a:p>
        </p:txBody>
      </p:sp>
      <p:sp>
        <p:nvSpPr>
          <p:cNvPr id="2" name="슬라이드 번호 개체 틀 1">
            <a:extLst>
              <a:ext uri="{FF2B5EF4-FFF2-40B4-BE49-F238E27FC236}">
                <a16:creationId xmlns:a16="http://schemas.microsoft.com/office/drawing/2014/main" id="{DE73AC59-E7E6-43AC-5B2B-B3FFFFDDCAA2}"/>
              </a:ext>
            </a:extLst>
          </p:cNvPr>
          <p:cNvSpPr>
            <a:spLocks noGrp="1"/>
          </p:cNvSpPr>
          <p:nvPr>
            <p:ph type="sldNum" sz="quarter" idx="12"/>
          </p:nvPr>
        </p:nvSpPr>
        <p:spPr/>
        <p:txBody>
          <a:bodyPr/>
          <a:lstStyle/>
          <a:p>
            <a:fld id="{D9650719-0714-4000-9CBD-14AB6D15C87A}" type="slidenum">
              <a:rPr lang="ko-KR" altLang="en-US" smtClean="0"/>
              <a:t>16</a:t>
            </a:fld>
            <a:endParaRPr lang="ko-KR" altLang="en-US"/>
          </a:p>
        </p:txBody>
      </p:sp>
      <p:pic>
        <p:nvPicPr>
          <p:cNvPr id="12" name="그림 11" descr="폰트, 그래픽, 로고, 상징이(가) 표시된 사진&#10;&#10;자동 생성된 설명">
            <a:extLst>
              <a:ext uri="{FF2B5EF4-FFF2-40B4-BE49-F238E27FC236}">
                <a16:creationId xmlns:a16="http://schemas.microsoft.com/office/drawing/2014/main" id="{7866F750-D65F-DC43-4EC0-BB8D7A7D3791}"/>
              </a:ext>
            </a:extLst>
          </p:cNvPr>
          <p:cNvPicPr>
            <a:picLocks noChangeAspect="1"/>
          </p:cNvPicPr>
          <p:nvPr/>
        </p:nvPicPr>
        <p:blipFill>
          <a:blip r:embed="rId3"/>
          <a:stretch>
            <a:fillRect/>
          </a:stretch>
        </p:blipFill>
        <p:spPr>
          <a:xfrm>
            <a:off x="321252" y="381674"/>
            <a:ext cx="695979" cy="519664"/>
          </a:xfrm>
          <a:prstGeom prst="rect">
            <a:avLst/>
          </a:prstGeom>
        </p:spPr>
      </p:pic>
      <p:sp>
        <p:nvSpPr>
          <p:cNvPr id="5" name="TextBox 4">
            <a:extLst>
              <a:ext uri="{FF2B5EF4-FFF2-40B4-BE49-F238E27FC236}">
                <a16:creationId xmlns:a16="http://schemas.microsoft.com/office/drawing/2014/main" id="{B6DC1081-AEB5-EA2D-78D7-5D9E53B2717B}"/>
              </a:ext>
            </a:extLst>
          </p:cNvPr>
          <p:cNvSpPr txBox="1"/>
          <p:nvPr/>
        </p:nvSpPr>
        <p:spPr>
          <a:xfrm>
            <a:off x="2705100" y="448538"/>
            <a:ext cx="6349921" cy="304827"/>
          </a:xfrm>
          <a:prstGeom prst="rect">
            <a:avLst/>
          </a:prstGeom>
          <a:noFill/>
        </p:spPr>
        <p:txBody>
          <a:bodyPr wrap="square" rtlCol="0">
            <a:spAutoFit/>
          </a:bodyPr>
          <a:lstStyle/>
          <a:p>
            <a:pPr algn="r">
              <a:lnSpc>
                <a:spcPts val="1800"/>
              </a:lnSpc>
            </a:pPr>
            <a:r>
              <a:rPr kumimoji="1" lang="en-US" altLang="ko-KR" sz="1350" b="1" dirty="0">
                <a:solidFill>
                  <a:schemeClr val="bg1"/>
                </a:solidFill>
                <a:latin typeface="Arial" panose="020B0604020202020204" pitchFamily="34" charset="0"/>
                <a:ea typeface="Noto Sans KR" panose="020B0500000000000000" pitchFamily="34" charset="-127"/>
                <a:cs typeface="Arial" panose="020B0604020202020204" pitchFamily="34" charset="0"/>
              </a:rPr>
              <a:t>DATS6312– Natural Language Processing</a:t>
            </a:r>
            <a:endParaRPr kumimoji="1" lang="en-US" altLang="ko-KR" sz="1350" baseline="30000" dirty="0">
              <a:solidFill>
                <a:schemeClr val="bg1"/>
              </a:solidFill>
              <a:latin typeface="Arial" panose="020B0604020202020204" pitchFamily="34" charset="0"/>
              <a:ea typeface="Noto Sans KR" panose="020B0500000000000000" pitchFamily="34" charset="-127"/>
              <a:cs typeface="Arial" panose="020B0604020202020204" pitchFamily="34" charset="0"/>
            </a:endParaRPr>
          </a:p>
        </p:txBody>
      </p:sp>
    </p:spTree>
    <p:extLst>
      <p:ext uri="{BB962C8B-B14F-4D97-AF65-F5344CB8AC3E}">
        <p14:creationId xmlns:p14="http://schemas.microsoft.com/office/powerpoint/2010/main" val="8235400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129</TotalTime>
  <Words>2605</Words>
  <Application>Microsoft Macintosh PowerPoint</Application>
  <PresentationFormat>On-screen Show (16:9)</PresentationFormat>
  <Paragraphs>358</Paragraphs>
  <Slides>16</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Cambria Math</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NLP Applications in Healthcare</dc:title>
  <dc:subject>PptxGenJS Presentation</dc:subject>
  <dc:creator>PptxGenJS</dc:creator>
  <cp:lastModifiedBy>Wang, Yichen</cp:lastModifiedBy>
  <cp:revision>2</cp:revision>
  <dcterms:created xsi:type="dcterms:W3CDTF">2026-04-29T17:02:27Z</dcterms:created>
  <dcterms:modified xsi:type="dcterms:W3CDTF">2026-04-29T19:37:58Z</dcterms:modified>
</cp:coreProperties>
</file>